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membrane charge v (before firing)</c:v>
                </c:pt>
              </c:strCache>
            </c:strRef>
          </c:tx>
          <c:spPr>
            <a:ln w="31750">
              <a:solidFill>
                <a:srgbClr val="7A5C99"/>
              </a:solidFill>
            </a:ln>
          </c:spPr>
          <c:marker>
            <c:spPr>
              <a:solidFill>
                <a:srgbClr val="7A5C99"/>
              </a:solidFill>
              <a:ln>
                <a:solidFill>
                  <a:srgbClr val="7A5C99"/>
                </a:solidFill>
              </a:ln>
            </c:spPr>
          </c:marker>
          <c:cat>
            <c:strRef>
              <c:f>Sheet1!$A$2:$A$9</c:f>
              <c:strCache>
                <c:ptCount val="8"/>
                <c:pt idx="0">
                  <c:v>t1</c:v>
                </c:pt>
                <c:pt idx="1">
                  <c:v>t2</c:v>
                </c:pt>
                <c:pt idx="2">
                  <c:v>t3</c:v>
                </c:pt>
                <c:pt idx="3">
                  <c:v>t4</c:v>
                </c:pt>
                <c:pt idx="4">
                  <c:v>t5</c:v>
                </c:pt>
                <c:pt idx="5">
                  <c:v>t6</c:v>
                </c:pt>
                <c:pt idx="6">
                  <c:v>t7</c:v>
                </c:pt>
                <c:pt idx="7">
                  <c:v>t8</c:v>
                </c:pt>
              </c:strCache>
            </c:strRef>
          </c:cat>
          <c:val>
            <c:numRef>
              <c:f>Sheet1!$B$2:$B$9</c:f>
              <c:numCache>
                <c:formatCode>General</c:formatCode>
                <c:ptCount val="8"/>
                <c:pt idx="0">
                  <c:v>100</c:v>
                </c:pt>
                <c:pt idx="1">
                  <c:v>175</c:v>
                </c:pt>
                <c:pt idx="2">
                  <c:v>232</c:v>
                </c:pt>
                <c:pt idx="3">
                  <c:v>274</c:v>
                </c:pt>
                <c:pt idx="4">
                  <c:v>100</c:v>
                </c:pt>
                <c:pt idx="5">
                  <c:v>175</c:v>
                </c:pt>
                <c:pt idx="6">
                  <c:v>232</c:v>
                </c:pt>
                <c:pt idx="7">
                  <c:v>274</c:v>
                </c:pt>
              </c:numCache>
            </c:numRef>
          </c:val>
          <c:smooth val="0"/>
        </c:ser>
        <c:ser>
          <c:idx val="1"/>
          <c:order val="1"/>
          <c:tx>
            <c:strRef>
              <c:f>Sheet1!$C$1</c:f>
              <c:strCache>
                <c:ptCount val="1"/>
                <c:pt idx="0">
                  <c:v>threshold θ = 256</c:v>
                </c:pt>
              </c:strCache>
            </c:strRef>
          </c:tx>
          <c:spPr>
            <a:ln w="31750">
              <a:solidFill>
                <a:srgbClr val="D1495B"/>
              </a:solidFill>
            </a:ln>
          </c:spPr>
          <c:marker>
            <c:spPr>
              <a:solidFill>
                <a:srgbClr val="D1495B"/>
              </a:solidFill>
              <a:ln>
                <a:solidFill>
                  <a:srgbClr val="D1495B"/>
                </a:solidFill>
              </a:ln>
            </c:spPr>
          </c:marker>
          <c:cat>
            <c:strRef>
              <c:f>Sheet1!$A$2:$A$9</c:f>
              <c:strCache>
                <c:ptCount val="8"/>
                <c:pt idx="0">
                  <c:v>t1</c:v>
                </c:pt>
                <c:pt idx="1">
                  <c:v>t2</c:v>
                </c:pt>
                <c:pt idx="2">
                  <c:v>t3</c:v>
                </c:pt>
                <c:pt idx="3">
                  <c:v>t4</c:v>
                </c:pt>
                <c:pt idx="4">
                  <c:v>t5</c:v>
                </c:pt>
                <c:pt idx="5">
                  <c:v>t6</c:v>
                </c:pt>
                <c:pt idx="6">
                  <c:v>t7</c:v>
                </c:pt>
                <c:pt idx="7">
                  <c:v>t8</c:v>
                </c:pt>
              </c:strCache>
            </c:strRef>
          </c:cat>
          <c:val>
            <c:numRef>
              <c:f>Sheet1!$C$2:$C$9</c:f>
              <c:numCache>
                <c:formatCode>General</c:formatCode>
                <c:ptCount val="8"/>
                <c:pt idx="0">
                  <c:v>256</c:v>
                </c:pt>
                <c:pt idx="1">
                  <c:v>256</c:v>
                </c:pt>
                <c:pt idx="2">
                  <c:v>256</c:v>
                </c:pt>
                <c:pt idx="3">
                  <c:v>256</c:v>
                </c:pt>
                <c:pt idx="4">
                  <c:v>256</c:v>
                </c:pt>
                <c:pt idx="5">
                  <c:v>256</c:v>
                </c:pt>
                <c:pt idx="6">
                  <c:v>256</c:v>
                </c:pt>
                <c:pt idx="7">
                  <c:v>256</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C9D6DA"/>
            </a:solidFill>
          </a:ln>
        </c:spPr>
        <c:txPr>
          <a:bodyPr/>
          <a:lstStyle/>
          <a:p>
            <a:pPr>
              <a:defRPr sz="1200">
                <a:solidFill>
                  <a:srgbClr val="5F6F78"/>
                </a:solidFill>
              </a:defRPr>
            </a:pPr>
          </a:p>
        </c:txPr>
        <c:crossAx val="2140495176"/>
        <c:crosses val="autoZero"/>
        <c:auto val="1"/>
        <c:lblAlgn val="ctr"/>
        <c:lblOffset val="100"/>
        <c:noMultiLvlLbl val="0"/>
      </c:catAx>
      <c:valAx>
        <c:axId val="2140495176"/>
        <c:scaling/>
        <c:delete val="0"/>
        <c:axPos val="l"/>
        <c:majorGridlines>
          <c:spPr>
            <a:ln>
              <a:solidFill>
                <a:srgbClr val="E3EAEC"/>
              </a:solidFill>
            </a:ln>
          </c:spPr>
        </c:majorGridlines>
        <c:majorTickMark val="out"/>
        <c:minorTickMark val="none"/>
        <c:tickLblPos val="nextTo"/>
        <c:spPr>
          <a:ln>
            <a:solidFill>
              <a:srgbClr val="C9D6DA"/>
            </a:solidFill>
          </a:ln>
        </c:spPr>
        <c:txPr>
          <a:bodyPr/>
          <a:lstStyle/>
          <a:p>
            <a:pPr>
              <a:defRPr sz="1200">
                <a:solidFill>
                  <a:srgbClr val="5F6F78"/>
                </a:solidFill>
              </a:defRPr>
            </a:pPr>
          </a:p>
        </c:txPr>
        <c:crossAx val="2118791784"/>
        <c:crosses val="autoZero"/>
      </c:valAx>
    </c:plotArea>
    <c:legend>
      <c:legendPos val="b"/>
      <c:layout/>
      <c:overlay val="0"/>
      <c:txPr>
        <a:bodyPr/>
        <a:lstStyle/>
        <a:p>
          <a:pPr>
            <a:defRPr sz="1200"/>
          </a:pPr>
        </a:p>
      </c:txPr>
    </c:legend>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c:ser>
          <c:idx val="0"/>
          <c:order val="0"/>
          <c:tx>
            <c:strRef>
              <c:f>Sheet1!$B$1</c:f>
              <c:strCache>
                <c:ptCount val="1"/>
                <c:pt idx="0">
                  <c:v>value</c:v>
                </c:pt>
              </c:strCache>
            </c:strRef>
          </c:tx>
          <c:dPt>
            <c:idx val="0"/>
            <c:spPr>
              <a:solidFill>
                <a:srgbClr val="1B998B"/>
              </a:solidFill>
            </c:spPr>
          </c:dPt>
          <c:dPt>
            <c:idx val="1"/>
            <c:spPr>
              <a:solidFill>
                <a:srgbClr val="1B998B"/>
              </a:solidFill>
            </c:spPr>
          </c:dPt>
          <c:dPt>
            <c:idx val="2"/>
            <c:spPr>
              <a:solidFill>
                <a:srgbClr val="1B998B"/>
              </a:solidFill>
            </c:spPr>
          </c:dPt>
          <c:dPt>
            <c:idx val="3"/>
            <c:spPr>
              <a:solidFill>
                <a:srgbClr val="1B998B"/>
              </a:solidFill>
            </c:spPr>
          </c:dPt>
          <c:dPt>
            <c:idx val="4"/>
            <c:spPr>
              <a:solidFill>
                <a:srgbClr val="1B998B"/>
              </a:solidFill>
            </c:spPr>
          </c:dPt>
          <c:dPt>
            <c:idx val="5"/>
            <c:spPr>
              <a:solidFill>
                <a:srgbClr val="1B998B"/>
              </a:solidFill>
            </c:spPr>
          </c:dPt>
          <c:dPt>
            <c:idx val="6"/>
            <c:spPr>
              <a:solidFill>
                <a:srgbClr val="1B998B"/>
              </a:solidFill>
            </c:spPr>
          </c:dPt>
          <c:dPt>
            <c:idx val="7"/>
            <c:spPr>
              <a:solidFill>
                <a:srgbClr val="1B998B"/>
              </a:solidFill>
            </c:spPr>
          </c:dPt>
          <c:dPt>
            <c:idx val="8"/>
            <c:spPr>
              <a:solidFill>
                <a:srgbClr val="D1495B"/>
              </a:solidFill>
            </c:spPr>
          </c:dPt>
          <c:dPt>
            <c:idx val="9"/>
            <c:spPr>
              <a:solidFill>
                <a:srgbClr val="7A5C99"/>
              </a:solidFill>
            </c:spPr>
          </c:dPt>
          <c:dPt>
            <c:idx val="10"/>
            <c:spPr>
              <a:solidFill>
                <a:srgbClr val="F2A541"/>
              </a:solidFill>
            </c:spPr>
          </c:dPt>
          <c:cat>
            <c:strRef>
              <c:f>Sheet1!$A$2:$A$12</c:f>
              <c:strCache>
                <c:ptCount val="11"/>
                <c:pt idx="0">
                  <c:v>TCP ACK (normal)</c:v>
                </c:pt>
                <c:pt idx="1">
                  <c:v>TCP data / PSH (normal)</c:v>
                </c:pt>
                <c:pt idx="2">
                  <c:v>TCP FIN (normal)</c:v>
                </c:pt>
                <c:pt idx="3">
                  <c:v>TCP SYN (normal)</c:v>
                </c:pt>
                <c:pt idx="4">
                  <c:v>other TCP (normal)</c:v>
                </c:pt>
                <c:pt idx="5">
                  <c:v>ping and reply (normal)</c:v>
                </c:pt>
                <c:pt idx="6">
                  <c:v>DNS (normal)</c:v>
                </c:pt>
                <c:pt idx="7">
                  <c:v>other (ARP, IPv6, UDP, fragments)</c:v>
                </c:pt>
                <c:pt idx="8">
                  <c:v>SYN flood (attack)</c:v>
                </c:pt>
                <c:pt idx="9">
                  <c:v>ACK scan (attack)</c:v>
                </c:pt>
                <c:pt idx="10">
                  <c:v>port 0 (attack)</c:v>
                </c:pt>
              </c:strCache>
            </c:strRef>
          </c:cat>
          <c:val>
            <c:numRef>
              <c:f>Sheet1!$B$2:$B$12</c:f>
              <c:numCache>
                <c:formatCode>General</c:formatCode>
                <c:ptCount val="11"/>
                <c:pt idx="0">
                  <c:v>193</c:v>
                </c:pt>
                <c:pt idx="1">
                  <c:v>90</c:v>
                </c:pt>
                <c:pt idx="2">
                  <c:v>30</c:v>
                </c:pt>
                <c:pt idx="3">
                  <c:v>23</c:v>
                </c:pt>
                <c:pt idx="4">
                  <c:v>23</c:v>
                </c:pt>
                <c:pt idx="5">
                  <c:v>21</c:v>
                </c:pt>
                <c:pt idx="6">
                  <c:v>12</c:v>
                </c:pt>
                <c:pt idx="7">
                  <c:v>10</c:v>
                </c:pt>
                <c:pt idx="8">
                  <c:v>153</c:v>
                </c:pt>
                <c:pt idx="9">
                  <c:v>41</c:v>
                </c:pt>
                <c:pt idx="10">
                  <c:v>4</c:v>
                </c:pt>
              </c:numCache>
            </c:numRef>
          </c:val>
        </c:ser>
        <c:dLbls>
          <c:numFmt formatCode="0" sourceLinked="0"/>
          <c:txPr>
            <a:bodyPr/>
            <a:lstStyle/>
            <a:p>
              <a:pPr>
                <a:defRPr sz="1300">
                  <a:solidFill>
                    <a:srgbClr val="0F2A33"/>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C9D6DA"/>
            </a:solidFill>
          </a:ln>
        </c:spPr>
        <c:txPr>
          <a:bodyPr/>
          <a:lstStyle/>
          <a:p>
            <a:pPr>
              <a:defRPr sz="1300">
                <a:solidFill>
                  <a:srgbClr val="5F6F78"/>
                </a:solidFill>
              </a:defRPr>
            </a:pPr>
          </a:p>
        </c:txPr>
        <c:crossAx val="-2113994440"/>
        <c:crosses val="autoZero"/>
        <c:auto val="1"/>
        <c:lblAlgn val="ctr"/>
        <c:lblOffset val="100"/>
        <c:noMultiLvlLbl val="0"/>
      </c:catAx>
      <c:valAx>
        <c:axId val="-2113994440"/>
        <c:scaling/>
        <c:delete val="0"/>
        <c:axPos val="b"/>
        <c:majorGridlines>
          <c:spPr>
            <a:ln>
              <a:solidFill>
                <a:srgbClr val="E3EAEC"/>
              </a:solidFill>
            </a:ln>
          </c:spPr>
        </c:majorGridlines>
        <c:majorTickMark val="out"/>
        <c:minorTickMark val="none"/>
        <c:tickLblPos val="nextTo"/>
        <c:spPr>
          <a:ln>
            <a:solidFill>
              <a:srgbClr val="C9D6DA"/>
            </a:solidFill>
          </a:ln>
        </c:spPr>
        <c:txPr>
          <a:bodyPr/>
          <a:lstStyle/>
          <a:p>
            <a:pPr>
              <a:defRPr sz="1300">
                <a:solidFill>
                  <a:srgbClr val="5F6F78"/>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share</c:v>
                </c:pt>
              </c:strCache>
            </c:strRef>
          </c:tx>
          <c:dPt>
            <c:idx val="0"/>
            <c:spPr>
              <a:solidFill>
                <a:srgbClr val="2E86AB"/>
              </a:solidFill>
            </c:spPr>
          </c:dPt>
          <c:dPt>
            <c:idx val="1"/>
            <c:spPr>
              <a:solidFill>
                <a:srgbClr val="7A5C99"/>
              </a:solidFill>
            </c:spPr>
          </c:dPt>
          <c:dPt>
            <c:idx val="2"/>
            <c:spPr>
              <a:solidFill>
                <a:srgbClr val="5F6F78"/>
              </a:solidFill>
            </c:spPr>
          </c:dPt>
          <c:dPt>
            <c:idx val="3"/>
            <c:spPr>
              <a:solidFill>
                <a:srgbClr val="1B4D5C"/>
              </a:solidFill>
            </c:spPr>
          </c:dPt>
          <c:dPt>
            <c:idx val="4"/>
            <c:spPr>
              <a:solidFill>
                <a:srgbClr val="1B998B"/>
              </a:solidFill>
            </c:spPr>
          </c:dPt>
          <c:dPt>
            <c:idx val="5"/>
            <c:spPr>
              <a:solidFill>
                <a:srgbClr val="F2A541"/>
              </a:solidFill>
            </c:spPr>
          </c:dPt>
          <c:cat>
            <c:strRef>
              <c:f>Sheet1!$A$2:$A$7</c:f>
              <c:strCache>
                <c:ptCount val="6"/>
                <c:pt idx="0">
                  <c:v>packet buffer + control</c:v>
                </c:pt>
                <c:pt idx="1">
                  <c:v>SNN core (W1 weights + neurons)</c:v>
                </c:pt>
                <c:pt idx="2">
                  <c:v>FIFOs</c:v>
                </c:pt>
                <c:pt idx="3">
                  <c:v>config + W2</c:v>
                </c:pt>
                <c:pt idx="4">
                  <c:v>parser</c:v>
                </c:pt>
                <c:pt idx="5">
                  <c:v>encoder</c:v>
                </c:pt>
              </c:strCache>
            </c:strRef>
          </c:cat>
          <c:val>
            <c:numRef>
              <c:f>Sheet1!$B$2:$B$7</c:f>
              <c:numCache>
                <c:formatCode>General</c:formatCode>
                <c:ptCount val="6"/>
                <c:pt idx="0">
                  <c:v>61.3</c:v>
                </c:pt>
                <c:pt idx="1">
                  <c:v>33.9</c:v>
                </c:pt>
                <c:pt idx="2">
                  <c:v>2.1</c:v>
                </c:pt>
                <c:pt idx="3">
                  <c:v>1.2</c:v>
                </c:pt>
                <c:pt idx="4">
                  <c:v>0.8</c:v>
                </c:pt>
                <c:pt idx="5">
                  <c:v>0.6</c:v>
                </c:pt>
              </c:numCache>
            </c:numRef>
          </c:val>
        </c:ser>
        <c:dLbls>
          <c:numFmt formatCode="0.0&quot;%&quot;" sourceLinked="0"/>
          <c:txPr>
            <a:bodyPr/>
            <a:lstStyle/>
            <a:p>
              <a:pPr>
                <a:defRPr sz="1200" b="1">
                  <a:solidFill>
                    <a:srgbClr val="FFFFFF"/>
                  </a:solidFill>
                </a:defRPr>
              </a:pPr>
            </a:p>
          </c:txPr>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200"/>
          </a:pPr>
        </a:p>
      </c:txPr>
    </c:legend>
    <c:plotVisOnly val="1"/>
    <c:dispBlanksAs val="gap"/>
    <c:showDLblsOverMax val="0"/>
  </c:chart>
  <c:txPr>
    <a:bodyPr/>
    <a:lstStyle/>
    <a:p>
      <a:pPr>
        <a:defRPr sz="1800"/>
      </a:pPr>
      <a:endParaR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spiking neural network that sits inside the network card and throws away malicious packets before the operating system ever sees them. This deck explains it from zero.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parts. Each starts from zero, so skip what you already know.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the operating system receives every packet and only then software inspects it. We move the inspection into the network card hardware.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1 builds the vocabulary: neuron, weight, threshold, spike, time step.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neuron is a tiny calculator: it adds up its inputs, each multiplied by a weight, and decides whether to pass something on. Weights are what training learns.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normal artificial neuron outputs a number once. A spiking neuron keeps a charge over several time steps and outputs short yes/no pulses called spikes.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leaky bucket: water (input current) pours in every step, a quarter leaks out, and when the level passes the line the bucket tips: that is a spike, and it starts empty again. Numbers are the real arithmetic of our hidden neurons (leak 1/4, threshold 256) with input current 100.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software all three are trained the same broad way (gradient descent), but SNNs need a trick because a spike has no slope: surrogate gradients.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hardware difference is what matters for us: a CNN accelerator is an array of multipliers fed by big buffers; our SNN is a handful of adders, an event queue and some state registers.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an SNN fits a network card: binary inputs make the arithmetic trivial, most inputs are zero, flood detection needs memory over time, and on-chip learning is possible later.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honest about the costs: latency of several time steps, extra state, harder training, and the energy advantage is not automatic. Accuracy on real traffic is still to be measured.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2 follows one frame through the chip.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Frames wait in the buffer while the header is turned into 64 yes/no answers and the SNN judges them. Benign frames are released, malicious ones erased. The same block runs on three targets.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header is turned into 64 yes/no answers. Frame 0 of the test vectors is an ordinary ping: 9 answers are yes.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64 inputs feed 16 hidden neurons, which feed two output neurons. Whichever output fires more in 8 steps wins.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snn_core.v. The input current is computed once per frame by visiting only the yes-inputs, one weight row per clock. Then 8 LIF steps run with all 16 hidden neurons in parallel, and the output layer follows two cycles behind through a pipelined adder tree.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hidden neuron in gates: a 20-bit register, a shift that is just wiring, two adders, a comparator and a reset multiplexer. Sixteen copies run side by side.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frame takes as many clock ticks to arrive as it has bytes. The verdict is ready about 30 ticks after the last byte, then the stored frame is released or skipped.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3 explains the simulation you ran with xrun.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testbench is a program around the design. It pretends to be the network, the computer and the CPU, and compares everything with the answers the Python model computed in advance.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 vectors are just three text files: the inputs, the trained weights, and the answer sheet. Python writes them; every simulation and the board test read them.</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600 frames tell a story: a normal day, a SYN flood, port-0 probes, an ACK scan, normal again.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kinds of frames are inside. Mostly normal TCP acknowledgements and data.</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Functional verification table, part 1 of 3. Each test is a real-world situation; the right-hand column says what it looks like in the xrun waveform.</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Functional verification table, part 2 of 3. Each test is a real-world situation; the right-hand column says what it looks like in the xrun waveform.</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Functional verification table, part 3 of 3. Each test is a real-world situation; the right-hand column says what it looks like in the xrun waveform.</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xrun run. Read it left to right: the config writes mark the boundaries between tests.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signal in the waveform, grouped. s_ is input from the network, m_ is output to the computer.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the simulations prove: the hardware matches the Python model exactly, under every condition.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4: all numbers come from tools that ran on this design.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snn_classifier placed and routed on SkyWater 130 nm: 1.28 square millimetres, 125 milliwatts at 100 MHz typical corner, 0 DRC and 0 LVS errors. Timing misses 100 MHz by 0.08 ns at the typical corner.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the silicon goes on the full chip. 74 percent of the area is flip-flops, and 91 percent of those are memory: the 2 KiB packet buffer and the weight table. The SNN's own state is about 3 percent.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real placed design, every cell coloured by type: memory flip-flops (blue) and buffers (grey) outside, the SNN arithmetic (orange) as a dense core.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implementation we built, side by side.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job, different models. Our SNN does roughly 900 additions and no multiplications per frame. A small CNN on raw header bytes would need on the order of a hundred thousand to a million multiply-accumulates. Trees and rules are cheaper still but cannot learn temporal patterns.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Existing SNN intrusion detectors run off the data path, in software or on a neuromorphic chip fed by software. In-network ML like Taurus targets switches with non-spiking models. Our step is putting the SNN inside the network card's receive path. Check N3IC and IIsy before claiming this in a paper.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5: options for the next version, with their trade-offs.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Neuron models from simplest to richest. LIF is the usual sweet spot; IF is cheaper, adaptive LIF adds memory, Izhikevich is expensive, time-to-first-spike reduces activity.</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ways to change the whole system, from cheap improvements of what we have to different designs entirely.</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Summary: the hardware is proven correct in simulation and gate level; next steps are board tests, real traffic, SRAM and clock gating, and the Cadence numbers.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chart" Target="../charts/char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chart" Target="../charts/char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2A33"/>
        </a:solidFill>
        <a:effectLst/>
      </p:bgPr>
    </p:bg>
    <p:spTree>
      <p:nvGrpSpPr>
        <p:cNvPr id="1" name=""/>
        <p:cNvGrpSpPr/>
        <p:nvPr/>
      </p:nvGrpSpPr>
      <p:grpSpPr/>
      <p:sp>
        <p:nvSpPr>
          <p:cNvPr id="2" name="Oval 1"/>
          <p:cNvSpPr/>
          <p:nvPr/>
        </p:nvSpPr>
        <p:spPr>
          <a:xfrm>
            <a:off x="9326880" y="1097280"/>
            <a:ext cx="548640" cy="54864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800" b="1" i="0">
                <a:solidFill>
                  <a:srgbClr val="0F2A33"/>
                </a:solidFill>
                <a:latin typeface="Calibri"/>
              </a:rPr>
              <a:t/>
            </a:r>
          </a:p>
        </p:txBody>
      </p:sp>
      <p:sp>
        <p:nvSpPr>
          <p:cNvPr id="3" name="Oval 2"/>
          <p:cNvSpPr/>
          <p:nvPr/>
        </p:nvSpPr>
        <p:spPr>
          <a:xfrm>
            <a:off x="10332720" y="1828800"/>
            <a:ext cx="384048" cy="384048"/>
          </a:xfrm>
          <a:prstGeom prst="ellipse">
            <a:avLst/>
          </a:prstGeom>
          <a:solidFill>
            <a:srgbClr val="1B99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800" b="1" i="0">
                <a:solidFill>
                  <a:srgbClr val="0F2A33"/>
                </a:solidFill>
                <a:latin typeface="Calibri"/>
              </a:rPr>
              <a:t/>
            </a:r>
          </a:p>
        </p:txBody>
      </p:sp>
      <p:sp>
        <p:nvSpPr>
          <p:cNvPr id="4" name="Oval 3"/>
          <p:cNvSpPr/>
          <p:nvPr/>
        </p:nvSpPr>
        <p:spPr>
          <a:xfrm>
            <a:off x="9692640" y="2834640"/>
            <a:ext cx="548640" cy="54864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800" b="1" i="0">
                <a:solidFill>
                  <a:srgbClr val="0F2A33"/>
                </a:solidFill>
                <a:latin typeface="Calibri"/>
              </a:rPr>
              <a:t/>
            </a:r>
          </a:p>
        </p:txBody>
      </p:sp>
      <p:sp>
        <p:nvSpPr>
          <p:cNvPr id="5" name="Oval 4"/>
          <p:cNvSpPr/>
          <p:nvPr/>
        </p:nvSpPr>
        <p:spPr>
          <a:xfrm>
            <a:off x="10789920" y="3291840"/>
            <a:ext cx="384048" cy="384048"/>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800" b="1" i="0">
                <a:solidFill>
                  <a:srgbClr val="0F2A33"/>
                </a:solidFill>
                <a:latin typeface="Calibri"/>
              </a:rPr>
              <a:t/>
            </a:r>
          </a:p>
        </p:txBody>
      </p:sp>
      <p:sp>
        <p:nvSpPr>
          <p:cNvPr id="6" name="Oval 5"/>
          <p:cNvSpPr/>
          <p:nvPr/>
        </p:nvSpPr>
        <p:spPr>
          <a:xfrm>
            <a:off x="9144000" y="3931920"/>
            <a:ext cx="548640" cy="54864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800" b="1" i="0">
                <a:solidFill>
                  <a:srgbClr val="0F2A33"/>
                </a:solidFill>
                <a:latin typeface="Calibri"/>
              </a:rPr>
              <a:t/>
            </a:r>
          </a:p>
        </p:txBody>
      </p:sp>
      <p:cxnSp>
        <p:nvCxnSpPr>
          <p:cNvPr id="7" name="Connector 6"/>
          <p:cNvCxnSpPr/>
          <p:nvPr/>
        </p:nvCxnSpPr>
        <p:spPr>
          <a:xfrm>
            <a:off x="9601200" y="1371600"/>
            <a:ext cx="914400" cy="640080"/>
          </a:xfrm>
          <a:prstGeom prst="line">
            <a:avLst/>
          </a:prstGeom>
          <a:ln w="25400">
            <a:solidFill>
              <a:srgbClr val="3E6A75"/>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966960" y="2011680"/>
            <a:ext cx="548640" cy="1097280"/>
          </a:xfrm>
          <a:prstGeom prst="line">
            <a:avLst/>
          </a:prstGeom>
          <a:ln w="25400">
            <a:solidFill>
              <a:srgbClr val="3E6A75"/>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9966960" y="3108960"/>
            <a:ext cx="1005840" cy="365760"/>
          </a:xfrm>
          <a:prstGeom prst="line">
            <a:avLst/>
          </a:prstGeom>
          <a:ln w="25400">
            <a:solidFill>
              <a:srgbClr val="3E6A75"/>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9418320" y="3108960"/>
            <a:ext cx="548640" cy="1097280"/>
          </a:xfrm>
          <a:prstGeom prst="line">
            <a:avLst/>
          </a:prstGeom>
          <a:ln w="25400">
            <a:solidFill>
              <a:srgbClr val="3E6A75"/>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48640" y="1188720"/>
            <a:ext cx="8412480" cy="2011680"/>
          </a:xfrm>
          <a:prstGeom prst="rect">
            <a:avLst/>
          </a:prstGeom>
          <a:noFill/>
        </p:spPr>
        <p:txBody>
          <a:bodyPr wrap="square" anchor="t" lIns="45720" rIns="45720">
            <a:spAutoFit/>
          </a:bodyPr>
          <a:lstStyle/>
          <a:p>
            <a:pPr algn="l">
              <a:spcAft>
                <a:spcPts val="400"/>
              </a:spcAft>
            </a:pPr>
            <a:r>
              <a:rPr sz="3800" b="1" i="0">
                <a:solidFill>
                  <a:srgbClr val="FFFFFF"/>
                </a:solidFill>
                <a:latin typeface="Cambria"/>
              </a:rPr>
              <a:t>A spiking neural network</a:t>
            </a:r>
          </a:p>
          <a:p>
            <a:pPr algn="l">
              <a:spcAft>
                <a:spcPts val="400"/>
              </a:spcAft>
            </a:pPr>
            <a:r>
              <a:rPr sz="3800" b="1" i="0">
                <a:solidFill>
                  <a:srgbClr val="FFFFFF"/>
                </a:solidFill>
                <a:latin typeface="Cambria"/>
              </a:rPr>
              <a:t>that guards the network card</a:t>
            </a:r>
          </a:p>
        </p:txBody>
      </p:sp>
      <p:sp>
        <p:nvSpPr>
          <p:cNvPr id="12" name="TextBox 11"/>
          <p:cNvSpPr txBox="1"/>
          <p:nvPr/>
        </p:nvSpPr>
        <p:spPr>
          <a:xfrm>
            <a:off x="548640" y="3429000"/>
            <a:ext cx="7863840" cy="1097280"/>
          </a:xfrm>
          <a:prstGeom prst="rect">
            <a:avLst/>
          </a:prstGeom>
          <a:noFill/>
        </p:spPr>
        <p:txBody>
          <a:bodyPr wrap="square" anchor="t" lIns="45720" rIns="45720">
            <a:spAutoFit/>
          </a:bodyPr>
          <a:lstStyle/>
          <a:p>
            <a:pPr algn="l">
              <a:spcAft>
                <a:spcPts val="400"/>
              </a:spcAft>
            </a:pPr>
            <a:r>
              <a:rPr sz="2000" b="0" i="0">
                <a:solidFill>
                  <a:srgbClr val="B9CBD0"/>
                </a:solidFill>
                <a:latin typeface="Calibri"/>
              </a:rPr>
              <a:t>SNN packet firewall: what it is, how the hardware works, how we tested it, and what it costs in area, power and speed</a:t>
            </a:r>
          </a:p>
        </p:txBody>
      </p:sp>
      <p:sp>
        <p:nvSpPr>
          <p:cNvPr id="13" name="TextBox 12"/>
          <p:cNvSpPr txBox="1"/>
          <p:nvPr/>
        </p:nvSpPr>
        <p:spPr>
          <a:xfrm>
            <a:off x="548640" y="5669280"/>
            <a:ext cx="8229600" cy="365760"/>
          </a:xfrm>
          <a:prstGeom prst="rect">
            <a:avLst/>
          </a:prstGeom>
          <a:noFill/>
        </p:spPr>
        <p:txBody>
          <a:bodyPr wrap="square" anchor="t" lIns="45720" rIns="45720">
            <a:spAutoFit/>
          </a:bodyPr>
          <a:lstStyle/>
          <a:p>
            <a:pPr algn="l">
              <a:spcAft>
                <a:spcPts val="400"/>
              </a:spcAft>
            </a:pPr>
            <a:r>
              <a:rPr sz="1400" b="0" i="0">
                <a:solidFill>
                  <a:srgbClr val="8FA8AF"/>
                </a:solidFill>
                <a:latin typeface="Calibri"/>
              </a:rPr>
              <a:t>SNN_based_network_packet_classifier · explained simply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02975" y="6400800"/>
            <a:ext cx="822960" cy="274320"/>
          </a:xfrm>
          <a:prstGeom prst="rect">
            <a:avLst/>
          </a:prstGeom>
          <a:noFill/>
        </p:spPr>
        <p:txBody>
          <a:bodyPr wrap="square" anchor="t" lIns="45720" rIns="45720">
            <a:spAutoFit/>
          </a:bodyPr>
          <a:lstStyle/>
          <a:p>
            <a:pPr algn="r">
              <a:spcAft>
                <a:spcPts val="400"/>
              </a:spcAft>
            </a:pPr>
            <a:r>
              <a:rPr sz="1100" b="0" i="0">
                <a:solidFill>
                  <a:srgbClr val="5F6F78"/>
                </a:solidFill>
                <a:latin typeface="Calibri"/>
              </a:rPr>
              <a:t>2</a:t>
            </a:r>
          </a:p>
        </p:txBody>
      </p:sp>
      <p:sp>
        <p:nvSpPr>
          <p:cNvPr id="3" name="Title"/>
          <p:cNvSpPr txBox="1"/>
          <p:nvPr/>
        </p:nvSpPr>
        <p:spPr>
          <a:xfrm>
            <a:off x="548640" y="320040"/>
            <a:ext cx="11064240" cy="777240"/>
          </a:xfrm>
          <a:prstGeom prst="rect">
            <a:avLst/>
          </a:prstGeom>
          <a:noFill/>
        </p:spPr>
        <p:txBody>
          <a:bodyPr wrap="square" anchor="ctr" lIns="45720" rIns="45720">
            <a:spAutoFit/>
          </a:bodyPr>
          <a:lstStyle/>
          <a:p>
            <a:pPr algn="l">
              <a:spcAft>
                <a:spcPts val="400"/>
              </a:spcAft>
            </a:pPr>
            <a:r>
              <a:rPr sz="3400" b="1" i="0">
                <a:solidFill>
                  <a:srgbClr val="0F2A33"/>
                </a:solidFill>
                <a:latin typeface="Cambria"/>
              </a:rPr>
              <a:t>What this deck covers</a:t>
            </a:r>
          </a:p>
        </p:txBody>
      </p:sp>
      <p:sp>
        <p:nvSpPr>
          <p:cNvPr id="4" name="Rounded Rectangle 3"/>
          <p:cNvSpPr/>
          <p:nvPr/>
        </p:nvSpPr>
        <p:spPr>
          <a:xfrm>
            <a:off x="548640" y="1554480"/>
            <a:ext cx="2103120" cy="420624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 name="Oval 4"/>
          <p:cNvSpPr/>
          <p:nvPr/>
        </p:nvSpPr>
        <p:spPr>
          <a:xfrm>
            <a:off x="731520" y="1737360"/>
            <a:ext cx="594360" cy="59436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2200" b="1" i="0">
                <a:solidFill>
                  <a:srgbClr val="0F2A33"/>
                </a:solidFill>
                <a:latin typeface="Calibri"/>
              </a:rPr>
              <a:t>1</a:t>
            </a:r>
          </a:p>
        </p:txBody>
      </p:sp>
      <p:sp>
        <p:nvSpPr>
          <p:cNvPr id="6" name="TextBox 5"/>
          <p:cNvSpPr txBox="1"/>
          <p:nvPr/>
        </p:nvSpPr>
        <p:spPr>
          <a:xfrm>
            <a:off x="731520" y="2514600"/>
            <a:ext cx="1783080" cy="868680"/>
          </a:xfrm>
          <a:prstGeom prst="rect">
            <a:avLst/>
          </a:prstGeom>
          <a:noFill/>
        </p:spPr>
        <p:txBody>
          <a:bodyPr wrap="square" anchor="t" lIns="45720" rIns="45720">
            <a:spAutoFit/>
          </a:bodyPr>
          <a:lstStyle/>
          <a:p>
            <a:pPr algn="l">
              <a:spcAft>
                <a:spcPts val="400"/>
              </a:spcAft>
            </a:pPr>
            <a:r>
              <a:rPr sz="1900" b="1" i="0">
                <a:solidFill>
                  <a:srgbClr val="0F2A33"/>
                </a:solidFill>
                <a:latin typeface="Cambria"/>
              </a:rPr>
              <a:t>What is an SNN</a:t>
            </a:r>
          </a:p>
        </p:txBody>
      </p:sp>
      <p:sp>
        <p:nvSpPr>
          <p:cNvPr id="7" name="TextBox 6"/>
          <p:cNvSpPr txBox="1"/>
          <p:nvPr/>
        </p:nvSpPr>
        <p:spPr>
          <a:xfrm>
            <a:off x="731520" y="3429000"/>
            <a:ext cx="1783080" cy="2194560"/>
          </a:xfrm>
          <a:prstGeom prst="rect">
            <a:avLst/>
          </a:prstGeom>
          <a:noFill/>
        </p:spPr>
        <p:txBody>
          <a:bodyPr wrap="square" anchor="t" lIns="45720" rIns="45720">
            <a:spAutoFit/>
          </a:bodyPr>
          <a:lstStyle/>
          <a:p>
            <a:pPr algn="l">
              <a:spcAft>
                <a:spcPts val="400"/>
              </a:spcAft>
            </a:pPr>
            <a:r>
              <a:rPr sz="1500" b="0" i="0">
                <a:solidFill>
                  <a:srgbClr val="0F2A33"/>
                </a:solidFill>
                <a:latin typeface="Calibri"/>
              </a:rPr>
              <a:t>Neurons, spikes, and how SNNs differ from normal and convolutional networks</a:t>
            </a:r>
          </a:p>
        </p:txBody>
      </p:sp>
      <p:sp>
        <p:nvSpPr>
          <p:cNvPr id="8" name="Rounded Rectangle 7"/>
          <p:cNvSpPr/>
          <p:nvPr/>
        </p:nvSpPr>
        <p:spPr>
          <a:xfrm>
            <a:off x="2816352" y="1554480"/>
            <a:ext cx="2103120" cy="420624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9" name="Oval 8"/>
          <p:cNvSpPr/>
          <p:nvPr/>
        </p:nvSpPr>
        <p:spPr>
          <a:xfrm>
            <a:off x="2999232" y="1737360"/>
            <a:ext cx="594360" cy="594360"/>
          </a:xfrm>
          <a:prstGeom prst="ellipse">
            <a:avLst/>
          </a:prstGeom>
          <a:solidFill>
            <a:srgbClr val="1B99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2200" b="1" i="0">
                <a:solidFill>
                  <a:srgbClr val="FFFFFF"/>
                </a:solidFill>
                <a:latin typeface="Calibri"/>
              </a:rPr>
              <a:t>2</a:t>
            </a:r>
          </a:p>
        </p:txBody>
      </p:sp>
      <p:sp>
        <p:nvSpPr>
          <p:cNvPr id="10" name="TextBox 9"/>
          <p:cNvSpPr txBox="1"/>
          <p:nvPr/>
        </p:nvSpPr>
        <p:spPr>
          <a:xfrm>
            <a:off x="2999232" y="2514600"/>
            <a:ext cx="1783080" cy="868680"/>
          </a:xfrm>
          <a:prstGeom prst="rect">
            <a:avLst/>
          </a:prstGeom>
          <a:noFill/>
        </p:spPr>
        <p:txBody>
          <a:bodyPr wrap="square" anchor="t" lIns="45720" rIns="45720">
            <a:spAutoFit/>
          </a:bodyPr>
          <a:lstStyle/>
          <a:p>
            <a:pPr algn="l">
              <a:spcAft>
                <a:spcPts val="400"/>
              </a:spcAft>
            </a:pPr>
            <a:r>
              <a:rPr sz="1900" b="1" i="0">
                <a:solidFill>
                  <a:srgbClr val="0F2A33"/>
                </a:solidFill>
                <a:latin typeface="Cambria"/>
              </a:rPr>
              <a:t>Our design</a:t>
            </a:r>
          </a:p>
        </p:txBody>
      </p:sp>
      <p:sp>
        <p:nvSpPr>
          <p:cNvPr id="11" name="TextBox 10"/>
          <p:cNvSpPr txBox="1"/>
          <p:nvPr/>
        </p:nvSpPr>
        <p:spPr>
          <a:xfrm>
            <a:off x="2999232" y="3429000"/>
            <a:ext cx="1783080" cy="2194560"/>
          </a:xfrm>
          <a:prstGeom prst="rect">
            <a:avLst/>
          </a:prstGeom>
          <a:noFill/>
        </p:spPr>
        <p:txBody>
          <a:bodyPr wrap="square" anchor="t" lIns="45720" rIns="45720">
            <a:spAutoFit/>
          </a:bodyPr>
          <a:lstStyle/>
          <a:p>
            <a:pPr algn="l">
              <a:spcAft>
                <a:spcPts val="400"/>
              </a:spcAft>
            </a:pPr>
            <a:r>
              <a:rPr sz="1500" b="0" i="0">
                <a:solidFill>
                  <a:srgbClr val="0F2A33"/>
                </a:solidFill>
                <a:latin typeface="Calibri"/>
              </a:rPr>
              <a:t>From an Ethernet frame to 64 spikes to a verdict, and the HDL behind each neuron</a:t>
            </a:r>
          </a:p>
        </p:txBody>
      </p:sp>
      <p:sp>
        <p:nvSpPr>
          <p:cNvPr id="12" name="Rounded Rectangle 11"/>
          <p:cNvSpPr/>
          <p:nvPr/>
        </p:nvSpPr>
        <p:spPr>
          <a:xfrm>
            <a:off x="5084064" y="1554480"/>
            <a:ext cx="2103120" cy="420624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3" name="Oval 12"/>
          <p:cNvSpPr/>
          <p:nvPr/>
        </p:nvSpPr>
        <p:spPr>
          <a:xfrm>
            <a:off x="5266944" y="1737360"/>
            <a:ext cx="594360" cy="594360"/>
          </a:xfrm>
          <a:prstGeom prst="ellipse">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2200" b="1" i="0">
                <a:solidFill>
                  <a:srgbClr val="FFFFFF"/>
                </a:solidFill>
                <a:latin typeface="Calibri"/>
              </a:rPr>
              <a:t>3</a:t>
            </a:r>
          </a:p>
        </p:txBody>
      </p:sp>
      <p:sp>
        <p:nvSpPr>
          <p:cNvPr id="14" name="TextBox 13"/>
          <p:cNvSpPr txBox="1"/>
          <p:nvPr/>
        </p:nvSpPr>
        <p:spPr>
          <a:xfrm>
            <a:off x="5266944" y="2514600"/>
            <a:ext cx="1783080" cy="868680"/>
          </a:xfrm>
          <a:prstGeom prst="rect">
            <a:avLst/>
          </a:prstGeom>
          <a:noFill/>
        </p:spPr>
        <p:txBody>
          <a:bodyPr wrap="square" anchor="t" lIns="45720" rIns="45720">
            <a:spAutoFit/>
          </a:bodyPr>
          <a:lstStyle/>
          <a:p>
            <a:pPr algn="l">
              <a:spcAft>
                <a:spcPts val="400"/>
              </a:spcAft>
            </a:pPr>
            <a:r>
              <a:rPr sz="1900" b="1" i="0">
                <a:solidFill>
                  <a:srgbClr val="0F2A33"/>
                </a:solidFill>
                <a:latin typeface="Cambria"/>
              </a:rPr>
              <a:t>Verification</a:t>
            </a:r>
          </a:p>
        </p:txBody>
      </p:sp>
      <p:sp>
        <p:nvSpPr>
          <p:cNvPr id="15" name="TextBox 14"/>
          <p:cNvSpPr txBox="1"/>
          <p:nvPr/>
        </p:nvSpPr>
        <p:spPr>
          <a:xfrm>
            <a:off x="5266944" y="3429000"/>
            <a:ext cx="1783080" cy="2194560"/>
          </a:xfrm>
          <a:prstGeom prst="rect">
            <a:avLst/>
          </a:prstGeom>
          <a:noFill/>
        </p:spPr>
        <p:txBody>
          <a:bodyPr wrap="square" anchor="t" lIns="45720" rIns="45720">
            <a:spAutoFit/>
          </a:bodyPr>
          <a:lstStyle/>
          <a:p>
            <a:pPr algn="l">
              <a:spcAft>
                <a:spcPts val="400"/>
              </a:spcAft>
            </a:pPr>
            <a:r>
              <a:rPr sz="1500" b="0" i="0">
                <a:solidFill>
                  <a:srgbClr val="0F2A33"/>
                </a:solidFill>
                <a:latin typeface="Calibri"/>
              </a:rPr>
              <a:t>The testbench, the test vectors, the functional verification table, the xrun signals</a:t>
            </a:r>
          </a:p>
        </p:txBody>
      </p:sp>
      <p:sp>
        <p:nvSpPr>
          <p:cNvPr id="16" name="Rounded Rectangle 15"/>
          <p:cNvSpPr/>
          <p:nvPr/>
        </p:nvSpPr>
        <p:spPr>
          <a:xfrm>
            <a:off x="7351775" y="1554480"/>
            <a:ext cx="2103120" cy="420624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7" name="Oval 16"/>
          <p:cNvSpPr/>
          <p:nvPr/>
        </p:nvSpPr>
        <p:spPr>
          <a:xfrm>
            <a:off x="7534655" y="1737360"/>
            <a:ext cx="594360" cy="594360"/>
          </a:xfrm>
          <a:prstGeom prst="ellipse">
            <a:avLst/>
          </a:prstGeom>
          <a:solidFill>
            <a:srgbClr val="7A5C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2200" b="1" i="0">
                <a:solidFill>
                  <a:srgbClr val="FFFFFF"/>
                </a:solidFill>
                <a:latin typeface="Calibri"/>
              </a:rPr>
              <a:t>4</a:t>
            </a:r>
          </a:p>
        </p:txBody>
      </p:sp>
      <p:sp>
        <p:nvSpPr>
          <p:cNvPr id="18" name="TextBox 17"/>
          <p:cNvSpPr txBox="1"/>
          <p:nvPr/>
        </p:nvSpPr>
        <p:spPr>
          <a:xfrm>
            <a:off x="7534655" y="2514600"/>
            <a:ext cx="1783080" cy="868680"/>
          </a:xfrm>
          <a:prstGeom prst="rect">
            <a:avLst/>
          </a:prstGeom>
          <a:noFill/>
        </p:spPr>
        <p:txBody>
          <a:bodyPr wrap="square" anchor="t" lIns="45720" rIns="45720">
            <a:spAutoFit/>
          </a:bodyPr>
          <a:lstStyle/>
          <a:p>
            <a:pPr algn="l">
              <a:spcAft>
                <a:spcPts val="400"/>
              </a:spcAft>
            </a:pPr>
            <a:r>
              <a:rPr sz="1900" b="1" i="0">
                <a:solidFill>
                  <a:srgbClr val="0F2A33"/>
                </a:solidFill>
                <a:latin typeface="Cambria"/>
              </a:rPr>
              <a:t>Area, power, performance</a:t>
            </a:r>
          </a:p>
        </p:txBody>
      </p:sp>
      <p:sp>
        <p:nvSpPr>
          <p:cNvPr id="19" name="TextBox 18"/>
          <p:cNvSpPr txBox="1"/>
          <p:nvPr/>
        </p:nvSpPr>
        <p:spPr>
          <a:xfrm>
            <a:off x="7534655" y="3429000"/>
            <a:ext cx="1783080" cy="2194560"/>
          </a:xfrm>
          <a:prstGeom prst="rect">
            <a:avLst/>
          </a:prstGeom>
          <a:noFill/>
        </p:spPr>
        <p:txBody>
          <a:bodyPr wrap="square" anchor="t" lIns="45720" rIns="45720">
            <a:spAutoFit/>
          </a:bodyPr>
          <a:lstStyle/>
          <a:p>
            <a:pPr algn="l">
              <a:spcAft>
                <a:spcPts val="400"/>
              </a:spcAft>
            </a:pPr>
            <a:r>
              <a:rPr sz="1500" b="0" i="0">
                <a:solidFill>
                  <a:srgbClr val="0F2A33"/>
                </a:solidFill>
                <a:latin typeface="Calibri"/>
              </a:rPr>
              <a:t>Measured numbers on sky130, FPGAs; SNN vs other approaches</a:t>
            </a:r>
          </a:p>
        </p:txBody>
      </p:sp>
      <p:sp>
        <p:nvSpPr>
          <p:cNvPr id="20" name="Rounded Rectangle 19"/>
          <p:cNvSpPr/>
          <p:nvPr/>
        </p:nvSpPr>
        <p:spPr>
          <a:xfrm>
            <a:off x="9619488" y="1554480"/>
            <a:ext cx="2103120" cy="420624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1" name="Oval 20"/>
          <p:cNvSpPr/>
          <p:nvPr/>
        </p:nvSpPr>
        <p:spPr>
          <a:xfrm>
            <a:off x="9802367" y="1737360"/>
            <a:ext cx="594360" cy="594360"/>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2200" b="1" i="0">
                <a:solidFill>
                  <a:srgbClr val="FFFFFF"/>
                </a:solidFill>
                <a:latin typeface="Calibri"/>
              </a:rPr>
              <a:t>5</a:t>
            </a:r>
          </a:p>
        </p:txBody>
      </p:sp>
      <p:sp>
        <p:nvSpPr>
          <p:cNvPr id="22" name="TextBox 21"/>
          <p:cNvSpPr txBox="1"/>
          <p:nvPr/>
        </p:nvSpPr>
        <p:spPr>
          <a:xfrm>
            <a:off x="9802367" y="2514600"/>
            <a:ext cx="1783080" cy="868680"/>
          </a:xfrm>
          <a:prstGeom prst="rect">
            <a:avLst/>
          </a:prstGeom>
          <a:noFill/>
        </p:spPr>
        <p:txBody>
          <a:bodyPr wrap="square" anchor="t" lIns="45720" rIns="45720">
            <a:spAutoFit/>
          </a:bodyPr>
          <a:lstStyle/>
          <a:p>
            <a:pPr algn="l">
              <a:spcAft>
                <a:spcPts val="400"/>
              </a:spcAft>
            </a:pPr>
            <a:r>
              <a:rPr sz="1900" b="1" i="0">
                <a:solidFill>
                  <a:srgbClr val="0F2A33"/>
                </a:solidFill>
                <a:latin typeface="Cambria"/>
              </a:rPr>
              <a:t>Alternatives</a:t>
            </a:r>
          </a:p>
        </p:txBody>
      </p:sp>
      <p:sp>
        <p:nvSpPr>
          <p:cNvPr id="23" name="TextBox 22"/>
          <p:cNvSpPr txBox="1"/>
          <p:nvPr/>
        </p:nvSpPr>
        <p:spPr>
          <a:xfrm>
            <a:off x="9802367" y="3429000"/>
            <a:ext cx="1783080" cy="2194560"/>
          </a:xfrm>
          <a:prstGeom prst="rect">
            <a:avLst/>
          </a:prstGeom>
          <a:noFill/>
        </p:spPr>
        <p:txBody>
          <a:bodyPr wrap="square" anchor="t" lIns="45720" rIns="45720">
            <a:spAutoFit/>
          </a:bodyPr>
          <a:lstStyle/>
          <a:p>
            <a:pPr algn="l">
              <a:spcAft>
                <a:spcPts val="400"/>
              </a:spcAft>
            </a:pPr>
            <a:r>
              <a:rPr sz="1500" b="0" i="0">
                <a:solidFill>
                  <a:srgbClr val="0F2A33"/>
                </a:solidFill>
                <a:latin typeface="Calibri"/>
              </a:rPr>
              <a:t>Other neuron models and other ways to build the whole project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02975" y="6400800"/>
            <a:ext cx="822960" cy="274320"/>
          </a:xfrm>
          <a:prstGeom prst="rect">
            <a:avLst/>
          </a:prstGeom>
          <a:noFill/>
        </p:spPr>
        <p:txBody>
          <a:bodyPr wrap="square" anchor="t" lIns="45720" rIns="45720">
            <a:spAutoFit/>
          </a:bodyPr>
          <a:lstStyle/>
          <a:p>
            <a:pPr algn="r">
              <a:spcAft>
                <a:spcPts val="400"/>
              </a:spcAft>
            </a:pPr>
            <a:r>
              <a:rPr sz="1100" b="0" i="0">
                <a:solidFill>
                  <a:srgbClr val="5F6F78"/>
                </a:solidFill>
                <a:latin typeface="Calibri"/>
              </a:rPr>
              <a:t>3</a:t>
            </a:r>
          </a:p>
        </p:txBody>
      </p:sp>
      <p:sp>
        <p:nvSpPr>
          <p:cNvPr id="3" name="TextBox 2"/>
          <p:cNvSpPr txBox="1"/>
          <p:nvPr/>
        </p:nvSpPr>
        <p:spPr>
          <a:xfrm>
            <a:off x="548640" y="6400800"/>
            <a:ext cx="7315200" cy="274320"/>
          </a:xfrm>
          <a:prstGeom prst="rect">
            <a:avLst/>
          </a:prstGeom>
          <a:noFill/>
        </p:spPr>
        <p:txBody>
          <a:bodyPr wrap="square" anchor="t" lIns="45720" rIns="45720">
            <a:spAutoFit/>
          </a:bodyPr>
          <a:lstStyle/>
          <a:p>
            <a:pPr algn="l">
              <a:spcAft>
                <a:spcPts val="400"/>
              </a:spcAft>
            </a:pPr>
            <a:r>
              <a:rPr sz="1100" b="0" i="0">
                <a:solidFill>
                  <a:srgbClr val="5F6F78"/>
                </a:solidFill>
                <a:latin typeface="Calibri"/>
              </a:rPr>
              <a:t>Introduction</a:t>
            </a:r>
          </a:p>
        </p:txBody>
      </p:sp>
      <p:sp>
        <p:nvSpPr>
          <p:cNvPr id="4" name="Title"/>
          <p:cNvSpPr txBox="1"/>
          <p:nvPr/>
        </p:nvSpPr>
        <p:spPr>
          <a:xfrm>
            <a:off x="548640" y="320040"/>
            <a:ext cx="11064240" cy="777240"/>
          </a:xfrm>
          <a:prstGeom prst="rect">
            <a:avLst/>
          </a:prstGeom>
          <a:noFill/>
        </p:spPr>
        <p:txBody>
          <a:bodyPr wrap="square" anchor="ctr" lIns="45720" rIns="45720">
            <a:spAutoFit/>
          </a:bodyPr>
          <a:lstStyle/>
          <a:p>
            <a:pPr algn="l">
              <a:spcAft>
                <a:spcPts val="400"/>
              </a:spcAft>
            </a:pPr>
            <a:r>
              <a:rPr sz="3400" b="1" i="0">
                <a:solidFill>
                  <a:srgbClr val="0F2A33"/>
                </a:solidFill>
                <a:latin typeface="Cambria"/>
              </a:rPr>
              <a:t>The problem and the idea</a:t>
            </a:r>
          </a:p>
        </p:txBody>
      </p:sp>
      <p:sp>
        <p:nvSpPr>
          <p:cNvPr id="5" name="Rounded Rectangle 4"/>
          <p:cNvSpPr/>
          <p:nvPr/>
        </p:nvSpPr>
        <p:spPr>
          <a:xfrm>
            <a:off x="548640" y="1463040"/>
            <a:ext cx="5394960" cy="448056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6" name="TextBox 5"/>
          <p:cNvSpPr txBox="1"/>
          <p:nvPr/>
        </p:nvSpPr>
        <p:spPr>
          <a:xfrm>
            <a:off x="822960" y="1645920"/>
            <a:ext cx="4937760" cy="457200"/>
          </a:xfrm>
          <a:prstGeom prst="rect">
            <a:avLst/>
          </a:prstGeom>
          <a:noFill/>
        </p:spPr>
        <p:txBody>
          <a:bodyPr wrap="square" anchor="t" lIns="45720" rIns="45720">
            <a:spAutoFit/>
          </a:bodyPr>
          <a:lstStyle/>
          <a:p>
            <a:pPr algn="l">
              <a:spcAft>
                <a:spcPts val="400"/>
              </a:spcAft>
            </a:pPr>
            <a:r>
              <a:rPr sz="2200" b="1" i="0">
                <a:solidFill>
                  <a:srgbClr val="D1495B"/>
                </a:solidFill>
                <a:latin typeface="Cambria"/>
              </a:rPr>
              <a:t>Today</a:t>
            </a:r>
          </a:p>
        </p:txBody>
      </p:sp>
      <p:sp>
        <p:nvSpPr>
          <p:cNvPr id="7" name="Rounded Rectangle 6"/>
          <p:cNvSpPr/>
          <p:nvPr/>
        </p:nvSpPr>
        <p:spPr>
          <a:xfrm>
            <a:off x="1097280" y="2286000"/>
            <a:ext cx="4297680" cy="594360"/>
          </a:xfrm>
          <a:prstGeom prst="roundRect">
            <a:avLst>
              <a:gd name="adj" fmla="val 12000"/>
            </a:avLst>
          </a:prstGeom>
          <a:solidFill>
            <a:srgbClr val="FFFFFF"/>
          </a:solidFill>
          <a:ln w="15875">
            <a:solidFill>
              <a:srgbClr val="C9D6D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600" b="0" i="0">
                <a:solidFill>
                  <a:srgbClr val="0F2A33"/>
                </a:solidFill>
                <a:latin typeface="Calibri"/>
              </a:rPr>
              <a:t>Network</a:t>
            </a:r>
          </a:p>
        </p:txBody>
      </p:sp>
      <p:cxnSp>
        <p:nvCxnSpPr>
          <p:cNvPr id="8" name="Connector 7"/>
          <p:cNvCxnSpPr/>
          <p:nvPr/>
        </p:nvCxnSpPr>
        <p:spPr>
          <a:xfrm>
            <a:off x="3246120" y="2880360"/>
            <a:ext cx="0" cy="274320"/>
          </a:xfrm>
          <a:prstGeom prst="line">
            <a:avLst/>
          </a:prstGeom>
          <a:ln w="28575">
            <a:solidFill>
              <a:srgbClr val="1B4D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097280" y="3154680"/>
            <a:ext cx="4297680" cy="594360"/>
          </a:xfrm>
          <a:prstGeom prst="roundRect">
            <a:avLst>
              <a:gd name="adj" fmla="val 12000"/>
            </a:avLst>
          </a:prstGeom>
          <a:solidFill>
            <a:srgbClr val="FFFFFF"/>
          </a:solidFill>
          <a:ln w="15875">
            <a:solidFill>
              <a:srgbClr val="C9D6D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600" b="0" i="0">
                <a:solidFill>
                  <a:srgbClr val="0F2A33"/>
                </a:solidFill>
                <a:latin typeface="Calibri"/>
              </a:rPr>
              <a:t>Network card</a:t>
            </a:r>
          </a:p>
        </p:txBody>
      </p:sp>
      <p:cxnSp>
        <p:nvCxnSpPr>
          <p:cNvPr id="10" name="Connector 9"/>
          <p:cNvCxnSpPr/>
          <p:nvPr/>
        </p:nvCxnSpPr>
        <p:spPr>
          <a:xfrm>
            <a:off x="3246120" y="3749039"/>
            <a:ext cx="0" cy="274321"/>
          </a:xfrm>
          <a:prstGeom prst="line">
            <a:avLst/>
          </a:prstGeom>
          <a:ln w="28575">
            <a:solidFill>
              <a:srgbClr val="1B4D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1097280" y="4023360"/>
            <a:ext cx="4297680" cy="594360"/>
          </a:xfrm>
          <a:prstGeom prst="roundRect">
            <a:avLst>
              <a:gd name="adj" fmla="val 12000"/>
            </a:avLst>
          </a:prstGeom>
          <a:solidFill>
            <a:srgbClr val="FFFFFF"/>
          </a:solidFill>
          <a:ln w="15875">
            <a:solidFill>
              <a:srgbClr val="C9D6D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600" b="0" i="0">
                <a:solidFill>
                  <a:srgbClr val="0F2A33"/>
                </a:solidFill>
                <a:latin typeface="Calibri"/>
              </a:rPr>
              <a:t>Operating system</a:t>
            </a:r>
          </a:p>
        </p:txBody>
      </p:sp>
      <p:cxnSp>
        <p:nvCxnSpPr>
          <p:cNvPr id="12" name="Connector 11"/>
          <p:cNvCxnSpPr/>
          <p:nvPr/>
        </p:nvCxnSpPr>
        <p:spPr>
          <a:xfrm>
            <a:off x="3246120" y="4617720"/>
            <a:ext cx="0" cy="274320"/>
          </a:xfrm>
          <a:prstGeom prst="line">
            <a:avLst/>
          </a:prstGeom>
          <a:ln w="28575">
            <a:solidFill>
              <a:srgbClr val="1B4D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1097280" y="4892040"/>
            <a:ext cx="4297680" cy="594360"/>
          </a:xfrm>
          <a:prstGeom prst="roundRect">
            <a:avLst>
              <a:gd name="adj" fmla="val 12000"/>
            </a:avLst>
          </a:prstGeom>
          <a:solidFill>
            <a:srgbClr val="FFFFFF"/>
          </a:solidFill>
          <a:ln w="15875">
            <a:solidFill>
              <a:srgbClr val="C9D6D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600" b="0" i="0">
                <a:solidFill>
                  <a:srgbClr val="0F2A33"/>
                </a:solidFill>
                <a:latin typeface="Calibri"/>
              </a:rPr>
              <a:t>Firewall / IDS software</a:t>
            </a:r>
          </a:p>
        </p:txBody>
      </p:sp>
      <p:sp>
        <p:nvSpPr>
          <p:cNvPr id="14" name="TextBox 13"/>
          <p:cNvSpPr txBox="1"/>
          <p:nvPr/>
        </p:nvSpPr>
        <p:spPr>
          <a:xfrm>
            <a:off x="822960" y="5715000"/>
            <a:ext cx="5029200" cy="365760"/>
          </a:xfrm>
          <a:prstGeom prst="rect">
            <a:avLst/>
          </a:prstGeom>
          <a:noFill/>
        </p:spPr>
        <p:txBody>
          <a:bodyPr wrap="square" anchor="t" lIns="45720" rIns="45720">
            <a:spAutoFit/>
          </a:bodyPr>
          <a:lstStyle/>
          <a:p>
            <a:pPr algn="l">
              <a:spcAft>
                <a:spcPts val="400"/>
              </a:spcAft>
            </a:pPr>
            <a:r>
              <a:rPr sz="1400" b="0" i="1">
                <a:solidFill>
                  <a:srgbClr val="D1495B"/>
                </a:solidFill>
                <a:latin typeface="Calibri"/>
              </a:rPr>
              <a:t>the attack is already inside the OS when it is checked</a:t>
            </a:r>
          </a:p>
        </p:txBody>
      </p:sp>
      <p:sp>
        <p:nvSpPr>
          <p:cNvPr id="15" name="Rounded Rectangle 14"/>
          <p:cNvSpPr/>
          <p:nvPr/>
        </p:nvSpPr>
        <p:spPr>
          <a:xfrm>
            <a:off x="6263640" y="1463040"/>
            <a:ext cx="5394960" cy="448056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6" name="TextBox 15"/>
          <p:cNvSpPr txBox="1"/>
          <p:nvPr/>
        </p:nvSpPr>
        <p:spPr>
          <a:xfrm>
            <a:off x="6537960" y="1645920"/>
            <a:ext cx="4937760" cy="457200"/>
          </a:xfrm>
          <a:prstGeom prst="rect">
            <a:avLst/>
          </a:prstGeom>
          <a:noFill/>
        </p:spPr>
        <p:txBody>
          <a:bodyPr wrap="square" anchor="t" lIns="45720" rIns="45720">
            <a:spAutoFit/>
          </a:bodyPr>
          <a:lstStyle/>
          <a:p>
            <a:pPr algn="l">
              <a:spcAft>
                <a:spcPts val="400"/>
              </a:spcAft>
            </a:pPr>
            <a:r>
              <a:rPr sz="2200" b="1" i="0">
                <a:solidFill>
                  <a:srgbClr val="1B998B"/>
                </a:solidFill>
                <a:latin typeface="Cambria"/>
              </a:rPr>
              <a:t>Our design</a:t>
            </a:r>
          </a:p>
        </p:txBody>
      </p:sp>
      <p:sp>
        <p:nvSpPr>
          <p:cNvPr id="17" name="Rounded Rectangle 16"/>
          <p:cNvSpPr/>
          <p:nvPr/>
        </p:nvSpPr>
        <p:spPr>
          <a:xfrm>
            <a:off x="6812280" y="2286000"/>
            <a:ext cx="4297680" cy="594360"/>
          </a:xfrm>
          <a:prstGeom prst="roundRect">
            <a:avLst>
              <a:gd name="adj" fmla="val 12000"/>
            </a:avLst>
          </a:prstGeom>
          <a:solidFill>
            <a:srgbClr val="FFFFFF"/>
          </a:solidFill>
          <a:ln w="15875">
            <a:solidFill>
              <a:srgbClr val="C9D6D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600" b="0" i="0">
                <a:solidFill>
                  <a:srgbClr val="0F2A33"/>
                </a:solidFill>
                <a:latin typeface="Calibri"/>
              </a:rPr>
              <a:t>Network</a:t>
            </a:r>
          </a:p>
        </p:txBody>
      </p:sp>
      <p:cxnSp>
        <p:nvCxnSpPr>
          <p:cNvPr id="18" name="Connector 17"/>
          <p:cNvCxnSpPr/>
          <p:nvPr/>
        </p:nvCxnSpPr>
        <p:spPr>
          <a:xfrm>
            <a:off x="8961120" y="2880360"/>
            <a:ext cx="0" cy="274320"/>
          </a:xfrm>
          <a:prstGeom prst="line">
            <a:avLst/>
          </a:prstGeom>
          <a:ln w="28575">
            <a:solidFill>
              <a:srgbClr val="1B4D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812280" y="3154680"/>
            <a:ext cx="4297680" cy="1417320"/>
          </a:xfrm>
          <a:prstGeom prst="roundRect">
            <a:avLst>
              <a:gd name="adj" fmla="val 12000"/>
            </a:avLst>
          </a:prstGeom>
          <a:solidFill>
            <a:srgbClr val="FFFFFF"/>
          </a:solidFill>
          <a:ln w="31750">
            <a:solidFill>
              <a:srgbClr val="1B998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600" b="1" i="0">
                <a:solidFill>
                  <a:srgbClr val="0F2A33"/>
                </a:solidFill>
                <a:latin typeface="Calibri"/>
              </a:rPr>
              <a:t>Network card + SNN guard</a:t>
            </a:r>
          </a:p>
          <a:p>
            <a:pPr algn="ctr"/>
            <a:r>
              <a:rPr sz="1600" b="0" i="0">
                <a:solidFill>
                  <a:srgbClr val="0F2A33"/>
                </a:solidFill>
                <a:latin typeface="Calibri"/>
              </a:rPr>
              <a:t>judges every frame in ~28 clock ticks</a:t>
            </a:r>
          </a:p>
          <a:p>
            <a:pPr algn="ctr"/>
            <a:r>
              <a:rPr sz="1600" b="0" i="0">
                <a:solidFill>
                  <a:srgbClr val="0F2A33"/>
                </a:solidFill>
                <a:latin typeface="Calibri"/>
              </a:rPr>
              <a:t>erases malicious frames</a:t>
            </a:r>
          </a:p>
        </p:txBody>
      </p:sp>
      <p:cxnSp>
        <p:nvCxnSpPr>
          <p:cNvPr id="20" name="Connector 19"/>
          <p:cNvCxnSpPr/>
          <p:nvPr/>
        </p:nvCxnSpPr>
        <p:spPr>
          <a:xfrm>
            <a:off x="8961120" y="4572000"/>
            <a:ext cx="0" cy="274320"/>
          </a:xfrm>
          <a:prstGeom prst="line">
            <a:avLst/>
          </a:prstGeom>
          <a:ln w="28575">
            <a:solidFill>
              <a:srgbClr val="1B4D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812280" y="4846320"/>
            <a:ext cx="4297680" cy="594360"/>
          </a:xfrm>
          <a:prstGeom prst="roundRect">
            <a:avLst>
              <a:gd name="adj" fmla="val 12000"/>
            </a:avLst>
          </a:prstGeom>
          <a:solidFill>
            <a:srgbClr val="FFFFFF"/>
          </a:solidFill>
          <a:ln w="15875">
            <a:solidFill>
              <a:srgbClr val="C9D6D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600" b="0" i="0">
                <a:solidFill>
                  <a:srgbClr val="0F2A33"/>
                </a:solidFill>
                <a:latin typeface="Calibri"/>
              </a:rPr>
              <a:t>Operating system: only benign frames</a:t>
            </a:r>
          </a:p>
        </p:txBody>
      </p:sp>
      <p:sp>
        <p:nvSpPr>
          <p:cNvPr id="22" name="TextBox 21"/>
          <p:cNvSpPr txBox="1"/>
          <p:nvPr/>
        </p:nvSpPr>
        <p:spPr>
          <a:xfrm>
            <a:off x="6537960" y="5715000"/>
            <a:ext cx="5029200" cy="365760"/>
          </a:xfrm>
          <a:prstGeom prst="rect">
            <a:avLst/>
          </a:prstGeom>
          <a:noFill/>
        </p:spPr>
        <p:txBody>
          <a:bodyPr wrap="square" anchor="t" lIns="45720" rIns="45720">
            <a:spAutoFit/>
          </a:bodyPr>
          <a:lstStyle/>
          <a:p>
            <a:pPr algn="l">
              <a:spcAft>
                <a:spcPts val="400"/>
              </a:spcAft>
            </a:pPr>
            <a:r>
              <a:rPr sz="1400" b="0" i="1">
                <a:solidFill>
                  <a:srgbClr val="1B998B"/>
                </a:solidFill>
                <a:latin typeface="Calibri"/>
              </a:rPr>
              <a:t>malicious frames never reach the 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2A33"/>
        </a:solidFill>
        <a:effectLst/>
      </p:bgPr>
    </p:bg>
    <p:spTree>
      <p:nvGrpSpPr>
        <p:cNvPr id="1" name=""/>
        <p:cNvGrpSpPr/>
        <p:nvPr/>
      </p:nvGrpSpPr>
      <p:grpSpPr/>
      <p:sp>
        <p:nvSpPr>
          <p:cNvPr id="2" name="TextBox 1"/>
          <p:cNvSpPr txBox="1"/>
          <p:nvPr/>
        </p:nvSpPr>
        <p:spPr>
          <a:xfrm>
            <a:off x="11002975" y="6400800"/>
            <a:ext cx="822960" cy="274320"/>
          </a:xfrm>
          <a:prstGeom prst="rect">
            <a:avLst/>
          </a:prstGeom>
          <a:noFill/>
        </p:spPr>
        <p:txBody>
          <a:bodyPr wrap="square" anchor="t" lIns="45720" rIns="45720">
            <a:spAutoFit/>
          </a:bodyPr>
          <a:lstStyle/>
          <a:p>
            <a:pPr algn="r">
              <a:spcAft>
                <a:spcPts val="400"/>
              </a:spcAft>
            </a:pPr>
            <a:r>
              <a:rPr sz="1100" b="0" i="0">
                <a:solidFill>
                  <a:srgbClr val="9FB3BA"/>
                </a:solidFill>
                <a:latin typeface="Calibri"/>
              </a:rPr>
              <a:t>4</a:t>
            </a:r>
          </a:p>
        </p:txBody>
      </p:sp>
      <p:sp>
        <p:nvSpPr>
          <p:cNvPr id="3" name="Oval 2"/>
          <p:cNvSpPr/>
          <p:nvPr/>
        </p:nvSpPr>
        <p:spPr>
          <a:xfrm>
            <a:off x="548640" y="2148840"/>
            <a:ext cx="914400" cy="9144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3400" b="1" i="0">
                <a:solidFill>
                  <a:srgbClr val="0F2A33"/>
                </a:solidFill>
                <a:latin typeface="Calibri"/>
              </a:rPr>
              <a:t>1</a:t>
            </a:r>
          </a:p>
        </p:txBody>
      </p:sp>
      <p:sp>
        <p:nvSpPr>
          <p:cNvPr id="4" name="TextBox 3"/>
          <p:cNvSpPr txBox="1"/>
          <p:nvPr/>
        </p:nvSpPr>
        <p:spPr>
          <a:xfrm>
            <a:off x="1737360" y="2057400"/>
            <a:ext cx="9601200" cy="1097280"/>
          </a:xfrm>
          <a:prstGeom prst="rect">
            <a:avLst/>
          </a:prstGeom>
          <a:noFill/>
        </p:spPr>
        <p:txBody>
          <a:bodyPr wrap="square" anchor="ctr" lIns="45720" rIns="45720">
            <a:spAutoFit/>
          </a:bodyPr>
          <a:lstStyle/>
          <a:p>
            <a:pPr algn="l">
              <a:spcAft>
                <a:spcPts val="400"/>
              </a:spcAft>
            </a:pPr>
            <a:r>
              <a:rPr sz="4000" b="1" i="0">
                <a:solidFill>
                  <a:srgbClr val="FFFFFF"/>
                </a:solidFill>
                <a:latin typeface="Cambria"/>
              </a:rPr>
              <a:t>What is a spiking neural network?</a:t>
            </a:r>
          </a:p>
        </p:txBody>
      </p:sp>
      <p:sp>
        <p:nvSpPr>
          <p:cNvPr id="5" name="TextBox 4"/>
          <p:cNvSpPr txBox="1"/>
          <p:nvPr/>
        </p:nvSpPr>
        <p:spPr>
          <a:xfrm>
            <a:off x="1737360" y="3200400"/>
            <a:ext cx="9144000" cy="1280160"/>
          </a:xfrm>
          <a:prstGeom prst="rect">
            <a:avLst/>
          </a:prstGeom>
          <a:noFill/>
        </p:spPr>
        <p:txBody>
          <a:bodyPr wrap="square" anchor="t" lIns="45720" rIns="45720">
            <a:spAutoFit/>
          </a:bodyPr>
          <a:lstStyle/>
          <a:p>
            <a:pPr algn="l">
              <a:spcAft>
                <a:spcPts val="400"/>
              </a:spcAft>
            </a:pPr>
            <a:r>
              <a:rPr sz="1800" b="0" i="0">
                <a:solidFill>
                  <a:srgbClr val="B9CBD0"/>
                </a:solidFill>
                <a:latin typeface="Calibri"/>
              </a:rPr>
              <a:t>Neurons, spikes, leaks and thresholds, and how an SNN differs from the neural networks you already know.</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02975" y="6400800"/>
            <a:ext cx="822960" cy="274320"/>
          </a:xfrm>
          <a:prstGeom prst="rect">
            <a:avLst/>
          </a:prstGeom>
          <a:noFill/>
        </p:spPr>
        <p:txBody>
          <a:bodyPr wrap="square" anchor="t" lIns="45720" rIns="45720">
            <a:spAutoFit/>
          </a:bodyPr>
          <a:lstStyle/>
          <a:p>
            <a:pPr algn="r">
              <a:spcAft>
                <a:spcPts val="400"/>
              </a:spcAft>
            </a:pPr>
            <a:r>
              <a:rPr sz="1100" b="0" i="0">
                <a:solidFill>
                  <a:srgbClr val="5F6F78"/>
                </a:solidFill>
                <a:latin typeface="Calibri"/>
              </a:rPr>
              <a:t>5</a:t>
            </a:r>
          </a:p>
        </p:txBody>
      </p:sp>
      <p:sp>
        <p:nvSpPr>
          <p:cNvPr id="3" name="TextBox 2"/>
          <p:cNvSpPr txBox="1"/>
          <p:nvPr/>
        </p:nvSpPr>
        <p:spPr>
          <a:xfrm>
            <a:off x="548640" y="6400800"/>
            <a:ext cx="7315200" cy="274320"/>
          </a:xfrm>
          <a:prstGeom prst="rect">
            <a:avLst/>
          </a:prstGeom>
          <a:noFill/>
        </p:spPr>
        <p:txBody>
          <a:bodyPr wrap="square" anchor="t" lIns="45720" rIns="45720">
            <a:spAutoFit/>
          </a:bodyPr>
          <a:lstStyle/>
          <a:p>
            <a:pPr algn="l">
              <a:spcAft>
                <a:spcPts val="400"/>
              </a:spcAft>
            </a:pPr>
            <a:r>
              <a:rPr sz="1100" b="0" i="0">
                <a:solidFill>
                  <a:srgbClr val="5F6F78"/>
                </a:solidFill>
                <a:latin typeface="Calibri"/>
              </a:rPr>
              <a:t>1  What is an SNN</a:t>
            </a:r>
          </a:p>
        </p:txBody>
      </p:sp>
      <p:sp>
        <p:nvSpPr>
          <p:cNvPr id="4" name="Title"/>
          <p:cNvSpPr txBox="1"/>
          <p:nvPr/>
        </p:nvSpPr>
        <p:spPr>
          <a:xfrm>
            <a:off x="548640" y="320040"/>
            <a:ext cx="11064240" cy="777240"/>
          </a:xfrm>
          <a:prstGeom prst="rect">
            <a:avLst/>
          </a:prstGeom>
          <a:noFill/>
        </p:spPr>
        <p:txBody>
          <a:bodyPr wrap="square" anchor="ctr" lIns="45720" rIns="45720">
            <a:spAutoFit/>
          </a:bodyPr>
          <a:lstStyle/>
          <a:p>
            <a:pPr algn="l">
              <a:spcAft>
                <a:spcPts val="400"/>
              </a:spcAft>
            </a:pPr>
            <a:r>
              <a:rPr sz="3400" b="1" i="0">
                <a:solidFill>
                  <a:srgbClr val="0F2A33"/>
                </a:solidFill>
                <a:latin typeface="Cambria"/>
              </a:rPr>
              <a:t>What is a neuron?</a:t>
            </a:r>
          </a:p>
        </p:txBody>
      </p:sp>
      <p:sp>
        <p:nvSpPr>
          <p:cNvPr id="5" name="Subtitle"/>
          <p:cNvSpPr txBox="1"/>
          <p:nvPr/>
        </p:nvSpPr>
        <p:spPr>
          <a:xfrm>
            <a:off x="548640" y="1051560"/>
            <a:ext cx="11064240" cy="411480"/>
          </a:xfrm>
          <a:prstGeom prst="rect">
            <a:avLst/>
          </a:prstGeom>
          <a:noFill/>
        </p:spPr>
        <p:txBody>
          <a:bodyPr wrap="square" anchor="t" lIns="45720" rIns="45720">
            <a:spAutoFit/>
          </a:bodyPr>
          <a:lstStyle/>
          <a:p>
            <a:pPr algn="l">
              <a:spcAft>
                <a:spcPts val="400"/>
              </a:spcAft>
            </a:pPr>
            <a:r>
              <a:rPr sz="1600" b="0" i="1">
                <a:solidFill>
                  <a:srgbClr val="5F6F78"/>
                </a:solidFill>
                <a:latin typeface="Calibri"/>
              </a:rPr>
              <a:t>The building block of every neural network</a:t>
            </a:r>
          </a:p>
        </p:txBody>
      </p:sp>
      <p:sp>
        <p:nvSpPr>
          <p:cNvPr id="6" name="Rounded Rectangle 5"/>
          <p:cNvSpPr/>
          <p:nvPr/>
        </p:nvSpPr>
        <p:spPr>
          <a:xfrm>
            <a:off x="548640" y="1828800"/>
            <a:ext cx="2377440" cy="73152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500" b="0" i="0">
                <a:solidFill>
                  <a:srgbClr val="0F2A33"/>
                </a:solidFill>
                <a:latin typeface="Calibri"/>
              </a:rPr>
              <a:t>is it TCP?</a:t>
            </a:r>
          </a:p>
        </p:txBody>
      </p:sp>
      <p:sp>
        <p:nvSpPr>
          <p:cNvPr id="7" name="Oval 6"/>
          <p:cNvSpPr/>
          <p:nvPr/>
        </p:nvSpPr>
        <p:spPr>
          <a:xfrm>
            <a:off x="3108960" y="1938528"/>
            <a:ext cx="512064" cy="512064"/>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600" b="1" i="0">
                <a:solidFill>
                  <a:srgbClr val="0F2A33"/>
                </a:solidFill>
                <a:latin typeface="Calibri"/>
              </a:rPr>
              <a:t>1</a:t>
            </a:r>
          </a:p>
        </p:txBody>
      </p:sp>
      <p:cxnSp>
        <p:nvCxnSpPr>
          <p:cNvPr id="8" name="Connector 7"/>
          <p:cNvCxnSpPr/>
          <p:nvPr/>
        </p:nvCxnSpPr>
        <p:spPr>
          <a:xfrm>
            <a:off x="3621024" y="2194560"/>
            <a:ext cx="1911096" cy="548640"/>
          </a:xfrm>
          <a:prstGeom prst="line">
            <a:avLst/>
          </a:prstGeom>
          <a:ln w="22225">
            <a:solidFill>
              <a:srgbClr val="5F6F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3749039" y="1627632"/>
            <a:ext cx="1280160" cy="320040"/>
          </a:xfrm>
          <a:prstGeom prst="rect">
            <a:avLst/>
          </a:prstGeom>
          <a:noFill/>
        </p:spPr>
        <p:txBody>
          <a:bodyPr wrap="square" anchor="t" lIns="45720" rIns="45720">
            <a:spAutoFit/>
          </a:bodyPr>
          <a:lstStyle/>
          <a:p>
            <a:pPr algn="l">
              <a:spcAft>
                <a:spcPts val="400"/>
              </a:spcAft>
            </a:pPr>
            <a:r>
              <a:rPr sz="1300" b="0" i="0">
                <a:solidFill>
                  <a:srgbClr val="5F6F78"/>
                </a:solidFill>
                <a:latin typeface="Calibri"/>
              </a:rPr>
              <a:t>weight +12</a:t>
            </a:r>
          </a:p>
        </p:txBody>
      </p:sp>
      <p:sp>
        <p:nvSpPr>
          <p:cNvPr id="10" name="Rounded Rectangle 9"/>
          <p:cNvSpPr/>
          <p:nvPr/>
        </p:nvSpPr>
        <p:spPr>
          <a:xfrm>
            <a:off x="548640" y="3063240"/>
            <a:ext cx="2377440" cy="73152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500" b="0" i="0">
                <a:solidFill>
                  <a:srgbClr val="0F2A33"/>
                </a:solidFill>
                <a:latin typeface="Calibri"/>
              </a:rPr>
              <a:t>SYN flag set?</a:t>
            </a:r>
          </a:p>
        </p:txBody>
      </p:sp>
      <p:sp>
        <p:nvSpPr>
          <p:cNvPr id="11" name="Oval 10"/>
          <p:cNvSpPr/>
          <p:nvPr/>
        </p:nvSpPr>
        <p:spPr>
          <a:xfrm>
            <a:off x="3108960" y="3172968"/>
            <a:ext cx="512064" cy="512064"/>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600" b="1" i="0">
                <a:solidFill>
                  <a:srgbClr val="0F2A33"/>
                </a:solidFill>
                <a:latin typeface="Calibri"/>
              </a:rPr>
              <a:t>1</a:t>
            </a:r>
          </a:p>
        </p:txBody>
      </p:sp>
      <p:cxnSp>
        <p:nvCxnSpPr>
          <p:cNvPr id="12" name="Connector 11"/>
          <p:cNvCxnSpPr/>
          <p:nvPr/>
        </p:nvCxnSpPr>
        <p:spPr>
          <a:xfrm flipV="1">
            <a:off x="3621024" y="3063240"/>
            <a:ext cx="1911096" cy="365760"/>
          </a:xfrm>
          <a:prstGeom prst="line">
            <a:avLst/>
          </a:prstGeom>
          <a:ln w="22225">
            <a:solidFill>
              <a:srgbClr val="5F6F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749039" y="2862072"/>
            <a:ext cx="1280160" cy="320040"/>
          </a:xfrm>
          <a:prstGeom prst="rect">
            <a:avLst/>
          </a:prstGeom>
          <a:noFill/>
        </p:spPr>
        <p:txBody>
          <a:bodyPr wrap="square" anchor="t" lIns="45720" rIns="45720">
            <a:spAutoFit/>
          </a:bodyPr>
          <a:lstStyle/>
          <a:p>
            <a:pPr algn="l">
              <a:spcAft>
                <a:spcPts val="400"/>
              </a:spcAft>
            </a:pPr>
            <a:r>
              <a:rPr sz="1300" b="0" i="0">
                <a:solidFill>
                  <a:srgbClr val="5F6F78"/>
                </a:solidFill>
                <a:latin typeface="Calibri"/>
              </a:rPr>
              <a:t>weight +40</a:t>
            </a:r>
          </a:p>
        </p:txBody>
      </p:sp>
      <p:sp>
        <p:nvSpPr>
          <p:cNvPr id="14" name="Rounded Rectangle 13"/>
          <p:cNvSpPr/>
          <p:nvPr/>
        </p:nvSpPr>
        <p:spPr>
          <a:xfrm>
            <a:off x="548640" y="4297680"/>
            <a:ext cx="2377440" cy="73152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500" b="0" i="0">
                <a:solidFill>
                  <a:srgbClr val="0F2A33"/>
                </a:solidFill>
                <a:latin typeface="Calibri"/>
              </a:rPr>
              <a:t>port 0?</a:t>
            </a:r>
          </a:p>
        </p:txBody>
      </p:sp>
      <p:sp>
        <p:nvSpPr>
          <p:cNvPr id="15" name="Oval 14"/>
          <p:cNvSpPr/>
          <p:nvPr/>
        </p:nvSpPr>
        <p:spPr>
          <a:xfrm>
            <a:off x="3108960" y="4407408"/>
            <a:ext cx="512064" cy="512064"/>
          </a:xfrm>
          <a:prstGeom prst="ellipse">
            <a:avLst/>
          </a:prstGeom>
          <a:solidFill>
            <a:srgbClr val="C9D6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600" b="1" i="0">
                <a:solidFill>
                  <a:srgbClr val="0F2A33"/>
                </a:solidFill>
                <a:latin typeface="Calibri"/>
              </a:rPr>
              <a:t>0</a:t>
            </a:r>
          </a:p>
        </p:txBody>
      </p:sp>
      <p:cxnSp>
        <p:nvCxnSpPr>
          <p:cNvPr id="16" name="Connector 15"/>
          <p:cNvCxnSpPr/>
          <p:nvPr/>
        </p:nvCxnSpPr>
        <p:spPr>
          <a:xfrm flipV="1">
            <a:off x="3621024" y="3383280"/>
            <a:ext cx="1911096" cy="1280160"/>
          </a:xfrm>
          <a:prstGeom prst="line">
            <a:avLst/>
          </a:prstGeom>
          <a:ln w="22225">
            <a:solidFill>
              <a:srgbClr val="5F6F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749039" y="4864608"/>
            <a:ext cx="1280160" cy="320040"/>
          </a:xfrm>
          <a:prstGeom prst="rect">
            <a:avLst/>
          </a:prstGeom>
          <a:noFill/>
        </p:spPr>
        <p:txBody>
          <a:bodyPr wrap="square" anchor="t" lIns="45720" rIns="45720">
            <a:spAutoFit/>
          </a:bodyPr>
          <a:lstStyle/>
          <a:p>
            <a:pPr algn="l">
              <a:spcAft>
                <a:spcPts val="400"/>
              </a:spcAft>
            </a:pPr>
            <a:r>
              <a:rPr sz="1300" b="0" i="0">
                <a:solidFill>
                  <a:srgbClr val="5F6F78"/>
                </a:solidFill>
                <a:latin typeface="Calibri"/>
              </a:rPr>
              <a:t>weight +90</a:t>
            </a:r>
          </a:p>
        </p:txBody>
      </p:sp>
      <p:sp>
        <p:nvSpPr>
          <p:cNvPr id="18" name="Oval 17"/>
          <p:cNvSpPr/>
          <p:nvPr/>
        </p:nvSpPr>
        <p:spPr>
          <a:xfrm>
            <a:off x="5577840" y="2286000"/>
            <a:ext cx="1737360" cy="1737360"/>
          </a:xfrm>
          <a:prstGeom prst="ellipse">
            <a:avLst/>
          </a:prstGeom>
          <a:solidFill>
            <a:srgbClr val="7A5C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3000" b="1" i="0">
                <a:solidFill>
                  <a:srgbClr val="FFFFFF"/>
                </a:solidFill>
                <a:latin typeface="Calibri"/>
              </a:rPr>
              <a:t>Σ</a:t>
            </a:r>
          </a:p>
          <a:p>
            <a:pPr algn="ctr"/>
            <a:r>
              <a:rPr sz="1500" b="0" i="0">
                <a:solidFill>
                  <a:srgbClr val="FFFFFF"/>
                </a:solidFill>
                <a:latin typeface="Calibri"/>
              </a:rPr>
              <a:t>add up</a:t>
            </a:r>
          </a:p>
        </p:txBody>
      </p:sp>
      <p:cxnSp>
        <p:nvCxnSpPr>
          <p:cNvPr id="19" name="Connector 18"/>
          <p:cNvCxnSpPr/>
          <p:nvPr/>
        </p:nvCxnSpPr>
        <p:spPr>
          <a:xfrm>
            <a:off x="7315200" y="3154680"/>
            <a:ext cx="822960" cy="0"/>
          </a:xfrm>
          <a:prstGeom prst="line">
            <a:avLst/>
          </a:prstGeom>
          <a:ln w="28575">
            <a:solidFill>
              <a:srgbClr val="1B4D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138160" y="2651760"/>
            <a:ext cx="1554480" cy="1005840"/>
          </a:xfrm>
          <a:prstGeom prst="roundRect">
            <a:avLst>
              <a:gd name="adj" fmla="val 12000"/>
            </a:avLst>
          </a:prstGeom>
          <a:solidFill>
            <a:srgbClr val="FFFFFF"/>
          </a:solidFill>
          <a:ln w="25400">
            <a:solidFill>
              <a:srgbClr val="7A5C9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500" b="0" i="0">
                <a:solidFill>
                  <a:srgbClr val="0F2A33"/>
                </a:solidFill>
                <a:latin typeface="Calibri"/>
              </a:rPr>
              <a:t>over the</a:t>
            </a:r>
          </a:p>
          <a:p>
            <a:pPr algn="ctr"/>
            <a:r>
              <a:rPr sz="1500" b="0" i="0">
                <a:solidFill>
                  <a:srgbClr val="0F2A33"/>
                </a:solidFill>
                <a:latin typeface="Calibri"/>
              </a:rPr>
              <a:t>threshold?</a:t>
            </a:r>
          </a:p>
        </p:txBody>
      </p:sp>
      <p:cxnSp>
        <p:nvCxnSpPr>
          <p:cNvPr id="21" name="Connector 20"/>
          <p:cNvCxnSpPr/>
          <p:nvPr/>
        </p:nvCxnSpPr>
        <p:spPr>
          <a:xfrm>
            <a:off x="9692640" y="3154680"/>
            <a:ext cx="640080" cy="0"/>
          </a:xfrm>
          <a:prstGeom prst="line">
            <a:avLst/>
          </a:prstGeom>
          <a:ln w="28575">
            <a:solidFill>
              <a:srgbClr val="1B4D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10332720" y="2651760"/>
            <a:ext cx="1371600" cy="1005840"/>
          </a:xfrm>
          <a:prstGeom prst="roundRect">
            <a:avLst>
              <a:gd name="adj" fmla="val 12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500" b="1" i="0">
                <a:solidFill>
                  <a:srgbClr val="0F2A33"/>
                </a:solidFill>
                <a:latin typeface="Calibri"/>
              </a:rPr>
              <a:t>fire</a:t>
            </a:r>
          </a:p>
          <a:p>
            <a:pPr algn="ctr"/>
            <a:r>
              <a:rPr sz="1500" b="0" i="0">
                <a:solidFill>
                  <a:srgbClr val="0F2A33"/>
                </a:solidFill>
                <a:latin typeface="Calibri"/>
              </a:rPr>
              <a:t>(output 1)</a:t>
            </a:r>
          </a:p>
        </p:txBody>
      </p:sp>
      <p:sp>
        <p:nvSpPr>
          <p:cNvPr id="23" name="TextBox 22"/>
          <p:cNvSpPr txBox="1"/>
          <p:nvPr/>
        </p:nvSpPr>
        <p:spPr>
          <a:xfrm>
            <a:off x="548640" y="5486400"/>
            <a:ext cx="11155680" cy="822960"/>
          </a:xfrm>
          <a:prstGeom prst="rect">
            <a:avLst/>
          </a:prstGeom>
          <a:noFill/>
        </p:spPr>
        <p:txBody>
          <a:bodyPr wrap="square" lIns="45720" rIns="45720">
            <a:spAutoFit/>
          </a:bodyPr>
          <a:lstStyle/>
          <a:p>
            <a:pPr algn="l" marL="274320" indent="-219456">
              <a:spcAft>
                <a:spcPts val="800"/>
              </a:spcAft>
              <a:buClr>
                <a:srgbClr val="F2A541"/>
              </a:buClr>
              <a:buChar char="•"/>
            </a:pPr>
            <a:r>
              <a:rPr sz="1500" b="1" i="0">
                <a:solidFill>
                  <a:srgbClr val="0F2A33"/>
                </a:solidFill>
                <a:latin typeface="Calibri"/>
              </a:rPr>
              <a:t>Inputs × weights, summed, compared with a threshold. </a:t>
            </a:r>
            <a:r>
              <a:rPr sz="1500" b="0" i="0">
                <a:solidFill>
                  <a:srgbClr val="0F2A33"/>
                </a:solidFill>
                <a:latin typeface="Calibri"/>
              </a:rPr>
              <a:t>The weights are the only thing training learns: positive weights push towards firing, negative weights hold it back.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02975" y="6400800"/>
            <a:ext cx="822960" cy="274320"/>
          </a:xfrm>
          <a:prstGeom prst="rect">
            <a:avLst/>
          </a:prstGeom>
          <a:noFill/>
        </p:spPr>
        <p:txBody>
          <a:bodyPr wrap="square" anchor="t" lIns="45720" rIns="45720">
            <a:spAutoFit/>
          </a:bodyPr>
          <a:lstStyle/>
          <a:p>
            <a:pPr algn="r">
              <a:spcAft>
                <a:spcPts val="400"/>
              </a:spcAft>
            </a:pPr>
            <a:r>
              <a:rPr sz="1100" b="0" i="0">
                <a:solidFill>
                  <a:srgbClr val="5F6F78"/>
                </a:solidFill>
                <a:latin typeface="Calibri"/>
              </a:rPr>
              <a:t>6</a:t>
            </a:r>
          </a:p>
        </p:txBody>
      </p:sp>
      <p:sp>
        <p:nvSpPr>
          <p:cNvPr id="3" name="TextBox 2"/>
          <p:cNvSpPr txBox="1"/>
          <p:nvPr/>
        </p:nvSpPr>
        <p:spPr>
          <a:xfrm>
            <a:off x="548640" y="6400800"/>
            <a:ext cx="7315200" cy="274320"/>
          </a:xfrm>
          <a:prstGeom prst="rect">
            <a:avLst/>
          </a:prstGeom>
          <a:noFill/>
        </p:spPr>
        <p:txBody>
          <a:bodyPr wrap="square" anchor="t" lIns="45720" rIns="45720">
            <a:spAutoFit/>
          </a:bodyPr>
          <a:lstStyle/>
          <a:p>
            <a:pPr algn="l">
              <a:spcAft>
                <a:spcPts val="400"/>
              </a:spcAft>
            </a:pPr>
            <a:r>
              <a:rPr sz="1100" b="0" i="0">
                <a:solidFill>
                  <a:srgbClr val="5F6F78"/>
                </a:solidFill>
                <a:latin typeface="Calibri"/>
              </a:rPr>
              <a:t>1  What is an SNN</a:t>
            </a:r>
          </a:p>
        </p:txBody>
      </p:sp>
      <p:sp>
        <p:nvSpPr>
          <p:cNvPr id="4" name="Title"/>
          <p:cNvSpPr txBox="1"/>
          <p:nvPr/>
        </p:nvSpPr>
        <p:spPr>
          <a:xfrm>
            <a:off x="548640" y="320040"/>
            <a:ext cx="11064240" cy="777240"/>
          </a:xfrm>
          <a:prstGeom prst="rect">
            <a:avLst/>
          </a:prstGeom>
          <a:noFill/>
        </p:spPr>
        <p:txBody>
          <a:bodyPr wrap="square" anchor="ctr" lIns="45720" rIns="45720">
            <a:spAutoFit/>
          </a:bodyPr>
          <a:lstStyle/>
          <a:p>
            <a:pPr algn="l">
              <a:spcAft>
                <a:spcPts val="400"/>
              </a:spcAft>
            </a:pPr>
            <a:r>
              <a:rPr sz="3400" b="1" i="0">
                <a:solidFill>
                  <a:srgbClr val="0F2A33"/>
                </a:solidFill>
                <a:latin typeface="Cambria"/>
              </a:rPr>
              <a:t>Normal neuron vs spiking neuron</a:t>
            </a:r>
          </a:p>
        </p:txBody>
      </p:sp>
      <p:sp>
        <p:nvSpPr>
          <p:cNvPr id="5" name="Rounded Rectangle 4"/>
          <p:cNvSpPr/>
          <p:nvPr/>
        </p:nvSpPr>
        <p:spPr>
          <a:xfrm>
            <a:off x="548640" y="1463040"/>
            <a:ext cx="5394960" cy="452628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6" name="TextBox 5"/>
          <p:cNvSpPr txBox="1"/>
          <p:nvPr/>
        </p:nvSpPr>
        <p:spPr>
          <a:xfrm>
            <a:off x="822959" y="1645920"/>
            <a:ext cx="4937760" cy="457200"/>
          </a:xfrm>
          <a:prstGeom prst="rect">
            <a:avLst/>
          </a:prstGeom>
          <a:noFill/>
        </p:spPr>
        <p:txBody>
          <a:bodyPr wrap="square" anchor="t" lIns="45720" rIns="45720">
            <a:spAutoFit/>
          </a:bodyPr>
          <a:lstStyle/>
          <a:p>
            <a:pPr algn="l">
              <a:spcAft>
                <a:spcPts val="400"/>
              </a:spcAft>
            </a:pPr>
            <a:r>
              <a:rPr sz="2100" b="1" i="0">
                <a:solidFill>
                  <a:srgbClr val="2E86AB"/>
                </a:solidFill>
                <a:latin typeface="Cambria"/>
              </a:rPr>
              <a:t>Normal (ANN / CNN) neuron</a:t>
            </a:r>
          </a:p>
        </p:txBody>
      </p:sp>
      <p:sp>
        <p:nvSpPr>
          <p:cNvPr id="7" name="Rounded Rectangle 6"/>
          <p:cNvSpPr/>
          <p:nvPr/>
        </p:nvSpPr>
        <p:spPr>
          <a:xfrm>
            <a:off x="822959" y="2240280"/>
            <a:ext cx="4846320" cy="731520"/>
          </a:xfrm>
          <a:prstGeom prst="roundRect">
            <a:avLst>
              <a:gd name="adj" fmla="val 12000"/>
            </a:avLst>
          </a:prstGeom>
          <a:solidFill>
            <a:srgbClr val="FFFFFF"/>
          </a:solidFill>
          <a:ln w="25400">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800" b="0" i="0">
                <a:solidFill>
                  <a:srgbClr val="0F2A33"/>
                </a:solidFill>
                <a:latin typeface="Cambria"/>
              </a:rPr>
              <a:t>y = f( Σ wᵢ·xᵢ + b )</a:t>
            </a:r>
          </a:p>
        </p:txBody>
      </p:sp>
      <p:sp>
        <p:nvSpPr>
          <p:cNvPr id="8" name="TextBox 7"/>
          <p:cNvSpPr txBox="1"/>
          <p:nvPr/>
        </p:nvSpPr>
        <p:spPr>
          <a:xfrm>
            <a:off x="822959" y="3200400"/>
            <a:ext cx="4937760" cy="2651760"/>
          </a:xfrm>
          <a:prstGeom prst="rect">
            <a:avLst/>
          </a:prstGeom>
          <a:noFill/>
        </p:spPr>
        <p:txBody>
          <a:bodyPr wrap="square" lIns="45720" rIns="45720">
            <a:spAutoFit/>
          </a:bodyPr>
          <a:lstStyle/>
          <a:p>
            <a:pPr algn="l" marL="274320" indent="-219456">
              <a:spcAft>
                <a:spcPts val="800"/>
              </a:spcAft>
              <a:buClr>
                <a:srgbClr val="F2A541"/>
              </a:buClr>
              <a:buChar char="•"/>
            </a:pPr>
            <a:r>
              <a:rPr sz="1600" b="0" i="0">
                <a:solidFill>
                  <a:srgbClr val="0F2A33"/>
                </a:solidFill>
                <a:latin typeface="Calibri"/>
              </a:rPr>
              <a:t>Computes once per input</a:t>
            </a:r>
          </a:p>
          <a:p>
            <a:pPr algn="l" marL="274320" indent="-219456">
              <a:spcAft>
                <a:spcPts val="800"/>
              </a:spcAft>
              <a:buClr>
                <a:srgbClr val="F2A541"/>
              </a:buClr>
              <a:buChar char="•"/>
            </a:pPr>
            <a:r>
              <a:rPr sz="1600" b="0" i="0">
                <a:solidFill>
                  <a:srgbClr val="0F2A33"/>
                </a:solidFill>
                <a:latin typeface="Calibri"/>
              </a:rPr>
              <a:t>Output is a number (e.g. 0.73)</a:t>
            </a:r>
          </a:p>
          <a:p>
            <a:pPr algn="l" marL="274320" indent="-219456">
              <a:spcAft>
                <a:spcPts val="800"/>
              </a:spcAft>
              <a:buClr>
                <a:srgbClr val="F2A541"/>
              </a:buClr>
              <a:buChar char="•"/>
            </a:pPr>
            <a:r>
              <a:rPr sz="1600" b="0" i="0">
                <a:solidFill>
                  <a:srgbClr val="0F2A33"/>
                </a:solidFill>
                <a:latin typeface="Calibri"/>
              </a:rPr>
              <a:t>Needs multiplications (input × weight)</a:t>
            </a:r>
          </a:p>
          <a:p>
            <a:pPr algn="l" marL="274320" indent="-219456">
              <a:spcAft>
                <a:spcPts val="800"/>
              </a:spcAft>
              <a:buClr>
                <a:srgbClr val="F2A541"/>
              </a:buClr>
              <a:buChar char="•"/>
            </a:pPr>
            <a:r>
              <a:rPr sz="1600" b="0" i="0">
                <a:solidFill>
                  <a:srgbClr val="0F2A33"/>
                </a:solidFill>
                <a:latin typeface="Calibri"/>
              </a:rPr>
              <a:t>No memory between inputs</a:t>
            </a:r>
          </a:p>
        </p:txBody>
      </p:sp>
      <p:sp>
        <p:nvSpPr>
          <p:cNvPr id="9" name="Rounded Rectangle 8"/>
          <p:cNvSpPr/>
          <p:nvPr/>
        </p:nvSpPr>
        <p:spPr>
          <a:xfrm>
            <a:off x="6263640" y="1463040"/>
            <a:ext cx="5394960" cy="452628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0" name="TextBox 9"/>
          <p:cNvSpPr txBox="1"/>
          <p:nvPr/>
        </p:nvSpPr>
        <p:spPr>
          <a:xfrm>
            <a:off x="6537959" y="1645920"/>
            <a:ext cx="4937760" cy="457200"/>
          </a:xfrm>
          <a:prstGeom prst="rect">
            <a:avLst/>
          </a:prstGeom>
          <a:noFill/>
        </p:spPr>
        <p:txBody>
          <a:bodyPr wrap="square" anchor="t" lIns="45720" rIns="45720">
            <a:spAutoFit/>
          </a:bodyPr>
          <a:lstStyle/>
          <a:p>
            <a:pPr algn="l">
              <a:spcAft>
                <a:spcPts val="400"/>
              </a:spcAft>
            </a:pPr>
            <a:r>
              <a:rPr sz="2100" b="1" i="0">
                <a:solidFill>
                  <a:srgbClr val="B5761A"/>
                </a:solidFill>
                <a:latin typeface="Cambria"/>
              </a:rPr>
              <a:t>Spiking (SNN) neuron: ours</a:t>
            </a:r>
          </a:p>
        </p:txBody>
      </p:sp>
      <p:sp>
        <p:nvSpPr>
          <p:cNvPr id="11" name="Rounded Rectangle 10"/>
          <p:cNvSpPr/>
          <p:nvPr/>
        </p:nvSpPr>
        <p:spPr>
          <a:xfrm>
            <a:off x="6537959" y="2240280"/>
            <a:ext cx="4846320" cy="731520"/>
          </a:xfrm>
          <a:prstGeom prst="roundRect">
            <a:avLst>
              <a:gd name="adj" fmla="val 12000"/>
            </a:avLst>
          </a:prstGeom>
          <a:solidFill>
            <a:srgbClr val="FFFFFF"/>
          </a:solidFill>
          <a:ln w="25400">
            <a:solidFill>
              <a:srgbClr val="F2A54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800" b="0" i="0">
                <a:solidFill>
                  <a:srgbClr val="0F2A33"/>
                </a:solidFill>
                <a:latin typeface="Cambria"/>
              </a:rPr>
              <a:t>v ← v − v/4 + I   ·   spike if v ≥ θ, then v ← 0</a:t>
            </a:r>
          </a:p>
        </p:txBody>
      </p:sp>
      <p:sp>
        <p:nvSpPr>
          <p:cNvPr id="12" name="TextBox 11"/>
          <p:cNvSpPr txBox="1"/>
          <p:nvPr/>
        </p:nvSpPr>
        <p:spPr>
          <a:xfrm>
            <a:off x="6537959" y="3200400"/>
            <a:ext cx="4937760" cy="2651760"/>
          </a:xfrm>
          <a:prstGeom prst="rect">
            <a:avLst/>
          </a:prstGeom>
          <a:noFill/>
        </p:spPr>
        <p:txBody>
          <a:bodyPr wrap="square" lIns="45720" rIns="45720">
            <a:spAutoFit/>
          </a:bodyPr>
          <a:lstStyle/>
          <a:p>
            <a:pPr algn="l" marL="274320" indent="-219456">
              <a:spcAft>
                <a:spcPts val="800"/>
              </a:spcAft>
              <a:buClr>
                <a:srgbClr val="F2A541"/>
              </a:buClr>
              <a:buChar char="•"/>
            </a:pPr>
            <a:r>
              <a:rPr sz="1600" b="0" i="0">
                <a:solidFill>
                  <a:srgbClr val="0F2A33"/>
                </a:solidFill>
                <a:latin typeface="Calibri"/>
              </a:rPr>
              <a:t>Runs for several time steps (we use 8)</a:t>
            </a:r>
          </a:p>
          <a:p>
            <a:pPr algn="l" marL="274320" indent="-219456">
              <a:spcAft>
                <a:spcPts val="800"/>
              </a:spcAft>
              <a:buClr>
                <a:srgbClr val="F2A541"/>
              </a:buClr>
              <a:buChar char="•"/>
            </a:pPr>
            <a:r>
              <a:rPr sz="1600" b="0" i="0">
                <a:solidFill>
                  <a:srgbClr val="0F2A33"/>
                </a:solidFill>
                <a:latin typeface="Calibri"/>
              </a:rPr>
              <a:t>Output is a spike: 1 or 0 at each step</a:t>
            </a:r>
          </a:p>
          <a:p>
            <a:pPr algn="l" marL="274320" indent="-219456">
              <a:spcAft>
                <a:spcPts val="800"/>
              </a:spcAft>
              <a:buClr>
                <a:srgbClr val="F2A541"/>
              </a:buClr>
              <a:buChar char="•"/>
            </a:pPr>
            <a:r>
              <a:rPr sz="1600" b="0" i="0">
                <a:solidFill>
                  <a:srgbClr val="0F2A33"/>
                </a:solidFill>
                <a:latin typeface="Calibri"/>
              </a:rPr>
              <a:t>Inputs are spikes, so input × weight = add or skip</a:t>
            </a:r>
          </a:p>
          <a:p>
            <a:pPr algn="l" marL="274320" indent="-219456">
              <a:spcAft>
                <a:spcPts val="800"/>
              </a:spcAft>
              <a:buClr>
                <a:srgbClr val="F2A541"/>
              </a:buClr>
              <a:buChar char="•"/>
            </a:pPr>
            <a:r>
              <a:rPr sz="1600" b="0" i="0">
                <a:solidFill>
                  <a:srgbClr val="0F2A33"/>
                </a:solidFill>
                <a:latin typeface="Calibri"/>
              </a:rPr>
              <a:t>Keeps a charge (membrane) between steps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02975" y="6400800"/>
            <a:ext cx="822960" cy="274320"/>
          </a:xfrm>
          <a:prstGeom prst="rect">
            <a:avLst/>
          </a:prstGeom>
          <a:noFill/>
        </p:spPr>
        <p:txBody>
          <a:bodyPr wrap="square" anchor="t" lIns="45720" rIns="45720">
            <a:spAutoFit/>
          </a:bodyPr>
          <a:lstStyle/>
          <a:p>
            <a:pPr algn="r">
              <a:spcAft>
                <a:spcPts val="400"/>
              </a:spcAft>
            </a:pPr>
            <a:r>
              <a:rPr sz="1100" b="0" i="0">
                <a:solidFill>
                  <a:srgbClr val="5F6F78"/>
                </a:solidFill>
                <a:latin typeface="Calibri"/>
              </a:rPr>
              <a:t>7</a:t>
            </a:r>
          </a:p>
        </p:txBody>
      </p:sp>
      <p:sp>
        <p:nvSpPr>
          <p:cNvPr id="3" name="TextBox 2"/>
          <p:cNvSpPr txBox="1"/>
          <p:nvPr/>
        </p:nvSpPr>
        <p:spPr>
          <a:xfrm>
            <a:off x="548640" y="6400800"/>
            <a:ext cx="7315200" cy="274320"/>
          </a:xfrm>
          <a:prstGeom prst="rect">
            <a:avLst/>
          </a:prstGeom>
          <a:noFill/>
        </p:spPr>
        <p:txBody>
          <a:bodyPr wrap="square" anchor="t" lIns="45720" rIns="45720">
            <a:spAutoFit/>
          </a:bodyPr>
          <a:lstStyle/>
          <a:p>
            <a:pPr algn="l">
              <a:spcAft>
                <a:spcPts val="400"/>
              </a:spcAft>
            </a:pPr>
            <a:r>
              <a:rPr sz="1100" b="0" i="0">
                <a:solidFill>
                  <a:srgbClr val="5F6F78"/>
                </a:solidFill>
                <a:latin typeface="Calibri"/>
              </a:rPr>
              <a:t>1  What is an SNN</a:t>
            </a:r>
          </a:p>
        </p:txBody>
      </p:sp>
      <p:sp>
        <p:nvSpPr>
          <p:cNvPr id="4" name="Title"/>
          <p:cNvSpPr txBox="1"/>
          <p:nvPr/>
        </p:nvSpPr>
        <p:spPr>
          <a:xfrm>
            <a:off x="548640" y="320040"/>
            <a:ext cx="11064240" cy="777240"/>
          </a:xfrm>
          <a:prstGeom prst="rect">
            <a:avLst/>
          </a:prstGeom>
          <a:noFill/>
        </p:spPr>
        <p:txBody>
          <a:bodyPr wrap="square" anchor="ctr" lIns="45720" rIns="45720">
            <a:spAutoFit/>
          </a:bodyPr>
          <a:lstStyle/>
          <a:p>
            <a:pPr algn="l">
              <a:spcAft>
                <a:spcPts val="400"/>
              </a:spcAft>
            </a:pPr>
            <a:r>
              <a:rPr sz="3400" b="1" i="0">
                <a:solidFill>
                  <a:srgbClr val="0F2A33"/>
                </a:solidFill>
                <a:latin typeface="Cambria"/>
              </a:rPr>
              <a:t>A spiking neuron over time: the leaky bucket</a:t>
            </a:r>
          </a:p>
        </p:txBody>
      </p:sp>
      <p:sp>
        <p:nvSpPr>
          <p:cNvPr id="5" name="Subtitle"/>
          <p:cNvSpPr txBox="1"/>
          <p:nvPr/>
        </p:nvSpPr>
        <p:spPr>
          <a:xfrm>
            <a:off x="548640" y="1051560"/>
            <a:ext cx="11064240" cy="411480"/>
          </a:xfrm>
          <a:prstGeom prst="rect">
            <a:avLst/>
          </a:prstGeom>
          <a:noFill/>
        </p:spPr>
        <p:txBody>
          <a:bodyPr wrap="square" anchor="t" lIns="45720" rIns="45720">
            <a:spAutoFit/>
          </a:bodyPr>
          <a:lstStyle/>
          <a:p>
            <a:pPr algn="l">
              <a:spcAft>
                <a:spcPts val="400"/>
              </a:spcAft>
            </a:pPr>
            <a:r>
              <a:rPr sz="1600" b="0" i="1">
                <a:solidFill>
                  <a:srgbClr val="5F6F78"/>
                </a:solidFill>
                <a:latin typeface="Calibri"/>
              </a:rPr>
              <a:t>Leaky integrate-and-fire (LIF), the neuron model our hardware uses</a:t>
            </a:r>
          </a:p>
        </p:txBody>
      </p:sp>
      <p:graphicFrame>
        <p:nvGraphicFramePr>
          <p:cNvPr id="6" name="Chart 5"/>
          <p:cNvGraphicFramePr>
            <a:graphicFrameLocks noGrp="1"/>
          </p:cNvGraphicFramePr>
          <p:nvPr/>
        </p:nvGraphicFramePr>
        <p:xfrm>
          <a:off x="548640" y="1600200"/>
          <a:ext cx="6949440" cy="4480560"/>
        </p:xfrm>
        <a:graphic>
          <a:graphicData uri="http://schemas.openxmlformats.org/drawingml/2006/chart">
            <c:chart xmlns:c="http://schemas.openxmlformats.org/drawingml/2006/chart" r:id="rId3"/>
          </a:graphicData>
        </a:graphic>
      </p:graphicFrame>
      <p:sp>
        <p:nvSpPr>
          <p:cNvPr id="7" name="Rounded Rectangle 6"/>
          <p:cNvSpPr/>
          <p:nvPr/>
        </p:nvSpPr>
        <p:spPr>
          <a:xfrm>
            <a:off x="7863840" y="1600200"/>
            <a:ext cx="3794760" cy="448056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 name="TextBox 7"/>
          <p:cNvSpPr txBox="1"/>
          <p:nvPr/>
        </p:nvSpPr>
        <p:spPr>
          <a:xfrm>
            <a:off x="8092440" y="1783080"/>
            <a:ext cx="3383280" cy="502920"/>
          </a:xfrm>
          <a:prstGeom prst="rect">
            <a:avLst/>
          </a:prstGeom>
          <a:noFill/>
        </p:spPr>
        <p:txBody>
          <a:bodyPr wrap="square" anchor="ctr" lIns="45720" rIns="45720">
            <a:spAutoFit/>
          </a:bodyPr>
          <a:lstStyle/>
          <a:p>
            <a:pPr algn="l">
              <a:spcAft>
                <a:spcPts val="400"/>
              </a:spcAft>
            </a:pPr>
            <a:r>
              <a:rPr sz="1700" b="1" i="0">
                <a:solidFill>
                  <a:srgbClr val="0F2A33"/>
                </a:solidFill>
                <a:latin typeface="Calibri"/>
              </a:rPr>
              <a:t>Each time step</a:t>
            </a:r>
          </a:p>
        </p:txBody>
      </p:sp>
      <p:sp>
        <p:nvSpPr>
          <p:cNvPr id="9" name="TextBox 8"/>
          <p:cNvSpPr txBox="1"/>
          <p:nvPr/>
        </p:nvSpPr>
        <p:spPr>
          <a:xfrm>
            <a:off x="8092440" y="2377440"/>
            <a:ext cx="3383280" cy="3566160"/>
          </a:xfrm>
          <a:prstGeom prst="rect">
            <a:avLst/>
          </a:prstGeom>
          <a:noFill/>
        </p:spPr>
        <p:txBody>
          <a:bodyPr wrap="square" anchor="t" lIns="45720" rIns="45720">
            <a:spAutoFit/>
          </a:bodyPr>
          <a:lstStyle/>
          <a:p>
            <a:pPr algn="l">
              <a:spcAft>
                <a:spcPts val="400"/>
              </a:spcAft>
            </a:pPr>
            <a:r>
              <a:rPr sz="1500" b="1" i="0">
                <a:solidFill>
                  <a:srgbClr val="0F2A33"/>
                </a:solidFill>
                <a:latin typeface="Calibri"/>
              </a:rPr>
              <a:t>1  leak: </a:t>
            </a:r>
            <a:r>
              <a:rPr sz="1500" b="0" i="0">
                <a:solidFill>
                  <a:srgbClr val="0F2A33"/>
                </a:solidFill>
                <a:latin typeface="Calibri"/>
              </a:rPr>
              <a:t>lose a quarter of the charge</a:t>
            </a:r>
          </a:p>
          <a:p>
            <a:pPr algn="l">
              <a:spcAft>
                <a:spcPts val="400"/>
              </a:spcAft>
            </a:pPr>
            <a:r>
              <a:rPr sz="1500" b="1" i="0">
                <a:solidFill>
                  <a:srgbClr val="0F2A33"/>
                </a:solidFill>
                <a:latin typeface="Calibri"/>
              </a:rPr>
              <a:t>2  integrate: </a:t>
            </a:r>
            <a:r>
              <a:rPr sz="1500" b="0" i="0">
                <a:solidFill>
                  <a:srgbClr val="0F2A33"/>
                </a:solidFill>
                <a:latin typeface="Calibri"/>
              </a:rPr>
              <a:t>add the input current I (here 100)</a:t>
            </a:r>
          </a:p>
          <a:p>
            <a:pPr algn="l">
              <a:spcAft>
                <a:spcPts val="400"/>
              </a:spcAft>
            </a:pPr>
            <a:r>
              <a:rPr sz="1500" b="1" i="0">
                <a:solidFill>
                  <a:srgbClr val="0F2A33"/>
                </a:solidFill>
                <a:latin typeface="Calibri"/>
              </a:rPr>
              <a:t>3  fire: </a:t>
            </a:r>
            <a:r>
              <a:rPr sz="1500" b="0" i="0">
                <a:solidFill>
                  <a:srgbClr val="0F2A33"/>
                </a:solidFill>
                <a:latin typeface="Calibri"/>
              </a:rPr>
              <a:t>if v ≥ 256, send a spike and reset to 0</a:t>
            </a:r>
          </a:p>
          <a:p>
            <a:pPr algn="l">
              <a:spcAft>
                <a:spcPts val="400"/>
              </a:spcAft>
            </a:pPr>
            <a:r>
              <a:rPr sz="1500" b="0" i="0">
                <a:solidFill>
                  <a:srgbClr val="0F2A33"/>
                </a:solidFill>
                <a:latin typeface="Calibri"/>
              </a:rPr>
              <a:t/>
            </a:r>
          </a:p>
          <a:p>
            <a:pPr algn="l">
              <a:spcAft>
                <a:spcPts val="400"/>
              </a:spcAft>
            </a:pPr>
            <a:r>
              <a:rPr sz="1500" b="1" i="0">
                <a:solidFill>
                  <a:srgbClr val="B5761A"/>
                </a:solidFill>
                <a:latin typeface="Calibri"/>
              </a:rPr>
              <a:t>Result here: spikes at t4 and t8.</a:t>
            </a:r>
          </a:p>
          <a:p>
            <a:pPr algn="l">
              <a:spcAft>
                <a:spcPts val="400"/>
              </a:spcAft>
            </a:pPr>
            <a:r>
              <a:rPr sz="1500" b="0" i="0">
                <a:solidFill>
                  <a:srgbClr val="0F2A33"/>
                </a:solidFill>
                <a:latin typeface="Calibri"/>
              </a:rPr>
              <a:t>A stronger input fires more often; the number of spikes carries the information.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02975" y="6400800"/>
            <a:ext cx="822960" cy="274320"/>
          </a:xfrm>
          <a:prstGeom prst="rect">
            <a:avLst/>
          </a:prstGeom>
          <a:noFill/>
        </p:spPr>
        <p:txBody>
          <a:bodyPr wrap="square" anchor="t" lIns="45720" rIns="45720">
            <a:spAutoFit/>
          </a:bodyPr>
          <a:lstStyle/>
          <a:p>
            <a:pPr algn="r">
              <a:spcAft>
                <a:spcPts val="400"/>
              </a:spcAft>
            </a:pPr>
            <a:r>
              <a:rPr sz="1100" b="0" i="0">
                <a:solidFill>
                  <a:srgbClr val="5F6F78"/>
                </a:solidFill>
                <a:latin typeface="Calibri"/>
              </a:rPr>
              <a:t>8</a:t>
            </a:r>
          </a:p>
        </p:txBody>
      </p:sp>
      <p:sp>
        <p:nvSpPr>
          <p:cNvPr id="3" name="TextBox 2"/>
          <p:cNvSpPr txBox="1"/>
          <p:nvPr/>
        </p:nvSpPr>
        <p:spPr>
          <a:xfrm>
            <a:off x="548640" y="6400800"/>
            <a:ext cx="7315200" cy="274320"/>
          </a:xfrm>
          <a:prstGeom prst="rect">
            <a:avLst/>
          </a:prstGeom>
          <a:noFill/>
        </p:spPr>
        <p:txBody>
          <a:bodyPr wrap="square" anchor="t" lIns="45720" rIns="45720">
            <a:spAutoFit/>
          </a:bodyPr>
          <a:lstStyle/>
          <a:p>
            <a:pPr algn="l">
              <a:spcAft>
                <a:spcPts val="400"/>
              </a:spcAft>
            </a:pPr>
            <a:r>
              <a:rPr sz="1100" b="0" i="0">
                <a:solidFill>
                  <a:srgbClr val="5F6F78"/>
                </a:solidFill>
                <a:latin typeface="Calibri"/>
              </a:rPr>
              <a:t>1  What is an SNN</a:t>
            </a:r>
          </a:p>
        </p:txBody>
      </p:sp>
      <p:sp>
        <p:nvSpPr>
          <p:cNvPr id="4" name="Title"/>
          <p:cNvSpPr txBox="1"/>
          <p:nvPr/>
        </p:nvSpPr>
        <p:spPr>
          <a:xfrm>
            <a:off x="548640" y="320040"/>
            <a:ext cx="11064240" cy="777240"/>
          </a:xfrm>
          <a:prstGeom prst="rect">
            <a:avLst/>
          </a:prstGeom>
          <a:noFill/>
        </p:spPr>
        <p:txBody>
          <a:bodyPr wrap="square" anchor="ctr" lIns="45720" rIns="45720">
            <a:spAutoFit/>
          </a:bodyPr>
          <a:lstStyle/>
          <a:p>
            <a:pPr algn="l">
              <a:spcAft>
                <a:spcPts val="400"/>
              </a:spcAft>
            </a:pPr>
            <a:r>
              <a:rPr sz="3400" b="1" i="0">
                <a:solidFill>
                  <a:srgbClr val="0F2A33"/>
                </a:solidFill>
                <a:latin typeface="Cambria"/>
              </a:rPr>
              <a:t>ANN vs CNN vs SNN in software</a:t>
            </a:r>
          </a:p>
        </p:txBody>
      </p:sp>
      <p:graphicFrame>
        <p:nvGraphicFramePr>
          <p:cNvPr id="5" name="Table 4"/>
          <p:cNvGraphicFramePr>
            <a:graphicFrameLocks noGrp="1"/>
          </p:cNvGraphicFramePr>
          <p:nvPr/>
        </p:nvGraphicFramePr>
        <p:xfrm>
          <a:off x="548640" y="1463040"/>
          <a:ext cx="11109959" cy="3968496"/>
        </p:xfrm>
        <a:graphic>
          <a:graphicData uri="http://schemas.openxmlformats.org/drawingml/2006/table">
            <a:tbl>
              <a:tblPr firstRow="1" bandRow="1">
                <a:tableStyleId>{5C22544A-7EE6-4342-B048-85BDC9FD1C3A}</a:tableStyleId>
              </a:tblPr>
              <a:tblGrid>
                <a:gridCol w="2003435"/>
                <a:gridCol w="3005153"/>
                <a:gridCol w="3005153"/>
                <a:gridCol w="3096218"/>
              </a:tblGrid>
              <a:tr h="566928">
                <a:tc>
                  <a:txBody>
                    <a:bodyPr wrap="square"/>
                    <a:lstStyle/>
                    <a:p>
                      <a:r>
                        <a:rPr sz="1400" b="1">
                          <a:solidFill>
                            <a:srgbClr val="FFFFFF"/>
                          </a:solidFill>
                          <a:latin typeface="Calibri"/>
                        </a:rPr>
                        <a:t/>
                      </a:r>
                    </a:p>
                  </a:txBody>
                  <a:tcPr marL="73152" marR="73152" marT="36576" marB="36576" anchor="ctr">
                    <a:solidFill>
                      <a:srgbClr val="1B4D5C"/>
                    </a:solidFill>
                  </a:tcPr>
                </a:tc>
                <a:tc>
                  <a:txBody>
                    <a:bodyPr wrap="square"/>
                    <a:lstStyle/>
                    <a:p>
                      <a:r>
                        <a:rPr sz="1400" b="1">
                          <a:solidFill>
                            <a:srgbClr val="FFFFFF"/>
                          </a:solidFill>
                          <a:latin typeface="Calibri"/>
                        </a:rPr>
                        <a:t>MLP / ANN</a:t>
                      </a:r>
                    </a:p>
                  </a:txBody>
                  <a:tcPr marL="73152" marR="73152" marT="36576" marB="36576" anchor="ctr">
                    <a:solidFill>
                      <a:srgbClr val="1B4D5C"/>
                    </a:solidFill>
                  </a:tcPr>
                </a:tc>
                <a:tc>
                  <a:txBody>
                    <a:bodyPr wrap="square"/>
                    <a:lstStyle/>
                    <a:p>
                      <a:r>
                        <a:rPr sz="1400" b="1">
                          <a:solidFill>
                            <a:srgbClr val="FFFFFF"/>
                          </a:solidFill>
                          <a:latin typeface="Calibri"/>
                        </a:rPr>
                        <a:t>CNN</a:t>
                      </a:r>
                    </a:p>
                  </a:txBody>
                  <a:tcPr marL="73152" marR="73152" marT="36576" marB="36576" anchor="ctr">
                    <a:solidFill>
                      <a:srgbClr val="1B4D5C"/>
                    </a:solidFill>
                  </a:tcPr>
                </a:tc>
                <a:tc>
                  <a:txBody>
                    <a:bodyPr wrap="square"/>
                    <a:lstStyle/>
                    <a:p>
                      <a:r>
                        <a:rPr sz="1400" b="1">
                          <a:solidFill>
                            <a:srgbClr val="FFFFFF"/>
                          </a:solidFill>
                          <a:latin typeface="Calibri"/>
                        </a:rPr>
                        <a:t>SNN (ours)</a:t>
                      </a:r>
                    </a:p>
                  </a:txBody>
                  <a:tcPr marL="73152" marR="73152" marT="36576" marB="36576" anchor="ctr">
                    <a:solidFill>
                      <a:srgbClr val="1B4D5C"/>
                    </a:solidFill>
                  </a:tcPr>
                </a:tc>
              </a:tr>
              <a:tr h="566928">
                <a:tc>
                  <a:txBody>
                    <a:bodyPr wrap="square"/>
                    <a:lstStyle/>
                    <a:p>
                      <a:r>
                        <a:rPr sz="1400" b="1">
                          <a:solidFill>
                            <a:srgbClr val="0F2A33"/>
                          </a:solidFill>
                          <a:latin typeface="Calibri"/>
                        </a:rPr>
                        <a:t>Data inside</a:t>
                      </a:r>
                    </a:p>
                  </a:txBody>
                  <a:tcPr marL="73152" marR="73152" marT="36576" marB="36576" anchor="ctr">
                    <a:solidFill>
                      <a:srgbClr val="FFFFFF"/>
                    </a:solidFill>
                  </a:tcPr>
                </a:tc>
                <a:tc>
                  <a:txBody>
                    <a:bodyPr wrap="square"/>
                    <a:lstStyle/>
                    <a:p>
                      <a:r>
                        <a:rPr sz="1400" b="0">
                          <a:solidFill>
                            <a:srgbClr val="0F2A33"/>
                          </a:solidFill>
                          <a:latin typeface="Calibri"/>
                        </a:rPr>
                        <a:t>numbers (floats or int8)</a:t>
                      </a:r>
                    </a:p>
                  </a:txBody>
                  <a:tcPr marL="73152" marR="73152" marT="36576" marB="36576" anchor="ctr">
                    <a:solidFill>
                      <a:srgbClr val="FFFFFF"/>
                    </a:solidFill>
                  </a:tcPr>
                </a:tc>
                <a:tc>
                  <a:txBody>
                    <a:bodyPr wrap="square"/>
                    <a:lstStyle/>
                    <a:p>
                      <a:r>
                        <a:rPr sz="1400" b="0">
                          <a:solidFill>
                            <a:srgbClr val="0F2A33"/>
                          </a:solidFill>
                          <a:latin typeface="Calibri"/>
                        </a:rPr>
                        <a:t>numbers, on 2-D/1-D grids (images, byte sequences)</a:t>
                      </a:r>
                    </a:p>
                  </a:txBody>
                  <a:tcPr marL="73152" marR="73152" marT="36576" marB="36576" anchor="ctr">
                    <a:solidFill>
                      <a:srgbClr val="FFFFFF"/>
                    </a:solidFill>
                  </a:tcPr>
                </a:tc>
                <a:tc>
                  <a:txBody>
                    <a:bodyPr wrap="square"/>
                    <a:lstStyle/>
                    <a:p>
                      <a:r>
                        <a:rPr sz="1400" b="0">
                          <a:solidFill>
                            <a:srgbClr val="0F2A33"/>
                          </a:solidFill>
                          <a:latin typeface="Calibri"/>
                        </a:rPr>
                        <a:t>spikes: 0/1 per time step</a:t>
                      </a:r>
                    </a:p>
                  </a:txBody>
                  <a:tcPr marL="73152" marR="73152" marT="36576" marB="36576" anchor="ctr">
                    <a:solidFill>
                      <a:srgbClr val="FFFFFF"/>
                    </a:solidFill>
                  </a:tcPr>
                </a:tc>
              </a:tr>
              <a:tr h="566928">
                <a:tc>
                  <a:txBody>
                    <a:bodyPr wrap="square"/>
                    <a:lstStyle/>
                    <a:p>
                      <a:r>
                        <a:rPr sz="1400" b="1">
                          <a:solidFill>
                            <a:srgbClr val="0F2A33"/>
                          </a:solidFill>
                          <a:latin typeface="Calibri"/>
                        </a:rPr>
                        <a:t>Basic operation</a:t>
                      </a:r>
                    </a:p>
                  </a:txBody>
                  <a:tcPr marL="73152" marR="73152" marT="36576" marB="36576" anchor="ctr">
                    <a:solidFill>
                      <a:srgbClr val="EAF2F3"/>
                    </a:solidFill>
                  </a:tcPr>
                </a:tc>
                <a:tc>
                  <a:txBody>
                    <a:bodyPr wrap="square"/>
                    <a:lstStyle/>
                    <a:p>
                      <a:r>
                        <a:rPr sz="1400" b="0">
                          <a:solidFill>
                            <a:srgbClr val="0F2A33"/>
                          </a:solidFill>
                          <a:latin typeface="Calibri"/>
                        </a:rPr>
                        <a:t>multiply-accumulate</a:t>
                      </a:r>
                    </a:p>
                  </a:txBody>
                  <a:tcPr marL="73152" marR="73152" marT="36576" marB="36576" anchor="ctr">
                    <a:solidFill>
                      <a:srgbClr val="EAF2F3"/>
                    </a:solidFill>
                  </a:tcPr>
                </a:tc>
                <a:tc>
                  <a:txBody>
                    <a:bodyPr wrap="square"/>
                    <a:lstStyle/>
                    <a:p>
                      <a:r>
                        <a:rPr sz="1400" b="0">
                          <a:solidFill>
                            <a:srgbClr val="0F2A33"/>
                          </a:solidFill>
                          <a:latin typeface="Calibri"/>
                        </a:rPr>
                        <a:t>sliding filters = many multiply-accumulates</a:t>
                      </a:r>
                    </a:p>
                  </a:txBody>
                  <a:tcPr marL="73152" marR="73152" marT="36576" marB="36576" anchor="ctr">
                    <a:solidFill>
                      <a:srgbClr val="EAF2F3"/>
                    </a:solidFill>
                  </a:tcPr>
                </a:tc>
                <a:tc>
                  <a:txBody>
                    <a:bodyPr wrap="square"/>
                    <a:lstStyle/>
                    <a:p>
                      <a:r>
                        <a:rPr sz="1400" b="0">
                          <a:solidFill>
                            <a:srgbClr val="0F2A33"/>
                          </a:solidFill>
                          <a:latin typeface="Calibri"/>
                        </a:rPr>
                        <a:t>add the weight if a spike arrived, leak, compare</a:t>
                      </a:r>
                    </a:p>
                  </a:txBody>
                  <a:tcPr marL="73152" marR="73152" marT="36576" marB="36576" anchor="ctr">
                    <a:solidFill>
                      <a:srgbClr val="EAF2F3"/>
                    </a:solidFill>
                  </a:tcPr>
                </a:tc>
              </a:tr>
              <a:tr h="566928">
                <a:tc>
                  <a:txBody>
                    <a:bodyPr wrap="square"/>
                    <a:lstStyle/>
                    <a:p>
                      <a:r>
                        <a:rPr sz="1400" b="1">
                          <a:solidFill>
                            <a:srgbClr val="0F2A33"/>
                          </a:solidFill>
                          <a:latin typeface="Calibri"/>
                        </a:rPr>
                        <a:t>Time</a:t>
                      </a:r>
                    </a:p>
                  </a:txBody>
                  <a:tcPr marL="73152" marR="73152" marT="36576" marB="36576" anchor="ctr">
                    <a:solidFill>
                      <a:srgbClr val="FFFFFF"/>
                    </a:solidFill>
                  </a:tcPr>
                </a:tc>
                <a:tc>
                  <a:txBody>
                    <a:bodyPr wrap="square"/>
                    <a:lstStyle/>
                    <a:p>
                      <a:r>
                        <a:rPr sz="1400" b="0">
                          <a:solidFill>
                            <a:srgbClr val="0F2A33"/>
                          </a:solidFill>
                          <a:latin typeface="Calibri"/>
                        </a:rPr>
                        <a:t>one pass</a:t>
                      </a:r>
                    </a:p>
                  </a:txBody>
                  <a:tcPr marL="73152" marR="73152" marT="36576" marB="36576" anchor="ctr">
                    <a:solidFill>
                      <a:srgbClr val="FFFFFF"/>
                    </a:solidFill>
                  </a:tcPr>
                </a:tc>
                <a:tc>
                  <a:txBody>
                    <a:bodyPr wrap="square"/>
                    <a:lstStyle/>
                    <a:p>
                      <a:r>
                        <a:rPr sz="1400" b="0">
                          <a:solidFill>
                            <a:srgbClr val="0F2A33"/>
                          </a:solidFill>
                          <a:latin typeface="Calibri"/>
                        </a:rPr>
                        <a:t>one pass</a:t>
                      </a:r>
                    </a:p>
                  </a:txBody>
                  <a:tcPr marL="73152" marR="73152" marT="36576" marB="36576" anchor="ctr">
                    <a:solidFill>
                      <a:srgbClr val="FFFFFF"/>
                    </a:solidFill>
                  </a:tcPr>
                </a:tc>
                <a:tc>
                  <a:txBody>
                    <a:bodyPr wrap="square"/>
                    <a:lstStyle/>
                    <a:p>
                      <a:r>
                        <a:rPr sz="1400" b="0">
                          <a:solidFill>
                            <a:srgbClr val="0F2A33"/>
                          </a:solidFill>
                          <a:latin typeface="Calibri"/>
                        </a:rPr>
                        <a:t>T steps (we use 8); neurons keep state</a:t>
                      </a:r>
                    </a:p>
                  </a:txBody>
                  <a:tcPr marL="73152" marR="73152" marT="36576" marB="36576" anchor="ctr">
                    <a:solidFill>
                      <a:srgbClr val="FFFFFF"/>
                    </a:solidFill>
                  </a:tcPr>
                </a:tc>
              </a:tr>
              <a:tr h="566928">
                <a:tc>
                  <a:txBody>
                    <a:bodyPr wrap="square"/>
                    <a:lstStyle/>
                    <a:p>
                      <a:r>
                        <a:rPr sz="1400" b="1">
                          <a:solidFill>
                            <a:srgbClr val="0F2A33"/>
                          </a:solidFill>
                          <a:latin typeface="Calibri"/>
                        </a:rPr>
                        <a:t>Training</a:t>
                      </a:r>
                    </a:p>
                  </a:txBody>
                  <a:tcPr marL="73152" marR="73152" marT="36576" marB="36576" anchor="ctr">
                    <a:solidFill>
                      <a:srgbClr val="EAF2F3"/>
                    </a:solidFill>
                  </a:tcPr>
                </a:tc>
                <a:tc>
                  <a:txBody>
                    <a:bodyPr wrap="square"/>
                    <a:lstStyle/>
                    <a:p>
                      <a:r>
                        <a:rPr sz="1400" b="0">
                          <a:solidFill>
                            <a:srgbClr val="0F2A33"/>
                          </a:solidFill>
                          <a:latin typeface="Calibri"/>
                        </a:rPr>
                        <a:t>back-propagation</a:t>
                      </a:r>
                    </a:p>
                  </a:txBody>
                  <a:tcPr marL="73152" marR="73152" marT="36576" marB="36576" anchor="ctr">
                    <a:solidFill>
                      <a:srgbClr val="EAF2F3"/>
                    </a:solidFill>
                  </a:tcPr>
                </a:tc>
                <a:tc>
                  <a:txBody>
                    <a:bodyPr wrap="square"/>
                    <a:lstStyle/>
                    <a:p>
                      <a:r>
                        <a:rPr sz="1400" b="0">
                          <a:solidFill>
                            <a:srgbClr val="0F2A33"/>
                          </a:solidFill>
                          <a:latin typeface="Calibri"/>
                        </a:rPr>
                        <a:t>back-propagation</a:t>
                      </a:r>
                    </a:p>
                  </a:txBody>
                  <a:tcPr marL="73152" marR="73152" marT="36576" marB="36576" anchor="ctr">
                    <a:solidFill>
                      <a:srgbClr val="EAF2F3"/>
                    </a:solidFill>
                  </a:tcPr>
                </a:tc>
                <a:tc>
                  <a:txBody>
                    <a:bodyPr wrap="square"/>
                    <a:lstStyle/>
                    <a:p>
                      <a:r>
                        <a:rPr sz="1400" b="0">
                          <a:solidFill>
                            <a:srgbClr val="0F2A33"/>
                          </a:solidFill>
                          <a:latin typeface="Calibri"/>
                        </a:rPr>
                        <a:t>back-propagation with surrogate gradients (spikes have no slope)</a:t>
                      </a:r>
                    </a:p>
                  </a:txBody>
                  <a:tcPr marL="73152" marR="73152" marT="36576" marB="36576" anchor="ctr">
                    <a:solidFill>
                      <a:srgbClr val="EAF2F3"/>
                    </a:solidFill>
                  </a:tcPr>
                </a:tc>
              </a:tr>
              <a:tr h="566928">
                <a:tc>
                  <a:txBody>
                    <a:bodyPr wrap="square"/>
                    <a:lstStyle/>
                    <a:p>
                      <a:r>
                        <a:rPr sz="1400" b="1">
                          <a:solidFill>
                            <a:srgbClr val="0F2A33"/>
                          </a:solidFill>
                          <a:latin typeface="Calibri"/>
                        </a:rPr>
                        <a:t>Typical tools</a:t>
                      </a:r>
                    </a:p>
                  </a:txBody>
                  <a:tcPr marL="73152" marR="73152" marT="36576" marB="36576" anchor="ctr">
                    <a:solidFill>
                      <a:srgbClr val="FFFFFF"/>
                    </a:solidFill>
                  </a:tcPr>
                </a:tc>
                <a:tc>
                  <a:txBody>
                    <a:bodyPr wrap="square"/>
                    <a:lstStyle/>
                    <a:p>
                      <a:r>
                        <a:rPr sz="1400" b="0">
                          <a:solidFill>
                            <a:srgbClr val="0F2A33"/>
                          </a:solidFill>
                          <a:latin typeface="Calibri"/>
                        </a:rPr>
                        <a:t>PyTorch / TensorFlow</a:t>
                      </a:r>
                    </a:p>
                  </a:txBody>
                  <a:tcPr marL="73152" marR="73152" marT="36576" marB="36576" anchor="ctr">
                    <a:solidFill>
                      <a:srgbClr val="FFFFFF"/>
                    </a:solidFill>
                  </a:tcPr>
                </a:tc>
                <a:tc>
                  <a:txBody>
                    <a:bodyPr wrap="square"/>
                    <a:lstStyle/>
                    <a:p>
                      <a:r>
                        <a:rPr sz="1400" b="0">
                          <a:solidFill>
                            <a:srgbClr val="0F2A33"/>
                          </a:solidFill>
                          <a:latin typeface="Calibri"/>
                        </a:rPr>
                        <a:t>PyTorch / TensorFlow</a:t>
                      </a:r>
                    </a:p>
                  </a:txBody>
                  <a:tcPr marL="73152" marR="73152" marT="36576" marB="36576" anchor="ctr">
                    <a:solidFill>
                      <a:srgbClr val="FFFFFF"/>
                    </a:solidFill>
                  </a:tcPr>
                </a:tc>
                <a:tc>
                  <a:txBody>
                    <a:bodyPr wrap="square"/>
                    <a:lstStyle/>
                    <a:p>
                      <a:r>
                        <a:rPr sz="1400" b="0">
                          <a:solidFill>
                            <a:srgbClr val="0F2A33"/>
                          </a:solidFill>
                          <a:latin typeface="Calibri"/>
                        </a:rPr>
                        <a:t>PyTorch + custom integer model (model/train.py, snn_int.py)</a:t>
                      </a:r>
                    </a:p>
                  </a:txBody>
                  <a:tcPr marL="73152" marR="73152" marT="36576" marB="36576" anchor="ctr">
                    <a:solidFill>
                      <a:srgbClr val="FFFFFF"/>
                    </a:solidFill>
                  </a:tcPr>
                </a:tc>
              </a:tr>
              <a:tr h="566928">
                <a:tc>
                  <a:txBody>
                    <a:bodyPr wrap="square"/>
                    <a:lstStyle/>
                    <a:p>
                      <a:r>
                        <a:rPr sz="1400" b="1">
                          <a:solidFill>
                            <a:srgbClr val="0F2A33"/>
                          </a:solidFill>
                          <a:latin typeface="Calibri"/>
                        </a:rPr>
                        <a:t>Good at</a:t>
                      </a:r>
                    </a:p>
                  </a:txBody>
                  <a:tcPr marL="73152" marR="73152" marT="36576" marB="36576" anchor="ctr">
                    <a:solidFill>
                      <a:srgbClr val="EAF2F3"/>
                    </a:solidFill>
                  </a:tcPr>
                </a:tc>
                <a:tc>
                  <a:txBody>
                    <a:bodyPr wrap="square"/>
                    <a:lstStyle/>
                    <a:p>
                      <a:r>
                        <a:rPr sz="1400" b="0">
                          <a:solidFill>
                            <a:srgbClr val="0F2A33"/>
                          </a:solidFill>
                          <a:latin typeface="Calibri"/>
                        </a:rPr>
                        <a:t>tabular features</a:t>
                      </a:r>
                    </a:p>
                  </a:txBody>
                  <a:tcPr marL="73152" marR="73152" marT="36576" marB="36576" anchor="ctr">
                    <a:solidFill>
                      <a:srgbClr val="EAF2F3"/>
                    </a:solidFill>
                  </a:tcPr>
                </a:tc>
                <a:tc>
                  <a:txBody>
                    <a:bodyPr wrap="square"/>
                    <a:lstStyle/>
                    <a:p>
                      <a:r>
                        <a:rPr sz="1400" b="0">
                          <a:solidFill>
                            <a:srgbClr val="0F2A33"/>
                          </a:solidFill>
                          <a:latin typeface="Calibri"/>
                        </a:rPr>
                        <a:t>images, raw byte patterns</a:t>
                      </a:r>
                    </a:p>
                  </a:txBody>
                  <a:tcPr marL="73152" marR="73152" marT="36576" marB="36576" anchor="ctr">
                    <a:solidFill>
                      <a:srgbClr val="EAF2F3"/>
                    </a:solidFill>
                  </a:tcPr>
                </a:tc>
                <a:tc>
                  <a:txBody>
                    <a:bodyPr wrap="square"/>
                    <a:lstStyle/>
                    <a:p>
                      <a:r>
                        <a:rPr sz="1400" b="0">
                          <a:solidFill>
                            <a:srgbClr val="0F2A33"/>
                          </a:solidFill>
                          <a:latin typeface="Calibri"/>
                        </a:rPr>
                        <a:t>sparse, event-like inputs; low-power hardware</a:t>
                      </a:r>
                    </a:p>
                  </a:txBody>
                  <a:tcPr marL="73152" marR="73152" marT="36576" marB="36576" anchor="ctr">
                    <a:solidFill>
                      <a:srgbClr val="EAF2F3"/>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02975" y="6400800"/>
            <a:ext cx="822960" cy="274320"/>
          </a:xfrm>
          <a:prstGeom prst="rect">
            <a:avLst/>
          </a:prstGeom>
          <a:noFill/>
        </p:spPr>
        <p:txBody>
          <a:bodyPr wrap="square" anchor="t" lIns="45720" rIns="45720">
            <a:spAutoFit/>
          </a:bodyPr>
          <a:lstStyle/>
          <a:p>
            <a:pPr algn="r">
              <a:spcAft>
                <a:spcPts val="400"/>
              </a:spcAft>
            </a:pPr>
            <a:r>
              <a:rPr sz="1100" b="0" i="0">
                <a:solidFill>
                  <a:srgbClr val="5F6F78"/>
                </a:solidFill>
                <a:latin typeface="Calibri"/>
              </a:rPr>
              <a:t>9</a:t>
            </a:r>
          </a:p>
        </p:txBody>
      </p:sp>
      <p:sp>
        <p:nvSpPr>
          <p:cNvPr id="3" name="TextBox 2"/>
          <p:cNvSpPr txBox="1"/>
          <p:nvPr/>
        </p:nvSpPr>
        <p:spPr>
          <a:xfrm>
            <a:off x="548640" y="6400800"/>
            <a:ext cx="7315200" cy="274320"/>
          </a:xfrm>
          <a:prstGeom prst="rect">
            <a:avLst/>
          </a:prstGeom>
          <a:noFill/>
        </p:spPr>
        <p:txBody>
          <a:bodyPr wrap="square" anchor="t" lIns="45720" rIns="45720">
            <a:spAutoFit/>
          </a:bodyPr>
          <a:lstStyle/>
          <a:p>
            <a:pPr algn="l">
              <a:spcAft>
                <a:spcPts val="400"/>
              </a:spcAft>
            </a:pPr>
            <a:r>
              <a:rPr sz="1100" b="0" i="0">
                <a:solidFill>
                  <a:srgbClr val="5F6F78"/>
                </a:solidFill>
                <a:latin typeface="Calibri"/>
              </a:rPr>
              <a:t>1  What is an SNN</a:t>
            </a:r>
          </a:p>
        </p:txBody>
      </p:sp>
      <p:sp>
        <p:nvSpPr>
          <p:cNvPr id="4" name="Title"/>
          <p:cNvSpPr txBox="1"/>
          <p:nvPr/>
        </p:nvSpPr>
        <p:spPr>
          <a:xfrm>
            <a:off x="548640" y="320040"/>
            <a:ext cx="11064240" cy="777240"/>
          </a:xfrm>
          <a:prstGeom prst="rect">
            <a:avLst/>
          </a:prstGeom>
          <a:noFill/>
        </p:spPr>
        <p:txBody>
          <a:bodyPr wrap="square" anchor="ctr" lIns="45720" rIns="45720">
            <a:spAutoFit/>
          </a:bodyPr>
          <a:lstStyle/>
          <a:p>
            <a:pPr algn="l">
              <a:spcAft>
                <a:spcPts val="400"/>
              </a:spcAft>
            </a:pPr>
            <a:r>
              <a:rPr sz="3400" b="1" i="0">
                <a:solidFill>
                  <a:srgbClr val="0F2A33"/>
                </a:solidFill>
                <a:latin typeface="Cambria"/>
              </a:rPr>
              <a:t>CNN vs SNN in hardware</a:t>
            </a:r>
          </a:p>
        </p:txBody>
      </p:sp>
      <p:sp>
        <p:nvSpPr>
          <p:cNvPr id="5" name="TextBox 4"/>
          <p:cNvSpPr txBox="1"/>
          <p:nvPr/>
        </p:nvSpPr>
        <p:spPr>
          <a:xfrm>
            <a:off x="548640" y="1417320"/>
            <a:ext cx="5394960" cy="457200"/>
          </a:xfrm>
          <a:prstGeom prst="rect">
            <a:avLst/>
          </a:prstGeom>
          <a:noFill/>
        </p:spPr>
        <p:txBody>
          <a:bodyPr wrap="square" anchor="t" lIns="45720" rIns="45720">
            <a:spAutoFit/>
          </a:bodyPr>
          <a:lstStyle/>
          <a:p>
            <a:pPr algn="l">
              <a:spcAft>
                <a:spcPts val="400"/>
              </a:spcAft>
            </a:pPr>
            <a:r>
              <a:rPr sz="2200" b="1" i="0">
                <a:solidFill>
                  <a:srgbClr val="2E86AB"/>
                </a:solidFill>
                <a:latin typeface="Cambria"/>
              </a:rPr>
              <a:t>CNN accelerator</a:t>
            </a:r>
          </a:p>
        </p:txBody>
      </p:sp>
      <p:sp>
        <p:nvSpPr>
          <p:cNvPr id="6" name="Rounded Rectangle 5"/>
          <p:cNvSpPr/>
          <p:nvPr/>
        </p:nvSpPr>
        <p:spPr>
          <a:xfrm>
            <a:off x="548640" y="1965960"/>
            <a:ext cx="5394960" cy="713232"/>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r>
              <a:rPr sz="1600" b="0" i="0">
                <a:solidFill>
                  <a:srgbClr val="0F2A33"/>
                </a:solidFill>
                <a:latin typeface="Calibri"/>
              </a:rPr>
              <a:t>large weight and activation buffers (10–100 KB)</a:t>
            </a:r>
          </a:p>
        </p:txBody>
      </p:sp>
      <p:sp>
        <p:nvSpPr>
          <p:cNvPr id="7" name="Rounded Rectangle 6"/>
          <p:cNvSpPr/>
          <p:nvPr/>
        </p:nvSpPr>
        <p:spPr>
          <a:xfrm>
            <a:off x="548640" y="2834639"/>
            <a:ext cx="5394960" cy="713232"/>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r>
              <a:rPr sz="1600" b="0" i="0">
                <a:solidFill>
                  <a:srgbClr val="0F2A33"/>
                </a:solidFill>
                <a:latin typeface="Calibri"/>
              </a:rPr>
              <a:t>array of multipliers (MAC units / DSP blocks)</a:t>
            </a:r>
          </a:p>
        </p:txBody>
      </p:sp>
      <p:sp>
        <p:nvSpPr>
          <p:cNvPr id="8" name="Rounded Rectangle 7"/>
          <p:cNvSpPr/>
          <p:nvPr/>
        </p:nvSpPr>
        <p:spPr>
          <a:xfrm>
            <a:off x="548640" y="3703320"/>
            <a:ext cx="5394960" cy="713232"/>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r>
              <a:rPr sz="1600" b="0" i="0">
                <a:solidFill>
                  <a:srgbClr val="0F2A33"/>
                </a:solidFill>
                <a:latin typeface="Calibri"/>
              </a:rPr>
              <a:t>line buffers to slide the filters</a:t>
            </a:r>
          </a:p>
        </p:txBody>
      </p:sp>
      <p:sp>
        <p:nvSpPr>
          <p:cNvPr id="9" name="Rounded Rectangle 8"/>
          <p:cNvSpPr/>
          <p:nvPr/>
        </p:nvSpPr>
        <p:spPr>
          <a:xfrm>
            <a:off x="548640" y="4572000"/>
            <a:ext cx="5394960" cy="713232"/>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r>
              <a:rPr sz="1600" b="0" i="0">
                <a:solidFill>
                  <a:srgbClr val="0F2A33"/>
                </a:solidFill>
                <a:latin typeface="Calibri"/>
              </a:rPr>
              <a:t>~10⁵–10⁶ multiply-accumulates per input</a:t>
            </a:r>
          </a:p>
        </p:txBody>
      </p:sp>
      <p:sp>
        <p:nvSpPr>
          <p:cNvPr id="10" name="TextBox 9"/>
          <p:cNvSpPr txBox="1"/>
          <p:nvPr/>
        </p:nvSpPr>
        <p:spPr>
          <a:xfrm>
            <a:off x="548640" y="5532120"/>
            <a:ext cx="5394960" cy="640080"/>
          </a:xfrm>
          <a:prstGeom prst="rect">
            <a:avLst/>
          </a:prstGeom>
          <a:noFill/>
        </p:spPr>
        <p:txBody>
          <a:bodyPr wrap="square" anchor="t" lIns="45720" rIns="45720">
            <a:spAutoFit/>
          </a:bodyPr>
          <a:lstStyle/>
          <a:p>
            <a:pPr algn="l">
              <a:spcAft>
                <a:spcPts val="400"/>
              </a:spcAft>
            </a:pPr>
            <a:r>
              <a:rPr sz="1500" b="0" i="1">
                <a:solidFill>
                  <a:srgbClr val="5F6F78"/>
                </a:solidFill>
                <a:latin typeface="Calibri"/>
              </a:rPr>
              <a:t>fast on dense data, but multipliers and big buffers cost area and power</a:t>
            </a:r>
          </a:p>
        </p:txBody>
      </p:sp>
      <p:sp>
        <p:nvSpPr>
          <p:cNvPr id="11" name="TextBox 10"/>
          <p:cNvSpPr txBox="1"/>
          <p:nvPr/>
        </p:nvSpPr>
        <p:spPr>
          <a:xfrm>
            <a:off x="6263640" y="1417320"/>
            <a:ext cx="5394960" cy="457200"/>
          </a:xfrm>
          <a:prstGeom prst="rect">
            <a:avLst/>
          </a:prstGeom>
          <a:noFill/>
        </p:spPr>
        <p:txBody>
          <a:bodyPr wrap="square" anchor="t" lIns="45720" rIns="45720">
            <a:spAutoFit/>
          </a:bodyPr>
          <a:lstStyle/>
          <a:p>
            <a:pPr algn="l">
              <a:spcAft>
                <a:spcPts val="400"/>
              </a:spcAft>
            </a:pPr>
            <a:r>
              <a:rPr sz="2200" b="1" i="0">
                <a:solidFill>
                  <a:srgbClr val="B5761A"/>
                </a:solidFill>
                <a:latin typeface="Cambria"/>
              </a:rPr>
              <a:t>Our SNN</a:t>
            </a:r>
          </a:p>
        </p:txBody>
      </p:sp>
      <p:sp>
        <p:nvSpPr>
          <p:cNvPr id="12" name="Rounded Rectangle 11"/>
          <p:cNvSpPr/>
          <p:nvPr/>
        </p:nvSpPr>
        <p:spPr>
          <a:xfrm>
            <a:off x="6263640" y="1965960"/>
            <a:ext cx="5394960" cy="713232"/>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r>
              <a:rPr sz="1600" b="0" i="0">
                <a:solidFill>
                  <a:srgbClr val="0F2A33"/>
                </a:solidFill>
                <a:latin typeface="Calibri"/>
              </a:rPr>
              <a:t>small weight memory (1.1 KB, int8)</a:t>
            </a:r>
          </a:p>
        </p:txBody>
      </p:sp>
      <p:sp>
        <p:nvSpPr>
          <p:cNvPr id="13" name="Rounded Rectangle 12"/>
          <p:cNvSpPr/>
          <p:nvPr/>
        </p:nvSpPr>
        <p:spPr>
          <a:xfrm>
            <a:off x="6263640" y="2834639"/>
            <a:ext cx="5394960" cy="713232"/>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r>
              <a:rPr sz="1600" b="0" i="0">
                <a:solidFill>
                  <a:srgbClr val="0F2A33"/>
                </a:solidFill>
                <a:latin typeface="Calibri"/>
              </a:rPr>
              <a:t>16 adders + 2-stage adder tree, no multipliers</a:t>
            </a:r>
          </a:p>
        </p:txBody>
      </p:sp>
      <p:sp>
        <p:nvSpPr>
          <p:cNvPr id="14" name="Rounded Rectangle 13"/>
          <p:cNvSpPr/>
          <p:nvPr/>
        </p:nvSpPr>
        <p:spPr>
          <a:xfrm>
            <a:off x="6263640" y="3703320"/>
            <a:ext cx="5394960" cy="713232"/>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r>
              <a:rPr sz="1600" b="0" i="0">
                <a:solidFill>
                  <a:srgbClr val="0F2A33"/>
                </a:solidFill>
                <a:latin typeface="Calibri"/>
              </a:rPr>
              <a:t>event queue: only the 'yes' inputs are visited</a:t>
            </a:r>
          </a:p>
        </p:txBody>
      </p:sp>
      <p:sp>
        <p:nvSpPr>
          <p:cNvPr id="15" name="Rounded Rectangle 14"/>
          <p:cNvSpPr/>
          <p:nvPr/>
        </p:nvSpPr>
        <p:spPr>
          <a:xfrm>
            <a:off x="6263640" y="4572000"/>
            <a:ext cx="5394960" cy="713232"/>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r>
              <a:rPr sz="1600" b="0" i="0">
                <a:solidFill>
                  <a:srgbClr val="0F2A33"/>
                </a:solidFill>
                <a:latin typeface="Calibri"/>
              </a:rPr>
              <a:t>~900 additions/compares per frame</a:t>
            </a:r>
          </a:p>
        </p:txBody>
      </p:sp>
      <p:sp>
        <p:nvSpPr>
          <p:cNvPr id="16" name="TextBox 15"/>
          <p:cNvSpPr txBox="1"/>
          <p:nvPr/>
        </p:nvSpPr>
        <p:spPr>
          <a:xfrm>
            <a:off x="6263640" y="5532120"/>
            <a:ext cx="5394960" cy="640080"/>
          </a:xfrm>
          <a:prstGeom prst="rect">
            <a:avLst/>
          </a:prstGeom>
          <a:noFill/>
        </p:spPr>
        <p:txBody>
          <a:bodyPr wrap="square" anchor="t" lIns="45720" rIns="45720">
            <a:spAutoFit/>
          </a:bodyPr>
          <a:lstStyle/>
          <a:p>
            <a:pPr algn="l">
              <a:spcAft>
                <a:spcPts val="400"/>
              </a:spcAft>
            </a:pPr>
            <a:r>
              <a:rPr sz="1500" b="0" i="1">
                <a:solidFill>
                  <a:srgbClr val="5F6F78"/>
                </a:solidFill>
                <a:latin typeface="Calibri"/>
              </a:rPr>
              <a:t>0 DSP blocks used on both FPGAs; extra state: one 20-bit charge per neuron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02975" y="6400800"/>
            <a:ext cx="822960" cy="274320"/>
          </a:xfrm>
          <a:prstGeom prst="rect">
            <a:avLst/>
          </a:prstGeom>
          <a:noFill/>
        </p:spPr>
        <p:txBody>
          <a:bodyPr wrap="square" anchor="t" lIns="45720" rIns="45720">
            <a:spAutoFit/>
          </a:bodyPr>
          <a:lstStyle/>
          <a:p>
            <a:pPr algn="r">
              <a:spcAft>
                <a:spcPts val="400"/>
              </a:spcAft>
            </a:pPr>
            <a:r>
              <a:rPr sz="1100" b="0" i="0">
                <a:solidFill>
                  <a:srgbClr val="5F6F78"/>
                </a:solidFill>
                <a:latin typeface="Calibri"/>
              </a:rPr>
              <a:t>10</a:t>
            </a:r>
          </a:p>
        </p:txBody>
      </p:sp>
      <p:sp>
        <p:nvSpPr>
          <p:cNvPr id="3" name="TextBox 2"/>
          <p:cNvSpPr txBox="1"/>
          <p:nvPr/>
        </p:nvSpPr>
        <p:spPr>
          <a:xfrm>
            <a:off x="548640" y="6400800"/>
            <a:ext cx="7315200" cy="274320"/>
          </a:xfrm>
          <a:prstGeom prst="rect">
            <a:avLst/>
          </a:prstGeom>
          <a:noFill/>
        </p:spPr>
        <p:txBody>
          <a:bodyPr wrap="square" anchor="t" lIns="45720" rIns="45720">
            <a:spAutoFit/>
          </a:bodyPr>
          <a:lstStyle/>
          <a:p>
            <a:pPr algn="l">
              <a:spcAft>
                <a:spcPts val="400"/>
              </a:spcAft>
            </a:pPr>
            <a:r>
              <a:rPr sz="1100" b="0" i="0">
                <a:solidFill>
                  <a:srgbClr val="5F6F78"/>
                </a:solidFill>
                <a:latin typeface="Calibri"/>
              </a:rPr>
              <a:t>1  What is an SNN</a:t>
            </a:r>
          </a:p>
        </p:txBody>
      </p:sp>
      <p:sp>
        <p:nvSpPr>
          <p:cNvPr id="4" name="Title"/>
          <p:cNvSpPr txBox="1"/>
          <p:nvPr/>
        </p:nvSpPr>
        <p:spPr>
          <a:xfrm>
            <a:off x="548640" y="320040"/>
            <a:ext cx="11064240" cy="777240"/>
          </a:xfrm>
          <a:prstGeom prst="rect">
            <a:avLst/>
          </a:prstGeom>
          <a:noFill/>
        </p:spPr>
        <p:txBody>
          <a:bodyPr wrap="square" anchor="ctr" lIns="45720" rIns="45720">
            <a:spAutoFit/>
          </a:bodyPr>
          <a:lstStyle/>
          <a:p>
            <a:pPr algn="l">
              <a:spcAft>
                <a:spcPts val="400"/>
              </a:spcAft>
            </a:pPr>
            <a:r>
              <a:rPr sz="3400" b="1" i="0">
                <a:solidFill>
                  <a:srgbClr val="0F2A33"/>
                </a:solidFill>
                <a:latin typeface="Cambria"/>
              </a:rPr>
              <a:t>Why an SNN suits this project</a:t>
            </a:r>
          </a:p>
        </p:txBody>
      </p:sp>
      <p:sp>
        <p:nvSpPr>
          <p:cNvPr id="5" name="Rounded Rectangle 4"/>
          <p:cNvSpPr/>
          <p:nvPr/>
        </p:nvSpPr>
        <p:spPr>
          <a:xfrm>
            <a:off x="548640" y="1463040"/>
            <a:ext cx="3566160" cy="214884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6" name="Oval 5"/>
          <p:cNvSpPr/>
          <p:nvPr/>
        </p:nvSpPr>
        <p:spPr>
          <a:xfrm>
            <a:off x="731520" y="1645920"/>
            <a:ext cx="457200" cy="457200"/>
          </a:xfrm>
          <a:prstGeom prst="ellipse">
            <a:avLst/>
          </a:prstGeom>
          <a:solidFill>
            <a:srgbClr val="1B99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600" b="1" i="0">
                <a:solidFill>
                  <a:srgbClr val="FFFFFF"/>
                </a:solidFill>
                <a:latin typeface="Calibri"/>
              </a:rPr>
              <a:t>1</a:t>
            </a:r>
          </a:p>
        </p:txBody>
      </p:sp>
      <p:sp>
        <p:nvSpPr>
          <p:cNvPr id="7" name="TextBox 6"/>
          <p:cNvSpPr txBox="1"/>
          <p:nvPr/>
        </p:nvSpPr>
        <p:spPr>
          <a:xfrm>
            <a:off x="1325880" y="1645920"/>
            <a:ext cx="2606039" cy="502920"/>
          </a:xfrm>
          <a:prstGeom prst="rect">
            <a:avLst/>
          </a:prstGeom>
          <a:noFill/>
        </p:spPr>
        <p:txBody>
          <a:bodyPr wrap="square" anchor="ctr" lIns="45720" rIns="45720">
            <a:spAutoFit/>
          </a:bodyPr>
          <a:lstStyle/>
          <a:p>
            <a:pPr algn="l">
              <a:spcAft>
                <a:spcPts val="400"/>
              </a:spcAft>
            </a:pPr>
            <a:r>
              <a:rPr sz="1700" b="1" i="0">
                <a:solidFill>
                  <a:srgbClr val="0F2A33"/>
                </a:solidFill>
                <a:latin typeface="Calibri"/>
              </a:rPr>
              <a:t>No multipliers</a:t>
            </a:r>
          </a:p>
        </p:txBody>
      </p:sp>
      <p:sp>
        <p:nvSpPr>
          <p:cNvPr id="8" name="TextBox 7"/>
          <p:cNvSpPr txBox="1"/>
          <p:nvPr/>
        </p:nvSpPr>
        <p:spPr>
          <a:xfrm>
            <a:off x="777240" y="2240280"/>
            <a:ext cx="3154679" cy="1234440"/>
          </a:xfrm>
          <a:prstGeom prst="rect">
            <a:avLst/>
          </a:prstGeom>
          <a:noFill/>
        </p:spPr>
        <p:txBody>
          <a:bodyPr wrap="square" anchor="t" lIns="45720" rIns="45720">
            <a:spAutoFit/>
          </a:bodyPr>
          <a:lstStyle/>
          <a:p>
            <a:pPr algn="l">
              <a:spcAft>
                <a:spcPts val="400"/>
              </a:spcAft>
            </a:pPr>
            <a:r>
              <a:rPr sz="1500" b="0" i="0">
                <a:solidFill>
                  <a:srgbClr val="0F2A33"/>
                </a:solidFill>
                <a:latin typeface="Calibri"/>
              </a:rPr>
              <a:t>Inputs are 1-bit spikes, so every weight is either added or skipped. 0 DSP blocks on both FPGAs.</a:t>
            </a:r>
          </a:p>
        </p:txBody>
      </p:sp>
      <p:sp>
        <p:nvSpPr>
          <p:cNvPr id="9" name="Rounded Rectangle 8"/>
          <p:cNvSpPr/>
          <p:nvPr/>
        </p:nvSpPr>
        <p:spPr>
          <a:xfrm>
            <a:off x="4297679" y="1463040"/>
            <a:ext cx="3566160" cy="214884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0" name="Oval 9"/>
          <p:cNvSpPr/>
          <p:nvPr/>
        </p:nvSpPr>
        <p:spPr>
          <a:xfrm>
            <a:off x="4480559" y="1645920"/>
            <a:ext cx="457200" cy="457200"/>
          </a:xfrm>
          <a:prstGeom prst="ellipse">
            <a:avLst/>
          </a:prstGeom>
          <a:solidFill>
            <a:srgbClr val="1B99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600" b="1" i="0">
                <a:solidFill>
                  <a:srgbClr val="FFFFFF"/>
                </a:solidFill>
                <a:latin typeface="Calibri"/>
              </a:rPr>
              <a:t>2</a:t>
            </a:r>
          </a:p>
        </p:txBody>
      </p:sp>
      <p:sp>
        <p:nvSpPr>
          <p:cNvPr id="11" name="TextBox 10"/>
          <p:cNvSpPr txBox="1"/>
          <p:nvPr/>
        </p:nvSpPr>
        <p:spPr>
          <a:xfrm>
            <a:off x="5074919" y="1645920"/>
            <a:ext cx="2606040" cy="502920"/>
          </a:xfrm>
          <a:prstGeom prst="rect">
            <a:avLst/>
          </a:prstGeom>
          <a:noFill/>
        </p:spPr>
        <p:txBody>
          <a:bodyPr wrap="square" anchor="ctr" lIns="45720" rIns="45720">
            <a:spAutoFit/>
          </a:bodyPr>
          <a:lstStyle/>
          <a:p>
            <a:pPr algn="l">
              <a:spcAft>
                <a:spcPts val="400"/>
              </a:spcAft>
            </a:pPr>
            <a:r>
              <a:rPr sz="1700" b="1" i="0">
                <a:solidFill>
                  <a:srgbClr val="0F2A33"/>
                </a:solidFill>
                <a:latin typeface="Calibri"/>
              </a:rPr>
              <a:t>Work only on activity</a:t>
            </a:r>
          </a:p>
        </p:txBody>
      </p:sp>
      <p:sp>
        <p:nvSpPr>
          <p:cNvPr id="12" name="TextBox 11"/>
          <p:cNvSpPr txBox="1"/>
          <p:nvPr/>
        </p:nvSpPr>
        <p:spPr>
          <a:xfrm>
            <a:off x="4526279" y="2240280"/>
            <a:ext cx="3154679" cy="1234440"/>
          </a:xfrm>
          <a:prstGeom prst="rect">
            <a:avLst/>
          </a:prstGeom>
          <a:noFill/>
        </p:spPr>
        <p:txBody>
          <a:bodyPr wrap="square" anchor="t" lIns="45720" rIns="45720">
            <a:spAutoFit/>
          </a:bodyPr>
          <a:lstStyle/>
          <a:p>
            <a:pPr algn="l">
              <a:spcAft>
                <a:spcPts val="400"/>
              </a:spcAft>
            </a:pPr>
            <a:r>
              <a:rPr sz="1500" b="0" i="0">
                <a:solidFill>
                  <a:srgbClr val="0F2A33"/>
                </a:solidFill>
                <a:latin typeface="Calibri"/>
              </a:rPr>
              <a:t>On average only 13.5 of the 64 inputs are 'yes' (79 % zeros). Only those weight rows are read.</a:t>
            </a:r>
          </a:p>
        </p:txBody>
      </p:sp>
      <p:sp>
        <p:nvSpPr>
          <p:cNvPr id="13" name="Rounded Rectangle 12"/>
          <p:cNvSpPr/>
          <p:nvPr/>
        </p:nvSpPr>
        <p:spPr>
          <a:xfrm>
            <a:off x="8046719" y="1463040"/>
            <a:ext cx="3566160" cy="214884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4" name="Oval 13"/>
          <p:cNvSpPr/>
          <p:nvPr/>
        </p:nvSpPr>
        <p:spPr>
          <a:xfrm>
            <a:off x="8229599" y="1645920"/>
            <a:ext cx="457200" cy="457200"/>
          </a:xfrm>
          <a:prstGeom prst="ellipse">
            <a:avLst/>
          </a:prstGeom>
          <a:solidFill>
            <a:srgbClr val="1B99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600" b="1" i="0">
                <a:solidFill>
                  <a:srgbClr val="FFFFFF"/>
                </a:solidFill>
                <a:latin typeface="Calibri"/>
              </a:rPr>
              <a:t>3</a:t>
            </a:r>
          </a:p>
        </p:txBody>
      </p:sp>
      <p:sp>
        <p:nvSpPr>
          <p:cNvPr id="15" name="TextBox 14"/>
          <p:cNvSpPr txBox="1"/>
          <p:nvPr/>
        </p:nvSpPr>
        <p:spPr>
          <a:xfrm>
            <a:off x="8823959" y="1645920"/>
            <a:ext cx="2606040" cy="502920"/>
          </a:xfrm>
          <a:prstGeom prst="rect">
            <a:avLst/>
          </a:prstGeom>
          <a:noFill/>
        </p:spPr>
        <p:txBody>
          <a:bodyPr wrap="square" anchor="ctr" lIns="45720" rIns="45720">
            <a:spAutoFit/>
          </a:bodyPr>
          <a:lstStyle/>
          <a:p>
            <a:pPr algn="l">
              <a:spcAft>
                <a:spcPts val="400"/>
              </a:spcAft>
            </a:pPr>
            <a:r>
              <a:rPr sz="1700" b="1" i="0">
                <a:solidFill>
                  <a:srgbClr val="0F2A33"/>
                </a:solidFill>
                <a:latin typeface="Calibri"/>
              </a:rPr>
              <a:t>Built-in memory over time</a:t>
            </a:r>
          </a:p>
        </p:txBody>
      </p:sp>
      <p:sp>
        <p:nvSpPr>
          <p:cNvPr id="16" name="TextBox 15"/>
          <p:cNvSpPr txBox="1"/>
          <p:nvPr/>
        </p:nvSpPr>
        <p:spPr>
          <a:xfrm>
            <a:off x="8275319" y="2240280"/>
            <a:ext cx="3154679" cy="1234440"/>
          </a:xfrm>
          <a:prstGeom prst="rect">
            <a:avLst/>
          </a:prstGeom>
          <a:noFill/>
        </p:spPr>
        <p:txBody>
          <a:bodyPr wrap="square" anchor="t" lIns="45720" rIns="45720">
            <a:spAutoFit/>
          </a:bodyPr>
          <a:lstStyle/>
          <a:p>
            <a:pPr algn="l">
              <a:spcAft>
                <a:spcPts val="400"/>
              </a:spcAft>
            </a:pPr>
            <a:r>
              <a:rPr sz="1500" b="0" i="0">
                <a:solidFill>
                  <a:srgbClr val="0F2A33"/>
                </a:solidFill>
                <a:latin typeface="Calibri"/>
              </a:rPr>
              <a:t>Neurons keep their charge; together with the SYN/ping rate window this catches floods per packet.</a:t>
            </a:r>
          </a:p>
        </p:txBody>
      </p:sp>
      <p:sp>
        <p:nvSpPr>
          <p:cNvPr id="17" name="Rounded Rectangle 16"/>
          <p:cNvSpPr/>
          <p:nvPr/>
        </p:nvSpPr>
        <p:spPr>
          <a:xfrm>
            <a:off x="548640" y="3794760"/>
            <a:ext cx="3566160" cy="214884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8" name="Oval 17"/>
          <p:cNvSpPr/>
          <p:nvPr/>
        </p:nvSpPr>
        <p:spPr>
          <a:xfrm>
            <a:off x="731520" y="3977640"/>
            <a:ext cx="457200" cy="457200"/>
          </a:xfrm>
          <a:prstGeom prst="ellipse">
            <a:avLst/>
          </a:prstGeom>
          <a:solidFill>
            <a:srgbClr val="1B99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600" b="1" i="0">
                <a:solidFill>
                  <a:srgbClr val="FFFFFF"/>
                </a:solidFill>
                <a:latin typeface="Calibri"/>
              </a:rPr>
              <a:t>4</a:t>
            </a:r>
          </a:p>
        </p:txBody>
      </p:sp>
      <p:sp>
        <p:nvSpPr>
          <p:cNvPr id="19" name="TextBox 18"/>
          <p:cNvSpPr txBox="1"/>
          <p:nvPr/>
        </p:nvSpPr>
        <p:spPr>
          <a:xfrm>
            <a:off x="1325880" y="3977640"/>
            <a:ext cx="2606039" cy="502920"/>
          </a:xfrm>
          <a:prstGeom prst="rect">
            <a:avLst/>
          </a:prstGeom>
          <a:noFill/>
        </p:spPr>
        <p:txBody>
          <a:bodyPr wrap="square" anchor="ctr" lIns="45720" rIns="45720">
            <a:spAutoFit/>
          </a:bodyPr>
          <a:lstStyle/>
          <a:p>
            <a:pPr algn="l">
              <a:spcAft>
                <a:spcPts val="400"/>
              </a:spcAft>
            </a:pPr>
            <a:r>
              <a:rPr sz="1700" b="1" i="0">
                <a:solidFill>
                  <a:srgbClr val="0F2A33"/>
                </a:solidFill>
                <a:latin typeface="Calibri"/>
              </a:rPr>
              <a:t>Fast enough for 1 Gb/s</a:t>
            </a:r>
          </a:p>
        </p:txBody>
      </p:sp>
      <p:sp>
        <p:nvSpPr>
          <p:cNvPr id="20" name="TextBox 19"/>
          <p:cNvSpPr txBox="1"/>
          <p:nvPr/>
        </p:nvSpPr>
        <p:spPr>
          <a:xfrm>
            <a:off x="777240" y="4572000"/>
            <a:ext cx="3154679" cy="1234440"/>
          </a:xfrm>
          <a:prstGeom prst="rect">
            <a:avLst/>
          </a:prstGeom>
          <a:noFill/>
        </p:spPr>
        <p:txBody>
          <a:bodyPr wrap="square" anchor="t" lIns="45720" rIns="45720">
            <a:spAutoFit/>
          </a:bodyPr>
          <a:lstStyle/>
          <a:p>
            <a:pPr algn="l">
              <a:spcAft>
                <a:spcPts val="400"/>
              </a:spcAft>
            </a:pPr>
            <a:r>
              <a:rPr sz="1500" b="0" i="0">
                <a:solidFill>
                  <a:srgbClr val="0F2A33"/>
                </a:solidFill>
                <a:latin typeface="Calibri"/>
              </a:rPr>
              <a:t>~28 clock ticks per decision vs 84 byte-times for the smallest frame: 3× headroom.</a:t>
            </a:r>
          </a:p>
        </p:txBody>
      </p:sp>
      <p:sp>
        <p:nvSpPr>
          <p:cNvPr id="21" name="Rounded Rectangle 20"/>
          <p:cNvSpPr/>
          <p:nvPr/>
        </p:nvSpPr>
        <p:spPr>
          <a:xfrm>
            <a:off x="4297679" y="3794760"/>
            <a:ext cx="3566160" cy="214884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2" name="Oval 21"/>
          <p:cNvSpPr/>
          <p:nvPr/>
        </p:nvSpPr>
        <p:spPr>
          <a:xfrm>
            <a:off x="4480559" y="3977640"/>
            <a:ext cx="457200" cy="457200"/>
          </a:xfrm>
          <a:prstGeom prst="ellipse">
            <a:avLst/>
          </a:prstGeom>
          <a:solidFill>
            <a:srgbClr val="1B99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600" b="1" i="0">
                <a:solidFill>
                  <a:srgbClr val="FFFFFF"/>
                </a:solidFill>
                <a:latin typeface="Calibri"/>
              </a:rPr>
              <a:t>5</a:t>
            </a:r>
          </a:p>
        </p:txBody>
      </p:sp>
      <p:sp>
        <p:nvSpPr>
          <p:cNvPr id="23" name="TextBox 22"/>
          <p:cNvSpPr txBox="1"/>
          <p:nvPr/>
        </p:nvSpPr>
        <p:spPr>
          <a:xfrm>
            <a:off x="5074919" y="3977640"/>
            <a:ext cx="2606040" cy="502920"/>
          </a:xfrm>
          <a:prstGeom prst="rect">
            <a:avLst/>
          </a:prstGeom>
          <a:noFill/>
        </p:spPr>
        <p:txBody>
          <a:bodyPr wrap="square" anchor="ctr" lIns="45720" rIns="45720">
            <a:spAutoFit/>
          </a:bodyPr>
          <a:lstStyle/>
          <a:p>
            <a:pPr algn="l">
              <a:spcAft>
                <a:spcPts val="400"/>
              </a:spcAft>
            </a:pPr>
            <a:r>
              <a:rPr sz="1700" b="1" i="0">
                <a:solidFill>
                  <a:srgbClr val="0F2A33"/>
                </a:solidFill>
                <a:latin typeface="Calibri"/>
              </a:rPr>
              <a:t>Weights load at run time</a:t>
            </a:r>
          </a:p>
        </p:txBody>
      </p:sp>
      <p:sp>
        <p:nvSpPr>
          <p:cNvPr id="24" name="TextBox 23"/>
          <p:cNvSpPr txBox="1"/>
          <p:nvPr/>
        </p:nvSpPr>
        <p:spPr>
          <a:xfrm>
            <a:off x="4526279" y="4572000"/>
            <a:ext cx="3154679" cy="1234440"/>
          </a:xfrm>
          <a:prstGeom prst="rect">
            <a:avLst/>
          </a:prstGeom>
          <a:noFill/>
        </p:spPr>
        <p:txBody>
          <a:bodyPr wrap="square" anchor="t" lIns="45720" rIns="45720">
            <a:spAutoFit/>
          </a:bodyPr>
          <a:lstStyle/>
          <a:p>
            <a:pPr algn="l">
              <a:spcAft>
                <a:spcPts val="400"/>
              </a:spcAft>
            </a:pPr>
            <a:r>
              <a:rPr sz="1500" b="0" i="0">
                <a:solidFill>
                  <a:srgbClr val="0F2A33"/>
                </a:solidFill>
                <a:latin typeface="Calibri"/>
              </a:rPr>
              <a:t>Retrain in Python, write 276 registers. No new chip or bitstream.</a:t>
            </a:r>
          </a:p>
        </p:txBody>
      </p:sp>
      <p:sp>
        <p:nvSpPr>
          <p:cNvPr id="25" name="Rounded Rectangle 24"/>
          <p:cNvSpPr/>
          <p:nvPr/>
        </p:nvSpPr>
        <p:spPr>
          <a:xfrm>
            <a:off x="8046719" y="3794760"/>
            <a:ext cx="3566160" cy="214884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6" name="Oval 25"/>
          <p:cNvSpPr/>
          <p:nvPr/>
        </p:nvSpPr>
        <p:spPr>
          <a:xfrm>
            <a:off x="8229599" y="3977640"/>
            <a:ext cx="457200" cy="457200"/>
          </a:xfrm>
          <a:prstGeom prst="ellipse">
            <a:avLst/>
          </a:prstGeom>
          <a:solidFill>
            <a:srgbClr val="1B99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600" b="1" i="0">
                <a:solidFill>
                  <a:srgbClr val="FFFFFF"/>
                </a:solidFill>
                <a:latin typeface="Calibri"/>
              </a:rPr>
              <a:t>6</a:t>
            </a:r>
          </a:p>
        </p:txBody>
      </p:sp>
      <p:sp>
        <p:nvSpPr>
          <p:cNvPr id="27" name="TextBox 26"/>
          <p:cNvSpPr txBox="1"/>
          <p:nvPr/>
        </p:nvSpPr>
        <p:spPr>
          <a:xfrm>
            <a:off x="8823959" y="3977640"/>
            <a:ext cx="2606040" cy="502920"/>
          </a:xfrm>
          <a:prstGeom prst="rect">
            <a:avLst/>
          </a:prstGeom>
          <a:noFill/>
        </p:spPr>
        <p:txBody>
          <a:bodyPr wrap="square" anchor="ctr" lIns="45720" rIns="45720">
            <a:spAutoFit/>
          </a:bodyPr>
          <a:lstStyle/>
          <a:p>
            <a:pPr algn="l">
              <a:spcAft>
                <a:spcPts val="400"/>
              </a:spcAft>
            </a:pPr>
            <a:r>
              <a:rPr sz="1700" b="1" i="0">
                <a:solidFill>
                  <a:srgbClr val="0F2A33"/>
                </a:solidFill>
                <a:latin typeface="Calibri"/>
              </a:rPr>
              <a:t>Path to on-chip learning</a:t>
            </a:r>
          </a:p>
        </p:txBody>
      </p:sp>
      <p:sp>
        <p:nvSpPr>
          <p:cNvPr id="28" name="TextBox 27"/>
          <p:cNvSpPr txBox="1"/>
          <p:nvPr/>
        </p:nvSpPr>
        <p:spPr>
          <a:xfrm>
            <a:off x="8275319" y="4572000"/>
            <a:ext cx="3154679" cy="1234440"/>
          </a:xfrm>
          <a:prstGeom prst="rect">
            <a:avLst/>
          </a:prstGeom>
          <a:noFill/>
        </p:spPr>
        <p:txBody>
          <a:bodyPr wrap="square" anchor="t" lIns="45720" rIns="45720">
            <a:spAutoFit/>
          </a:bodyPr>
          <a:lstStyle/>
          <a:p>
            <a:pPr algn="l">
              <a:spcAft>
                <a:spcPts val="400"/>
              </a:spcAft>
            </a:pPr>
            <a:r>
              <a:rPr sz="1500" b="0" i="0">
                <a:solidFill>
                  <a:srgbClr val="0F2A33"/>
                </a:solidFill>
                <a:latin typeface="Calibri"/>
              </a:rPr>
              <a:t>STDP (from the original snn_stdp design) could adapt the weights in the field later.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02975" y="6400800"/>
            <a:ext cx="822960" cy="274320"/>
          </a:xfrm>
          <a:prstGeom prst="rect">
            <a:avLst/>
          </a:prstGeom>
          <a:noFill/>
        </p:spPr>
        <p:txBody>
          <a:bodyPr wrap="square" anchor="t" lIns="45720" rIns="45720">
            <a:spAutoFit/>
          </a:bodyPr>
          <a:lstStyle/>
          <a:p>
            <a:pPr algn="r">
              <a:spcAft>
                <a:spcPts val="400"/>
              </a:spcAft>
            </a:pPr>
            <a:r>
              <a:rPr sz="1100" b="0" i="0">
                <a:solidFill>
                  <a:srgbClr val="5F6F78"/>
                </a:solidFill>
                <a:latin typeface="Calibri"/>
              </a:rPr>
              <a:t>11</a:t>
            </a:r>
          </a:p>
        </p:txBody>
      </p:sp>
      <p:sp>
        <p:nvSpPr>
          <p:cNvPr id="3" name="TextBox 2"/>
          <p:cNvSpPr txBox="1"/>
          <p:nvPr/>
        </p:nvSpPr>
        <p:spPr>
          <a:xfrm>
            <a:off x="548640" y="6400800"/>
            <a:ext cx="7315200" cy="274320"/>
          </a:xfrm>
          <a:prstGeom prst="rect">
            <a:avLst/>
          </a:prstGeom>
          <a:noFill/>
        </p:spPr>
        <p:txBody>
          <a:bodyPr wrap="square" anchor="t" lIns="45720" rIns="45720">
            <a:spAutoFit/>
          </a:bodyPr>
          <a:lstStyle/>
          <a:p>
            <a:pPr algn="l">
              <a:spcAft>
                <a:spcPts val="400"/>
              </a:spcAft>
            </a:pPr>
            <a:r>
              <a:rPr sz="1100" b="0" i="0">
                <a:solidFill>
                  <a:srgbClr val="5F6F78"/>
                </a:solidFill>
                <a:latin typeface="Calibri"/>
              </a:rPr>
              <a:t>1  What is an SNN</a:t>
            </a:r>
          </a:p>
        </p:txBody>
      </p:sp>
      <p:sp>
        <p:nvSpPr>
          <p:cNvPr id="4" name="Title"/>
          <p:cNvSpPr txBox="1"/>
          <p:nvPr/>
        </p:nvSpPr>
        <p:spPr>
          <a:xfrm>
            <a:off x="548640" y="320040"/>
            <a:ext cx="11064240" cy="777240"/>
          </a:xfrm>
          <a:prstGeom prst="rect">
            <a:avLst/>
          </a:prstGeom>
          <a:noFill/>
        </p:spPr>
        <p:txBody>
          <a:bodyPr wrap="square" anchor="ctr" lIns="45720" rIns="45720">
            <a:spAutoFit/>
          </a:bodyPr>
          <a:lstStyle/>
          <a:p>
            <a:pPr algn="l">
              <a:spcAft>
                <a:spcPts val="400"/>
              </a:spcAft>
            </a:pPr>
            <a:r>
              <a:rPr sz="3400" b="1" i="0">
                <a:solidFill>
                  <a:srgbClr val="0F2A33"/>
                </a:solidFill>
                <a:latin typeface="Cambria"/>
              </a:rPr>
              <a:t>Limits and costs, honestly</a:t>
            </a:r>
          </a:p>
        </p:txBody>
      </p:sp>
      <p:sp>
        <p:nvSpPr>
          <p:cNvPr id="5" name="Rounded Rectangle 4"/>
          <p:cNvSpPr/>
          <p:nvPr/>
        </p:nvSpPr>
        <p:spPr>
          <a:xfrm>
            <a:off x="548640" y="1463040"/>
            <a:ext cx="3566160" cy="214884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6" name="Oval 5"/>
          <p:cNvSpPr/>
          <p:nvPr/>
        </p:nvSpPr>
        <p:spPr>
          <a:xfrm>
            <a:off x="731520" y="1645920"/>
            <a:ext cx="457200" cy="457200"/>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600" b="1" i="0">
                <a:solidFill>
                  <a:srgbClr val="FFFFFF"/>
                </a:solidFill>
                <a:latin typeface="Calibri"/>
              </a:rPr>
              <a:t>1</a:t>
            </a:r>
          </a:p>
        </p:txBody>
      </p:sp>
      <p:sp>
        <p:nvSpPr>
          <p:cNvPr id="7" name="TextBox 6"/>
          <p:cNvSpPr txBox="1"/>
          <p:nvPr/>
        </p:nvSpPr>
        <p:spPr>
          <a:xfrm>
            <a:off x="1325880" y="1645920"/>
            <a:ext cx="2606039" cy="502920"/>
          </a:xfrm>
          <a:prstGeom prst="rect">
            <a:avLst/>
          </a:prstGeom>
          <a:noFill/>
        </p:spPr>
        <p:txBody>
          <a:bodyPr wrap="square" anchor="ctr" lIns="45720" rIns="45720">
            <a:spAutoFit/>
          </a:bodyPr>
          <a:lstStyle/>
          <a:p>
            <a:pPr algn="l">
              <a:spcAft>
                <a:spcPts val="400"/>
              </a:spcAft>
            </a:pPr>
            <a:r>
              <a:rPr sz="1700" b="1" i="0">
                <a:solidFill>
                  <a:srgbClr val="0F2A33"/>
                </a:solidFill>
                <a:latin typeface="Calibri"/>
              </a:rPr>
              <a:t>Several time steps</a:t>
            </a:r>
          </a:p>
        </p:txBody>
      </p:sp>
      <p:sp>
        <p:nvSpPr>
          <p:cNvPr id="8" name="TextBox 7"/>
          <p:cNvSpPr txBox="1"/>
          <p:nvPr/>
        </p:nvSpPr>
        <p:spPr>
          <a:xfrm>
            <a:off x="777240" y="2240280"/>
            <a:ext cx="3154679" cy="1234440"/>
          </a:xfrm>
          <a:prstGeom prst="rect">
            <a:avLst/>
          </a:prstGeom>
          <a:noFill/>
        </p:spPr>
        <p:txBody>
          <a:bodyPr wrap="square" anchor="t" lIns="45720" rIns="45720">
            <a:spAutoFit/>
          </a:bodyPr>
          <a:lstStyle/>
          <a:p>
            <a:pPr algn="l">
              <a:spcAft>
                <a:spcPts val="400"/>
              </a:spcAft>
            </a:pPr>
            <a:r>
              <a:rPr sz="1500" b="0" i="0">
                <a:solidFill>
                  <a:srgbClr val="0F2A33"/>
                </a:solidFill>
                <a:latin typeface="Calibri"/>
              </a:rPr>
              <a:t>8 iterations instead of one pass. Fine here (28 ≪ 84 ticks), but a one-pass network would be faster.</a:t>
            </a:r>
          </a:p>
        </p:txBody>
      </p:sp>
      <p:sp>
        <p:nvSpPr>
          <p:cNvPr id="9" name="Rounded Rectangle 8"/>
          <p:cNvSpPr/>
          <p:nvPr/>
        </p:nvSpPr>
        <p:spPr>
          <a:xfrm>
            <a:off x="4297679" y="1463040"/>
            <a:ext cx="3566160" cy="214884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0" name="Oval 9"/>
          <p:cNvSpPr/>
          <p:nvPr/>
        </p:nvSpPr>
        <p:spPr>
          <a:xfrm>
            <a:off x="4480559" y="1645920"/>
            <a:ext cx="457200" cy="457200"/>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600" b="1" i="0">
                <a:solidFill>
                  <a:srgbClr val="FFFFFF"/>
                </a:solidFill>
                <a:latin typeface="Calibri"/>
              </a:rPr>
              <a:t>2</a:t>
            </a:r>
          </a:p>
        </p:txBody>
      </p:sp>
      <p:sp>
        <p:nvSpPr>
          <p:cNvPr id="11" name="TextBox 10"/>
          <p:cNvSpPr txBox="1"/>
          <p:nvPr/>
        </p:nvSpPr>
        <p:spPr>
          <a:xfrm>
            <a:off x="5074919" y="1645920"/>
            <a:ext cx="2606040" cy="502920"/>
          </a:xfrm>
          <a:prstGeom prst="rect">
            <a:avLst/>
          </a:prstGeom>
          <a:noFill/>
        </p:spPr>
        <p:txBody>
          <a:bodyPr wrap="square" anchor="ctr" lIns="45720" rIns="45720">
            <a:spAutoFit/>
          </a:bodyPr>
          <a:lstStyle/>
          <a:p>
            <a:pPr algn="l">
              <a:spcAft>
                <a:spcPts val="400"/>
              </a:spcAft>
            </a:pPr>
            <a:r>
              <a:rPr sz="1700" b="1" i="0">
                <a:solidFill>
                  <a:srgbClr val="0F2A33"/>
                </a:solidFill>
                <a:latin typeface="Calibri"/>
              </a:rPr>
              <a:t>Extra state</a:t>
            </a:r>
          </a:p>
        </p:txBody>
      </p:sp>
      <p:sp>
        <p:nvSpPr>
          <p:cNvPr id="12" name="TextBox 11"/>
          <p:cNvSpPr txBox="1"/>
          <p:nvPr/>
        </p:nvSpPr>
        <p:spPr>
          <a:xfrm>
            <a:off x="4526279" y="2240280"/>
            <a:ext cx="3154679" cy="1234440"/>
          </a:xfrm>
          <a:prstGeom prst="rect">
            <a:avLst/>
          </a:prstGeom>
          <a:noFill/>
        </p:spPr>
        <p:txBody>
          <a:bodyPr wrap="square" anchor="t" lIns="45720" rIns="45720">
            <a:spAutoFit/>
          </a:bodyPr>
          <a:lstStyle/>
          <a:p>
            <a:pPr algn="l">
              <a:spcAft>
                <a:spcPts val="400"/>
              </a:spcAft>
            </a:pPr>
            <a:r>
              <a:rPr sz="1500" b="0" i="0">
                <a:solidFill>
                  <a:srgbClr val="0F2A33"/>
                </a:solidFill>
                <a:latin typeface="Calibri"/>
              </a:rPr>
              <a:t>Each neuron needs a 20-bit charge register: ~990 flip-flops in our network. A plain MLP needs none.</a:t>
            </a:r>
          </a:p>
        </p:txBody>
      </p:sp>
      <p:sp>
        <p:nvSpPr>
          <p:cNvPr id="13" name="Rounded Rectangle 12"/>
          <p:cNvSpPr/>
          <p:nvPr/>
        </p:nvSpPr>
        <p:spPr>
          <a:xfrm>
            <a:off x="8046719" y="1463040"/>
            <a:ext cx="3566160" cy="214884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4" name="Oval 13"/>
          <p:cNvSpPr/>
          <p:nvPr/>
        </p:nvSpPr>
        <p:spPr>
          <a:xfrm>
            <a:off x="8229599" y="1645920"/>
            <a:ext cx="457200" cy="457200"/>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600" b="1" i="0">
                <a:solidFill>
                  <a:srgbClr val="FFFFFF"/>
                </a:solidFill>
                <a:latin typeface="Calibri"/>
              </a:rPr>
              <a:t>3</a:t>
            </a:r>
          </a:p>
        </p:txBody>
      </p:sp>
      <p:sp>
        <p:nvSpPr>
          <p:cNvPr id="15" name="TextBox 14"/>
          <p:cNvSpPr txBox="1"/>
          <p:nvPr/>
        </p:nvSpPr>
        <p:spPr>
          <a:xfrm>
            <a:off x="8823959" y="1645920"/>
            <a:ext cx="2606040" cy="502920"/>
          </a:xfrm>
          <a:prstGeom prst="rect">
            <a:avLst/>
          </a:prstGeom>
          <a:noFill/>
        </p:spPr>
        <p:txBody>
          <a:bodyPr wrap="square" anchor="ctr" lIns="45720" rIns="45720">
            <a:spAutoFit/>
          </a:bodyPr>
          <a:lstStyle/>
          <a:p>
            <a:pPr algn="l">
              <a:spcAft>
                <a:spcPts val="400"/>
              </a:spcAft>
            </a:pPr>
            <a:r>
              <a:rPr sz="1700" b="1" i="0">
                <a:solidFill>
                  <a:srgbClr val="0F2A33"/>
                </a:solidFill>
                <a:latin typeface="Calibri"/>
              </a:rPr>
              <a:t>Harder training</a:t>
            </a:r>
          </a:p>
        </p:txBody>
      </p:sp>
      <p:sp>
        <p:nvSpPr>
          <p:cNvPr id="16" name="TextBox 15"/>
          <p:cNvSpPr txBox="1"/>
          <p:nvPr/>
        </p:nvSpPr>
        <p:spPr>
          <a:xfrm>
            <a:off x="8275319" y="2240280"/>
            <a:ext cx="3154679" cy="1234440"/>
          </a:xfrm>
          <a:prstGeom prst="rect">
            <a:avLst/>
          </a:prstGeom>
          <a:noFill/>
        </p:spPr>
        <p:txBody>
          <a:bodyPr wrap="square" anchor="t" lIns="45720" rIns="45720">
            <a:spAutoFit/>
          </a:bodyPr>
          <a:lstStyle/>
          <a:p>
            <a:pPr algn="l">
              <a:spcAft>
                <a:spcPts val="400"/>
              </a:spcAft>
            </a:pPr>
            <a:r>
              <a:rPr sz="1500" b="0" i="0">
                <a:solidFill>
                  <a:srgbClr val="0F2A33"/>
                </a:solidFill>
                <a:latin typeface="Calibri"/>
              </a:rPr>
              <a:t>Spikes are not differentiable: surrogate gradients and integer-exact simulation are needed.</a:t>
            </a:r>
          </a:p>
        </p:txBody>
      </p:sp>
      <p:sp>
        <p:nvSpPr>
          <p:cNvPr id="17" name="Rounded Rectangle 16"/>
          <p:cNvSpPr/>
          <p:nvPr/>
        </p:nvSpPr>
        <p:spPr>
          <a:xfrm>
            <a:off x="548640" y="3794760"/>
            <a:ext cx="3566160" cy="214884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8" name="Oval 17"/>
          <p:cNvSpPr/>
          <p:nvPr/>
        </p:nvSpPr>
        <p:spPr>
          <a:xfrm>
            <a:off x="731520" y="3977640"/>
            <a:ext cx="457200" cy="457200"/>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600" b="1" i="0">
                <a:solidFill>
                  <a:srgbClr val="FFFFFF"/>
                </a:solidFill>
                <a:latin typeface="Calibri"/>
              </a:rPr>
              <a:t>4</a:t>
            </a:r>
          </a:p>
        </p:txBody>
      </p:sp>
      <p:sp>
        <p:nvSpPr>
          <p:cNvPr id="19" name="TextBox 18"/>
          <p:cNvSpPr txBox="1"/>
          <p:nvPr/>
        </p:nvSpPr>
        <p:spPr>
          <a:xfrm>
            <a:off x="1325880" y="3977640"/>
            <a:ext cx="2606039" cy="502920"/>
          </a:xfrm>
          <a:prstGeom prst="rect">
            <a:avLst/>
          </a:prstGeom>
          <a:noFill/>
        </p:spPr>
        <p:txBody>
          <a:bodyPr wrap="square" anchor="ctr" lIns="45720" rIns="45720">
            <a:spAutoFit/>
          </a:bodyPr>
          <a:lstStyle/>
          <a:p>
            <a:pPr algn="l">
              <a:spcAft>
                <a:spcPts val="400"/>
              </a:spcAft>
            </a:pPr>
            <a:r>
              <a:rPr sz="1700" b="1" i="0">
                <a:solidFill>
                  <a:srgbClr val="0F2A33"/>
                </a:solidFill>
                <a:latin typeface="Calibri"/>
              </a:rPr>
              <a:t>No automatic energy win</a:t>
            </a:r>
          </a:p>
        </p:txBody>
      </p:sp>
      <p:sp>
        <p:nvSpPr>
          <p:cNvPr id="20" name="TextBox 19"/>
          <p:cNvSpPr txBox="1"/>
          <p:nvPr/>
        </p:nvSpPr>
        <p:spPr>
          <a:xfrm>
            <a:off x="777240" y="4572000"/>
            <a:ext cx="3154679" cy="1234440"/>
          </a:xfrm>
          <a:prstGeom prst="rect">
            <a:avLst/>
          </a:prstGeom>
          <a:noFill/>
        </p:spPr>
        <p:txBody>
          <a:bodyPr wrap="square" anchor="t" lIns="45720" rIns="45720">
            <a:spAutoFit/>
          </a:bodyPr>
          <a:lstStyle/>
          <a:p>
            <a:pPr algn="l">
              <a:spcAft>
                <a:spcPts val="400"/>
              </a:spcAft>
            </a:pPr>
            <a:r>
              <a:rPr sz="1500" b="0" i="0">
                <a:solidFill>
                  <a:srgbClr val="0F2A33"/>
                </a:solidFill>
                <a:latin typeface="Calibri"/>
              </a:rPr>
              <a:t>Plagwitz et al. 2023: on FPGAs SNNs can lose to CNNs in power on small tasks unless sparsity and clock gating are exploited.</a:t>
            </a:r>
          </a:p>
        </p:txBody>
      </p:sp>
      <p:sp>
        <p:nvSpPr>
          <p:cNvPr id="21" name="Rounded Rectangle 20"/>
          <p:cNvSpPr/>
          <p:nvPr/>
        </p:nvSpPr>
        <p:spPr>
          <a:xfrm>
            <a:off x="4297679" y="3794760"/>
            <a:ext cx="3566160" cy="214884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2" name="Oval 21"/>
          <p:cNvSpPr/>
          <p:nvPr/>
        </p:nvSpPr>
        <p:spPr>
          <a:xfrm>
            <a:off x="4480559" y="3977640"/>
            <a:ext cx="457200" cy="457200"/>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600" b="1" i="0">
                <a:solidFill>
                  <a:srgbClr val="FFFFFF"/>
                </a:solidFill>
                <a:latin typeface="Calibri"/>
              </a:rPr>
              <a:t>5</a:t>
            </a:r>
          </a:p>
        </p:txBody>
      </p:sp>
      <p:sp>
        <p:nvSpPr>
          <p:cNvPr id="23" name="TextBox 22"/>
          <p:cNvSpPr txBox="1"/>
          <p:nvPr/>
        </p:nvSpPr>
        <p:spPr>
          <a:xfrm>
            <a:off x="5074919" y="3977640"/>
            <a:ext cx="2606040" cy="502920"/>
          </a:xfrm>
          <a:prstGeom prst="rect">
            <a:avLst/>
          </a:prstGeom>
          <a:noFill/>
        </p:spPr>
        <p:txBody>
          <a:bodyPr wrap="square" anchor="ctr" lIns="45720" rIns="45720">
            <a:spAutoFit/>
          </a:bodyPr>
          <a:lstStyle/>
          <a:p>
            <a:pPr algn="l">
              <a:spcAft>
                <a:spcPts val="400"/>
              </a:spcAft>
            </a:pPr>
            <a:r>
              <a:rPr sz="1700" b="1" i="0">
                <a:solidFill>
                  <a:srgbClr val="0F2A33"/>
                </a:solidFill>
                <a:latin typeface="Calibri"/>
              </a:rPr>
              <a:t>Accuracy unproven on real traffic</a:t>
            </a:r>
          </a:p>
        </p:txBody>
      </p:sp>
      <p:sp>
        <p:nvSpPr>
          <p:cNvPr id="24" name="TextBox 23"/>
          <p:cNvSpPr txBox="1"/>
          <p:nvPr/>
        </p:nvSpPr>
        <p:spPr>
          <a:xfrm>
            <a:off x="4526279" y="4572000"/>
            <a:ext cx="3154679" cy="1234440"/>
          </a:xfrm>
          <a:prstGeom prst="rect">
            <a:avLst/>
          </a:prstGeom>
          <a:noFill/>
        </p:spPr>
        <p:txBody>
          <a:bodyPr wrap="square" anchor="t" lIns="45720" rIns="45720">
            <a:spAutoFit/>
          </a:bodyPr>
          <a:lstStyle/>
          <a:p>
            <a:pPr algn="l">
              <a:spcAft>
                <a:spcPts val="400"/>
              </a:spcAft>
            </a:pPr>
            <a:r>
              <a:rPr sz="1500" b="0" i="0">
                <a:solidFill>
                  <a:srgbClr val="0F2A33"/>
                </a:solidFill>
                <a:latin typeface="Calibri"/>
              </a:rPr>
              <a:t>99.7 % so far is on synthetic traffic. Real datasets (UNSW-NB15, CIC-IDS2017) come next.</a:t>
            </a:r>
          </a:p>
        </p:txBody>
      </p:sp>
      <p:sp>
        <p:nvSpPr>
          <p:cNvPr id="25" name="Rounded Rectangle 24"/>
          <p:cNvSpPr/>
          <p:nvPr/>
        </p:nvSpPr>
        <p:spPr>
          <a:xfrm>
            <a:off x="8046719" y="3794760"/>
            <a:ext cx="3566160" cy="214884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6" name="Oval 25"/>
          <p:cNvSpPr/>
          <p:nvPr/>
        </p:nvSpPr>
        <p:spPr>
          <a:xfrm>
            <a:off x="8229599" y="3977640"/>
            <a:ext cx="457200" cy="457200"/>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600" b="1" i="0">
                <a:solidFill>
                  <a:srgbClr val="FFFFFF"/>
                </a:solidFill>
                <a:latin typeface="Calibri"/>
              </a:rPr>
              <a:t>6</a:t>
            </a:r>
          </a:p>
        </p:txBody>
      </p:sp>
      <p:sp>
        <p:nvSpPr>
          <p:cNvPr id="27" name="TextBox 26"/>
          <p:cNvSpPr txBox="1"/>
          <p:nvPr/>
        </p:nvSpPr>
        <p:spPr>
          <a:xfrm>
            <a:off x="8823959" y="3977640"/>
            <a:ext cx="2606040" cy="502920"/>
          </a:xfrm>
          <a:prstGeom prst="rect">
            <a:avLst/>
          </a:prstGeom>
          <a:noFill/>
        </p:spPr>
        <p:txBody>
          <a:bodyPr wrap="square" anchor="ctr" lIns="45720" rIns="45720">
            <a:spAutoFit/>
          </a:bodyPr>
          <a:lstStyle/>
          <a:p>
            <a:pPr algn="l">
              <a:spcAft>
                <a:spcPts val="400"/>
              </a:spcAft>
            </a:pPr>
            <a:r>
              <a:rPr sz="1700" b="1" i="0">
                <a:solidFill>
                  <a:srgbClr val="0F2A33"/>
                </a:solidFill>
                <a:latin typeface="Calibri"/>
              </a:rPr>
              <a:t>Memory dominates</a:t>
            </a:r>
          </a:p>
        </p:txBody>
      </p:sp>
      <p:sp>
        <p:nvSpPr>
          <p:cNvPr id="28" name="TextBox 27"/>
          <p:cNvSpPr txBox="1"/>
          <p:nvPr/>
        </p:nvSpPr>
        <p:spPr>
          <a:xfrm>
            <a:off x="8275319" y="4572000"/>
            <a:ext cx="3154679" cy="1234440"/>
          </a:xfrm>
          <a:prstGeom prst="rect">
            <a:avLst/>
          </a:prstGeom>
          <a:noFill/>
        </p:spPr>
        <p:txBody>
          <a:bodyPr wrap="square" anchor="t" lIns="45720" rIns="45720">
            <a:spAutoFit/>
          </a:bodyPr>
          <a:lstStyle/>
          <a:p>
            <a:pPr algn="l">
              <a:spcAft>
                <a:spcPts val="400"/>
              </a:spcAft>
            </a:pPr>
            <a:r>
              <a:rPr sz="1500" b="0" i="0">
                <a:solidFill>
                  <a:srgbClr val="0F2A33"/>
                </a:solidFill>
                <a:latin typeface="Calibri"/>
              </a:rPr>
              <a:t>Our chip is 74 % flip-flops, mostly the packet buffer and weights, not the neurons. SRAM would fix 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2A33"/>
        </a:solidFill>
        <a:effectLst/>
      </p:bgPr>
    </p:bg>
    <p:spTree>
      <p:nvGrpSpPr>
        <p:cNvPr id="1" name=""/>
        <p:cNvGrpSpPr/>
        <p:nvPr/>
      </p:nvGrpSpPr>
      <p:grpSpPr/>
      <p:sp>
        <p:nvSpPr>
          <p:cNvPr id="2" name="TextBox 1"/>
          <p:cNvSpPr txBox="1"/>
          <p:nvPr/>
        </p:nvSpPr>
        <p:spPr>
          <a:xfrm>
            <a:off x="11002975" y="6400800"/>
            <a:ext cx="822960" cy="274320"/>
          </a:xfrm>
          <a:prstGeom prst="rect">
            <a:avLst/>
          </a:prstGeom>
          <a:noFill/>
        </p:spPr>
        <p:txBody>
          <a:bodyPr wrap="square" anchor="t" lIns="45720" rIns="45720">
            <a:spAutoFit/>
          </a:bodyPr>
          <a:lstStyle/>
          <a:p>
            <a:pPr algn="r">
              <a:spcAft>
                <a:spcPts val="400"/>
              </a:spcAft>
            </a:pPr>
            <a:r>
              <a:rPr sz="1100" b="0" i="0">
                <a:solidFill>
                  <a:srgbClr val="9FB3BA"/>
                </a:solidFill>
                <a:latin typeface="Calibri"/>
              </a:rPr>
              <a:t>12</a:t>
            </a:r>
          </a:p>
        </p:txBody>
      </p:sp>
      <p:sp>
        <p:nvSpPr>
          <p:cNvPr id="3" name="Oval 2"/>
          <p:cNvSpPr/>
          <p:nvPr/>
        </p:nvSpPr>
        <p:spPr>
          <a:xfrm>
            <a:off x="548640" y="2148840"/>
            <a:ext cx="914400" cy="9144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3400" b="1" i="0">
                <a:solidFill>
                  <a:srgbClr val="0F2A33"/>
                </a:solidFill>
                <a:latin typeface="Calibri"/>
              </a:rPr>
              <a:t>2</a:t>
            </a:r>
          </a:p>
        </p:txBody>
      </p:sp>
      <p:sp>
        <p:nvSpPr>
          <p:cNvPr id="4" name="TextBox 3"/>
          <p:cNvSpPr txBox="1"/>
          <p:nvPr/>
        </p:nvSpPr>
        <p:spPr>
          <a:xfrm>
            <a:off x="1737360" y="2057400"/>
            <a:ext cx="9601200" cy="1097280"/>
          </a:xfrm>
          <a:prstGeom prst="rect">
            <a:avLst/>
          </a:prstGeom>
          <a:noFill/>
        </p:spPr>
        <p:txBody>
          <a:bodyPr wrap="square" anchor="ctr" lIns="45720" rIns="45720">
            <a:spAutoFit/>
          </a:bodyPr>
          <a:lstStyle/>
          <a:p>
            <a:pPr algn="l">
              <a:spcAft>
                <a:spcPts val="400"/>
              </a:spcAft>
            </a:pPr>
            <a:r>
              <a:rPr sz="4000" b="1" i="0">
                <a:solidFill>
                  <a:srgbClr val="FFFFFF"/>
                </a:solidFill>
                <a:latin typeface="Cambria"/>
              </a:rPr>
              <a:t>Our design</a:t>
            </a:r>
          </a:p>
        </p:txBody>
      </p:sp>
      <p:sp>
        <p:nvSpPr>
          <p:cNvPr id="5" name="TextBox 4"/>
          <p:cNvSpPr txBox="1"/>
          <p:nvPr/>
        </p:nvSpPr>
        <p:spPr>
          <a:xfrm>
            <a:off x="1737360" y="3200400"/>
            <a:ext cx="9144000" cy="1280160"/>
          </a:xfrm>
          <a:prstGeom prst="rect">
            <a:avLst/>
          </a:prstGeom>
          <a:noFill/>
        </p:spPr>
        <p:txBody>
          <a:bodyPr wrap="square" anchor="t" lIns="45720" rIns="45720">
            <a:spAutoFit/>
          </a:bodyPr>
          <a:lstStyle/>
          <a:p>
            <a:pPr algn="l">
              <a:spcAft>
                <a:spcPts val="400"/>
              </a:spcAft>
            </a:pPr>
            <a:r>
              <a:rPr sz="1800" b="0" i="0">
                <a:solidFill>
                  <a:srgbClr val="B9CBD0"/>
                </a:solidFill>
                <a:latin typeface="Calibri"/>
              </a:rPr>
              <a:t>From an Ethernet frame to 64 yes/no spikes to a verdict, and the hardware inside each neuron.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02975" y="6400800"/>
            <a:ext cx="822960" cy="274320"/>
          </a:xfrm>
          <a:prstGeom prst="rect">
            <a:avLst/>
          </a:prstGeom>
          <a:noFill/>
        </p:spPr>
        <p:txBody>
          <a:bodyPr wrap="square" anchor="t" lIns="45720" rIns="45720">
            <a:spAutoFit/>
          </a:bodyPr>
          <a:lstStyle/>
          <a:p>
            <a:pPr algn="r">
              <a:spcAft>
                <a:spcPts val="400"/>
              </a:spcAft>
            </a:pPr>
            <a:r>
              <a:rPr sz="1100" b="0" i="0">
                <a:solidFill>
                  <a:srgbClr val="5F6F78"/>
                </a:solidFill>
                <a:latin typeface="Calibri"/>
              </a:rPr>
              <a:t>13</a:t>
            </a:r>
          </a:p>
        </p:txBody>
      </p:sp>
      <p:sp>
        <p:nvSpPr>
          <p:cNvPr id="3" name="TextBox 2"/>
          <p:cNvSpPr txBox="1"/>
          <p:nvPr/>
        </p:nvSpPr>
        <p:spPr>
          <a:xfrm>
            <a:off x="548640" y="6400800"/>
            <a:ext cx="7315200" cy="274320"/>
          </a:xfrm>
          <a:prstGeom prst="rect">
            <a:avLst/>
          </a:prstGeom>
          <a:noFill/>
        </p:spPr>
        <p:txBody>
          <a:bodyPr wrap="square" anchor="t" lIns="45720" rIns="45720">
            <a:spAutoFit/>
          </a:bodyPr>
          <a:lstStyle/>
          <a:p>
            <a:pPr algn="l">
              <a:spcAft>
                <a:spcPts val="400"/>
              </a:spcAft>
            </a:pPr>
            <a:r>
              <a:rPr sz="1100" b="0" i="0">
                <a:solidFill>
                  <a:srgbClr val="5F6F78"/>
                </a:solidFill>
                <a:latin typeface="Calibri"/>
              </a:rPr>
              <a:t>2  Our design</a:t>
            </a:r>
          </a:p>
        </p:txBody>
      </p:sp>
      <p:sp>
        <p:nvSpPr>
          <p:cNvPr id="4" name="Title"/>
          <p:cNvSpPr txBox="1"/>
          <p:nvPr/>
        </p:nvSpPr>
        <p:spPr>
          <a:xfrm>
            <a:off x="548640" y="320040"/>
            <a:ext cx="11064240" cy="777240"/>
          </a:xfrm>
          <a:prstGeom prst="rect">
            <a:avLst/>
          </a:prstGeom>
          <a:noFill/>
        </p:spPr>
        <p:txBody>
          <a:bodyPr wrap="square" anchor="ctr" lIns="45720" rIns="45720">
            <a:spAutoFit/>
          </a:bodyPr>
          <a:lstStyle/>
          <a:p>
            <a:pPr algn="l">
              <a:spcAft>
                <a:spcPts val="400"/>
              </a:spcAft>
            </a:pPr>
            <a:r>
              <a:rPr sz="3400" b="1" i="0">
                <a:solidFill>
                  <a:srgbClr val="0F2A33"/>
                </a:solidFill>
                <a:latin typeface="Cambria"/>
              </a:rPr>
              <a:t>The architecture in one picture</a:t>
            </a:r>
          </a:p>
        </p:txBody>
      </p:sp>
      <p:pic>
        <p:nvPicPr>
          <p:cNvPr id="5" name="Picture 4" descr="Network to MAC to the firewall block (packet buffer, header reader, 64 questions, spiking neural net, verdict gate) to the computer"/>
          <p:cNvPicPr>
            <a:picLocks noChangeAspect="1"/>
          </p:cNvPicPr>
          <p:nvPr/>
        </p:nvPicPr>
        <p:blipFill>
          <a:blip r:embed="rId3"/>
          <a:stretch>
            <a:fillRect/>
          </a:stretch>
        </p:blipFill>
        <p:spPr>
          <a:xfrm>
            <a:off x="1143000" y="1234440"/>
            <a:ext cx="9875520" cy="4608576"/>
          </a:xfrm>
          <a:prstGeom prst="rect">
            <a:avLst/>
          </a:prstGeom>
        </p:spPr>
      </p:pic>
      <p:sp>
        <p:nvSpPr>
          <p:cNvPr id="6" name="TextBox 5"/>
          <p:cNvSpPr txBox="1"/>
          <p:nvPr/>
        </p:nvSpPr>
        <p:spPr>
          <a:xfrm>
            <a:off x="1143000" y="5897880"/>
            <a:ext cx="9875520" cy="365760"/>
          </a:xfrm>
          <a:prstGeom prst="rect">
            <a:avLst/>
          </a:prstGeom>
          <a:noFill/>
        </p:spPr>
        <p:txBody>
          <a:bodyPr wrap="square" anchor="t" lIns="45720" rIns="45720">
            <a:spAutoFit/>
          </a:bodyPr>
          <a:lstStyle/>
          <a:p>
            <a:pPr algn="l">
              <a:spcAft>
                <a:spcPts val="400"/>
              </a:spcAft>
            </a:pPr>
            <a:r>
              <a:rPr sz="1500" b="0" i="1">
                <a:solidFill>
                  <a:srgbClr val="5F6F78"/>
                </a:solidFill>
                <a:latin typeface="Calibri"/>
              </a:rPr>
              <a:t>Never blocks the network · keeps frame order · drops whole frames only when overloaded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02975" y="6400800"/>
            <a:ext cx="822960" cy="274320"/>
          </a:xfrm>
          <a:prstGeom prst="rect">
            <a:avLst/>
          </a:prstGeom>
          <a:noFill/>
        </p:spPr>
        <p:txBody>
          <a:bodyPr wrap="square" anchor="t" lIns="45720" rIns="45720">
            <a:spAutoFit/>
          </a:bodyPr>
          <a:lstStyle/>
          <a:p>
            <a:pPr algn="r">
              <a:spcAft>
                <a:spcPts val="400"/>
              </a:spcAft>
            </a:pPr>
            <a:r>
              <a:rPr sz="1100" b="0" i="0">
                <a:solidFill>
                  <a:srgbClr val="5F6F78"/>
                </a:solidFill>
                <a:latin typeface="Calibri"/>
              </a:rPr>
              <a:t>14</a:t>
            </a:r>
          </a:p>
        </p:txBody>
      </p:sp>
      <p:sp>
        <p:nvSpPr>
          <p:cNvPr id="3" name="TextBox 2"/>
          <p:cNvSpPr txBox="1"/>
          <p:nvPr/>
        </p:nvSpPr>
        <p:spPr>
          <a:xfrm>
            <a:off x="548640" y="6400800"/>
            <a:ext cx="7315200" cy="274320"/>
          </a:xfrm>
          <a:prstGeom prst="rect">
            <a:avLst/>
          </a:prstGeom>
          <a:noFill/>
        </p:spPr>
        <p:txBody>
          <a:bodyPr wrap="square" anchor="t" lIns="45720" rIns="45720">
            <a:spAutoFit/>
          </a:bodyPr>
          <a:lstStyle/>
          <a:p>
            <a:pPr algn="l">
              <a:spcAft>
                <a:spcPts val="400"/>
              </a:spcAft>
            </a:pPr>
            <a:r>
              <a:rPr sz="1100" b="0" i="0">
                <a:solidFill>
                  <a:srgbClr val="5F6F78"/>
                </a:solidFill>
                <a:latin typeface="Calibri"/>
              </a:rPr>
              <a:t>2  Our design</a:t>
            </a:r>
          </a:p>
        </p:txBody>
      </p:sp>
      <p:sp>
        <p:nvSpPr>
          <p:cNvPr id="4" name="Title"/>
          <p:cNvSpPr txBox="1"/>
          <p:nvPr/>
        </p:nvSpPr>
        <p:spPr>
          <a:xfrm>
            <a:off x="548640" y="320040"/>
            <a:ext cx="11064240" cy="777240"/>
          </a:xfrm>
          <a:prstGeom prst="rect">
            <a:avLst/>
          </a:prstGeom>
          <a:noFill/>
        </p:spPr>
        <p:txBody>
          <a:bodyPr wrap="square" anchor="ctr" lIns="45720" rIns="45720">
            <a:spAutoFit/>
          </a:bodyPr>
          <a:lstStyle/>
          <a:p>
            <a:pPr algn="l">
              <a:spcAft>
                <a:spcPts val="400"/>
              </a:spcAft>
            </a:pPr>
            <a:r>
              <a:rPr sz="3400" b="1" i="0">
                <a:solidFill>
                  <a:srgbClr val="0F2A33"/>
                </a:solidFill>
                <a:latin typeface="Cambria"/>
              </a:rPr>
              <a:t>From a frame to 64 yes/no spikes</a:t>
            </a:r>
          </a:p>
        </p:txBody>
      </p:sp>
      <p:sp>
        <p:nvSpPr>
          <p:cNvPr id="5" name="Subtitle"/>
          <p:cNvSpPr txBox="1"/>
          <p:nvPr/>
        </p:nvSpPr>
        <p:spPr>
          <a:xfrm>
            <a:off x="548640" y="1051560"/>
            <a:ext cx="11064240" cy="411480"/>
          </a:xfrm>
          <a:prstGeom prst="rect">
            <a:avLst/>
          </a:prstGeom>
          <a:noFill/>
        </p:spPr>
        <p:txBody>
          <a:bodyPr wrap="square" anchor="t" lIns="45720" rIns="45720">
            <a:spAutoFit/>
          </a:bodyPr>
          <a:lstStyle/>
          <a:p>
            <a:pPr algn="l">
              <a:spcAft>
                <a:spcPts val="400"/>
              </a:spcAft>
            </a:pPr>
            <a:r>
              <a:rPr sz="1600" b="0" i="1">
                <a:solidFill>
                  <a:srgbClr val="5F6F78"/>
                </a:solidFill>
                <a:latin typeface="Calibri"/>
              </a:rPr>
              <a:t>pkt_parser reads the header; spike_encoder asks 64 questions</a:t>
            </a:r>
          </a:p>
        </p:txBody>
      </p:sp>
      <p:graphicFrame>
        <p:nvGraphicFramePr>
          <p:cNvPr id="6" name="Table 5"/>
          <p:cNvGraphicFramePr>
            <a:graphicFrameLocks noGrp="1"/>
          </p:cNvGraphicFramePr>
          <p:nvPr/>
        </p:nvGraphicFramePr>
        <p:xfrm>
          <a:off x="548640" y="1691640"/>
          <a:ext cx="6035040" cy="4096512"/>
        </p:xfrm>
        <a:graphic>
          <a:graphicData uri="http://schemas.openxmlformats.org/drawingml/2006/table">
            <a:tbl>
              <a:tblPr firstRow="1" bandRow="1">
                <a:tableStyleId>{5C22544A-7EE6-4342-B048-85BDC9FD1C3A}</a:tableStyleId>
              </a:tblPr>
              <a:tblGrid>
                <a:gridCol w="914400"/>
                <a:gridCol w="3840480"/>
                <a:gridCol w="1280160"/>
              </a:tblGrid>
              <a:tr h="512064">
                <a:tc>
                  <a:txBody>
                    <a:bodyPr wrap="square"/>
                    <a:lstStyle/>
                    <a:p>
                      <a:r>
                        <a:rPr sz="1400" b="1">
                          <a:solidFill>
                            <a:srgbClr val="FFFFFF"/>
                          </a:solidFill>
                          <a:latin typeface="Calibri"/>
                        </a:rPr>
                        <a:t>bits</a:t>
                      </a:r>
                    </a:p>
                  </a:txBody>
                  <a:tcPr marL="73152" marR="73152" marT="36576" marB="36576" anchor="ctr">
                    <a:solidFill>
                      <a:srgbClr val="1B4D5C"/>
                    </a:solidFill>
                  </a:tcPr>
                </a:tc>
                <a:tc>
                  <a:txBody>
                    <a:bodyPr wrap="square"/>
                    <a:lstStyle/>
                    <a:p>
                      <a:r>
                        <a:rPr sz="1400" b="1">
                          <a:solidFill>
                            <a:srgbClr val="FFFFFF"/>
                          </a:solidFill>
                          <a:latin typeface="Calibri"/>
                        </a:rPr>
                        <a:t>question</a:t>
                      </a:r>
                    </a:p>
                  </a:txBody>
                  <a:tcPr marL="73152" marR="73152" marT="36576" marB="36576" anchor="ctr">
                    <a:solidFill>
                      <a:srgbClr val="1B4D5C"/>
                    </a:solidFill>
                  </a:tcPr>
                </a:tc>
                <a:tc>
                  <a:txBody>
                    <a:bodyPr wrap="square"/>
                    <a:lstStyle/>
                    <a:p>
                      <a:r>
                        <a:rPr sz="1400" b="1">
                          <a:solidFill>
                            <a:srgbClr val="FFFFFF"/>
                          </a:solidFill>
                          <a:latin typeface="Calibri"/>
                        </a:rPr>
                        <a:t>type</a:t>
                      </a:r>
                    </a:p>
                  </a:txBody>
                  <a:tcPr marL="73152" marR="73152" marT="36576" marB="36576" anchor="ctr">
                    <a:solidFill>
                      <a:srgbClr val="1B4D5C"/>
                    </a:solidFill>
                  </a:tcPr>
                </a:tc>
              </a:tr>
              <a:tr h="512064">
                <a:tc>
                  <a:txBody>
                    <a:bodyPr wrap="square"/>
                    <a:lstStyle/>
                    <a:p>
                      <a:r>
                        <a:rPr sz="1400" b="1">
                          <a:solidFill>
                            <a:srgbClr val="0F2A33"/>
                          </a:solidFill>
                          <a:latin typeface="Calibri"/>
                        </a:rPr>
                        <a:t>1–8</a:t>
                      </a:r>
                    </a:p>
                  </a:txBody>
                  <a:tcPr marL="73152" marR="73152" marT="36576" marB="36576" anchor="ctr">
                    <a:solidFill>
                      <a:srgbClr val="FFFFFF"/>
                    </a:solidFill>
                  </a:tcPr>
                </a:tc>
                <a:tc>
                  <a:txBody>
                    <a:bodyPr wrap="square"/>
                    <a:lstStyle/>
                    <a:p>
                      <a:r>
                        <a:rPr sz="1400" b="0">
                          <a:solidFill>
                            <a:srgbClr val="0F2A33"/>
                          </a:solidFill>
                          <a:latin typeface="Calibri"/>
                        </a:rPr>
                        <a:t>IPv4? ARP? IPv6? TCP? UDP? ICMP?</a:t>
                      </a:r>
                    </a:p>
                  </a:txBody>
                  <a:tcPr marL="73152" marR="73152" marT="36576" marB="36576" anchor="ctr">
                    <a:solidFill>
                      <a:srgbClr val="FFFFFF"/>
                    </a:solidFill>
                  </a:tcPr>
                </a:tc>
                <a:tc>
                  <a:txBody>
                    <a:bodyPr wrap="square"/>
                    <a:lstStyle/>
                    <a:p>
                      <a:r>
                        <a:rPr sz="1400" b="0">
                          <a:solidFill>
                            <a:srgbClr val="0F2A33"/>
                          </a:solidFill>
                          <a:latin typeface="Calibri"/>
                        </a:rPr>
                        <a:t>protocol</a:t>
                      </a:r>
                    </a:p>
                  </a:txBody>
                  <a:tcPr marL="73152" marR="73152" marT="36576" marB="36576" anchor="ctr">
                    <a:solidFill>
                      <a:srgbClr val="FFFFFF"/>
                    </a:solidFill>
                  </a:tcPr>
                </a:tc>
              </a:tr>
              <a:tr h="512064">
                <a:tc>
                  <a:txBody>
                    <a:bodyPr wrap="square"/>
                    <a:lstStyle/>
                    <a:p>
                      <a:r>
                        <a:rPr sz="1400" b="1">
                          <a:solidFill>
                            <a:srgbClr val="0F2A33"/>
                          </a:solidFill>
                          <a:latin typeface="Calibri"/>
                        </a:rPr>
                        <a:t>15–23</a:t>
                      </a:r>
                    </a:p>
                  </a:txBody>
                  <a:tcPr marL="73152" marR="73152" marT="36576" marB="36576" anchor="ctr">
                    <a:solidFill>
                      <a:srgbClr val="EAF2F3"/>
                    </a:solidFill>
                  </a:tcPr>
                </a:tc>
                <a:tc>
                  <a:txBody>
                    <a:bodyPr wrap="square"/>
                    <a:lstStyle/>
                    <a:p>
                      <a:r>
                        <a:rPr sz="1400" b="0">
                          <a:solidFill>
                            <a:srgbClr val="0F2A33"/>
                          </a:solidFill>
                          <a:latin typeface="Calibri"/>
                        </a:rPr>
                        <a:t>TTL bucket? IP length bucket?</a:t>
                      </a:r>
                    </a:p>
                  </a:txBody>
                  <a:tcPr marL="73152" marR="73152" marT="36576" marB="36576" anchor="ctr">
                    <a:solidFill>
                      <a:srgbClr val="EAF2F3"/>
                    </a:solidFill>
                  </a:tcPr>
                </a:tc>
                <a:tc>
                  <a:txBody>
                    <a:bodyPr wrap="square"/>
                    <a:lstStyle/>
                    <a:p>
                      <a:r>
                        <a:rPr sz="1400" b="0">
                          <a:solidFill>
                            <a:srgbClr val="0F2A33"/>
                          </a:solidFill>
                          <a:latin typeface="Calibri"/>
                        </a:rPr>
                        <a:t>size</a:t>
                      </a:r>
                    </a:p>
                  </a:txBody>
                  <a:tcPr marL="73152" marR="73152" marT="36576" marB="36576" anchor="ctr">
                    <a:solidFill>
                      <a:srgbClr val="EAF2F3"/>
                    </a:solidFill>
                  </a:tcPr>
                </a:tc>
              </a:tr>
              <a:tr h="512064">
                <a:tc>
                  <a:txBody>
                    <a:bodyPr wrap="square"/>
                    <a:lstStyle/>
                    <a:p>
                      <a:r>
                        <a:rPr sz="1400" b="1">
                          <a:solidFill>
                            <a:srgbClr val="0F2A33"/>
                          </a:solidFill>
                          <a:latin typeface="Calibri"/>
                        </a:rPr>
                        <a:t>24–26</a:t>
                      </a:r>
                    </a:p>
                  </a:txBody>
                  <a:tcPr marL="73152" marR="73152" marT="36576" marB="36576" anchor="ctr">
                    <a:solidFill>
                      <a:srgbClr val="FFFFFF"/>
                    </a:solidFill>
                  </a:tcPr>
                </a:tc>
                <a:tc>
                  <a:txBody>
                    <a:bodyPr wrap="square"/>
                    <a:lstStyle/>
                    <a:p>
                      <a:r>
                        <a:rPr sz="1400" b="0">
                          <a:solidFill>
                            <a:srgbClr val="0F2A33"/>
                          </a:solidFill>
                          <a:latin typeface="Calibri"/>
                        </a:rPr>
                        <a:t>source = destination? bogus source? broadcast?</a:t>
                      </a:r>
                    </a:p>
                  </a:txBody>
                  <a:tcPr marL="73152" marR="73152" marT="36576" marB="36576" anchor="ctr">
                    <a:solidFill>
                      <a:srgbClr val="FFFFFF"/>
                    </a:solidFill>
                  </a:tcPr>
                </a:tc>
                <a:tc>
                  <a:txBody>
                    <a:bodyPr wrap="square"/>
                    <a:lstStyle/>
                    <a:p>
                      <a:r>
                        <a:rPr sz="1400" b="0">
                          <a:solidFill>
                            <a:srgbClr val="0F2A33"/>
                          </a:solidFill>
                          <a:latin typeface="Calibri"/>
                        </a:rPr>
                        <a:t>suspicious</a:t>
                      </a:r>
                    </a:p>
                  </a:txBody>
                  <a:tcPr marL="73152" marR="73152" marT="36576" marB="36576" anchor="ctr">
                    <a:solidFill>
                      <a:srgbClr val="FFFFFF"/>
                    </a:solidFill>
                  </a:tcPr>
                </a:tc>
              </a:tr>
              <a:tr h="512064">
                <a:tc>
                  <a:txBody>
                    <a:bodyPr wrap="square"/>
                    <a:lstStyle/>
                    <a:p>
                      <a:r>
                        <a:rPr sz="1400" b="1">
                          <a:solidFill>
                            <a:srgbClr val="0F2A33"/>
                          </a:solidFill>
                          <a:latin typeface="Calibri"/>
                        </a:rPr>
                        <a:t>27–33</a:t>
                      </a:r>
                    </a:p>
                  </a:txBody>
                  <a:tcPr marL="73152" marR="73152" marT="36576" marB="36576" anchor="ctr">
                    <a:solidFill>
                      <a:srgbClr val="EAF2F3"/>
                    </a:solidFill>
                  </a:tcPr>
                </a:tc>
                <a:tc>
                  <a:txBody>
                    <a:bodyPr wrap="square"/>
                    <a:lstStyle/>
                    <a:p>
                      <a:r>
                        <a:rPr sz="1400" b="0">
                          <a:solidFill>
                            <a:srgbClr val="0F2A33"/>
                          </a:solidFill>
                          <a:latin typeface="Calibri"/>
                        </a:rPr>
                        <a:t>TCP flags FIN SYN RST PSH ACK URG, none set?</a:t>
                      </a:r>
                    </a:p>
                  </a:txBody>
                  <a:tcPr marL="73152" marR="73152" marT="36576" marB="36576" anchor="ctr">
                    <a:solidFill>
                      <a:srgbClr val="EAF2F3"/>
                    </a:solidFill>
                  </a:tcPr>
                </a:tc>
                <a:tc>
                  <a:txBody>
                    <a:bodyPr wrap="square"/>
                    <a:lstStyle/>
                    <a:p>
                      <a:r>
                        <a:rPr sz="1400" b="0">
                          <a:solidFill>
                            <a:srgbClr val="0F2A33"/>
                          </a:solidFill>
                          <a:latin typeface="Calibri"/>
                        </a:rPr>
                        <a:t>flags</a:t>
                      </a:r>
                    </a:p>
                  </a:txBody>
                  <a:tcPr marL="73152" marR="73152" marT="36576" marB="36576" anchor="ctr">
                    <a:solidFill>
                      <a:srgbClr val="EAF2F3"/>
                    </a:solidFill>
                  </a:tcPr>
                </a:tc>
              </a:tr>
              <a:tr h="512064">
                <a:tc>
                  <a:txBody>
                    <a:bodyPr wrap="square"/>
                    <a:lstStyle/>
                    <a:p>
                      <a:r>
                        <a:rPr sz="1400" b="1">
                          <a:solidFill>
                            <a:srgbClr val="0F2A33"/>
                          </a:solidFill>
                          <a:latin typeface="Calibri"/>
                        </a:rPr>
                        <a:t>34–41</a:t>
                      </a:r>
                    </a:p>
                  </a:txBody>
                  <a:tcPr marL="73152" marR="73152" marT="36576" marB="36576" anchor="ctr">
                    <a:solidFill>
                      <a:srgbClr val="FFFFFF"/>
                    </a:solidFill>
                  </a:tcPr>
                </a:tc>
                <a:tc>
                  <a:txBody>
                    <a:bodyPr wrap="square"/>
                    <a:lstStyle/>
                    <a:p>
                      <a:r>
                        <a:rPr sz="1400" b="0">
                          <a:solidFill>
                            <a:srgbClr val="0F2A33"/>
                          </a:solidFill>
                          <a:latin typeface="Calibri"/>
                        </a:rPr>
                        <a:t>port 0? well-known? registered? high?</a:t>
                      </a:r>
                    </a:p>
                  </a:txBody>
                  <a:tcPr marL="73152" marR="73152" marT="36576" marB="36576" anchor="ctr">
                    <a:solidFill>
                      <a:srgbClr val="FFFFFF"/>
                    </a:solidFill>
                  </a:tcPr>
                </a:tc>
                <a:tc>
                  <a:txBody>
                    <a:bodyPr wrap="square"/>
                    <a:lstStyle/>
                    <a:p>
                      <a:r>
                        <a:rPr sz="1400" b="0">
                          <a:solidFill>
                            <a:srgbClr val="0F2A33"/>
                          </a:solidFill>
                          <a:latin typeface="Calibri"/>
                        </a:rPr>
                        <a:t>ports</a:t>
                      </a:r>
                    </a:p>
                  </a:txBody>
                  <a:tcPr marL="73152" marR="73152" marT="36576" marB="36576" anchor="ctr">
                    <a:solidFill>
                      <a:srgbClr val="FFFFFF"/>
                    </a:solidFill>
                  </a:tcPr>
                </a:tc>
              </a:tr>
              <a:tr h="512064">
                <a:tc>
                  <a:txBody>
                    <a:bodyPr wrap="square"/>
                    <a:lstStyle/>
                    <a:p>
                      <a:r>
                        <a:rPr sz="1400" b="1">
                          <a:solidFill>
                            <a:srgbClr val="0F2A33"/>
                          </a:solidFill>
                          <a:latin typeface="Calibri"/>
                        </a:rPr>
                        <a:t>57–60</a:t>
                      </a:r>
                    </a:p>
                  </a:txBody>
                  <a:tcPr marL="73152" marR="73152" marT="36576" marB="36576" anchor="ctr">
                    <a:solidFill>
                      <a:srgbClr val="EAF2F3"/>
                    </a:solidFill>
                  </a:tcPr>
                </a:tc>
                <a:tc>
                  <a:txBody>
                    <a:bodyPr wrap="square"/>
                    <a:lstStyle/>
                    <a:p>
                      <a:r>
                        <a:rPr sz="1400" b="0">
                          <a:solidFill>
                            <a:srgbClr val="0F2A33"/>
                          </a:solidFill>
                          <a:latin typeface="Calibri"/>
                        </a:rPr>
                        <a:t>≥ 8 / ≥ 16 SYNs or pings in the last 32 frames?</a:t>
                      </a:r>
                    </a:p>
                  </a:txBody>
                  <a:tcPr marL="73152" marR="73152" marT="36576" marB="36576" anchor="ctr">
                    <a:solidFill>
                      <a:srgbClr val="EAF2F3"/>
                    </a:solidFill>
                  </a:tcPr>
                </a:tc>
                <a:tc>
                  <a:txBody>
                    <a:bodyPr wrap="square"/>
                    <a:lstStyle/>
                    <a:p>
                      <a:r>
                        <a:rPr sz="1400" b="0">
                          <a:solidFill>
                            <a:srgbClr val="0F2A33"/>
                          </a:solidFill>
                          <a:latin typeface="Calibri"/>
                        </a:rPr>
                        <a:t>rate (memory)</a:t>
                      </a:r>
                    </a:p>
                  </a:txBody>
                  <a:tcPr marL="73152" marR="73152" marT="36576" marB="36576" anchor="ctr">
                    <a:solidFill>
                      <a:srgbClr val="EAF2F3"/>
                    </a:solidFill>
                  </a:tcPr>
                </a:tc>
              </a:tr>
              <a:tr h="512064">
                <a:tc>
                  <a:txBody>
                    <a:bodyPr wrap="square"/>
                    <a:lstStyle/>
                    <a:p>
                      <a:r>
                        <a:rPr sz="1400" b="1">
                          <a:solidFill>
                            <a:srgbClr val="0F2A33"/>
                          </a:solidFill>
                          <a:latin typeface="Calibri"/>
                        </a:rPr>
                        <a:t>62–63</a:t>
                      </a:r>
                    </a:p>
                  </a:txBody>
                  <a:tcPr marL="73152" marR="73152" marT="36576" marB="36576" anchor="ctr">
                    <a:solidFill>
                      <a:srgbClr val="FFFFFF"/>
                    </a:solidFill>
                  </a:tcPr>
                </a:tc>
                <a:tc>
                  <a:txBody>
                    <a:bodyPr wrap="square"/>
                    <a:lstStyle/>
                    <a:p>
                      <a:r>
                        <a:rPr sz="1400" b="0">
                          <a:solidFill>
                            <a:srgbClr val="0F2A33"/>
                          </a:solidFill>
                          <a:latin typeface="Calibri"/>
                        </a:rPr>
                        <a:t>SSH / Telnet / SMB / RDP port? DNS?</a:t>
                      </a:r>
                    </a:p>
                  </a:txBody>
                  <a:tcPr marL="73152" marR="73152" marT="36576" marB="36576" anchor="ctr">
                    <a:solidFill>
                      <a:srgbClr val="FFFFFF"/>
                    </a:solidFill>
                  </a:tcPr>
                </a:tc>
                <a:tc>
                  <a:txBody>
                    <a:bodyPr wrap="square"/>
                    <a:lstStyle/>
                    <a:p>
                      <a:r>
                        <a:rPr sz="1400" b="0">
                          <a:solidFill>
                            <a:srgbClr val="0F2A33"/>
                          </a:solidFill>
                          <a:latin typeface="Calibri"/>
                        </a:rPr>
                        <a:t>services</a:t>
                      </a:r>
                    </a:p>
                  </a:txBody>
                  <a:tcPr marL="73152" marR="73152" marT="36576" marB="36576" anchor="ctr">
                    <a:solidFill>
                      <a:srgbClr val="FFFFFF"/>
                    </a:solidFill>
                  </a:tcPr>
                </a:tc>
              </a:tr>
            </a:tbl>
          </a:graphicData>
        </a:graphic>
      </p:graphicFrame>
      <p:sp>
        <p:nvSpPr>
          <p:cNvPr id="7" name="Rounded Rectangle 6"/>
          <p:cNvSpPr/>
          <p:nvPr/>
        </p:nvSpPr>
        <p:spPr>
          <a:xfrm>
            <a:off x="6949440" y="1691640"/>
            <a:ext cx="4709160" cy="434340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 name="TextBox 7"/>
          <p:cNvSpPr txBox="1"/>
          <p:nvPr/>
        </p:nvSpPr>
        <p:spPr>
          <a:xfrm>
            <a:off x="7178040" y="1874520"/>
            <a:ext cx="4297680" cy="502920"/>
          </a:xfrm>
          <a:prstGeom prst="rect">
            <a:avLst/>
          </a:prstGeom>
          <a:noFill/>
        </p:spPr>
        <p:txBody>
          <a:bodyPr wrap="square" anchor="ctr" lIns="45720" rIns="45720">
            <a:spAutoFit/>
          </a:bodyPr>
          <a:lstStyle/>
          <a:p>
            <a:pPr algn="l">
              <a:spcAft>
                <a:spcPts val="400"/>
              </a:spcAft>
            </a:pPr>
            <a:r>
              <a:rPr sz="1700" b="1" i="0">
                <a:solidFill>
                  <a:srgbClr val="0F2A33"/>
                </a:solidFill>
                <a:latin typeface="Calibri"/>
              </a:rPr>
              <a:t>Example: frame 0, a ping</a:t>
            </a:r>
          </a:p>
        </p:txBody>
      </p:sp>
      <p:sp>
        <p:nvSpPr>
          <p:cNvPr id="9" name="TextBox 8"/>
          <p:cNvSpPr txBox="1"/>
          <p:nvPr/>
        </p:nvSpPr>
        <p:spPr>
          <a:xfrm>
            <a:off x="7178040" y="2468880"/>
            <a:ext cx="4297680" cy="3429000"/>
          </a:xfrm>
          <a:prstGeom prst="rect">
            <a:avLst/>
          </a:prstGeom>
          <a:noFill/>
        </p:spPr>
        <p:txBody>
          <a:bodyPr wrap="square" anchor="t" lIns="45720" rIns="45720">
            <a:spAutoFit/>
          </a:bodyPr>
          <a:lstStyle/>
          <a:p>
            <a:pPr algn="l">
              <a:spcAft>
                <a:spcPts val="400"/>
              </a:spcAft>
            </a:pPr>
            <a:r>
              <a:rPr sz="1500" b="0" i="0">
                <a:solidFill>
                  <a:srgbClr val="0F2A33"/>
                </a:solidFill>
                <a:latin typeface="Calibri"/>
              </a:rPr>
              <a:t>Bytes: 02 98 ca d7 … 08 00 45 00 00 54 … 40 01 …</a:t>
            </a:r>
          </a:p>
          <a:p>
            <a:pPr algn="l">
              <a:spcAft>
                <a:spcPts val="400"/>
              </a:spcAft>
            </a:pPr>
            <a:r>
              <a:rPr sz="1500" b="1" i="0">
                <a:solidFill>
                  <a:srgbClr val="0F2A33"/>
                </a:solidFill>
                <a:latin typeface="Calibri"/>
              </a:rPr>
              <a:t>Spikes: 0x0022000000111283</a:t>
            </a:r>
          </a:p>
          <a:p>
            <a:pPr algn="l">
              <a:spcAft>
                <a:spcPts val="400"/>
              </a:spcAft>
            </a:pPr>
            <a:r>
              <a:rPr sz="1500" b="0" i="0">
                <a:solidFill>
                  <a:srgbClr val="0F2A33"/>
                </a:solidFill>
                <a:latin typeface="Calibri"/>
              </a:rPr>
              <a:t>Yes to 9 questions:</a:t>
            </a:r>
          </a:p>
          <a:p>
            <a:pPr algn="l">
              <a:spcAft>
                <a:spcPts val="400"/>
              </a:spcAft>
            </a:pPr>
            <a:r>
              <a:rPr sz="1500" b="0" i="0">
                <a:solidFill>
                  <a:srgbClr val="0F2A33"/>
                </a:solidFill>
                <a:latin typeface="Calibri"/>
              </a:rPr>
              <a:t>bias · IPv4 · ICMP · header length 5 · don't-fragment · TTL 9–64 · length 41–100 · echo request · payload 9–64</a:t>
            </a:r>
          </a:p>
          <a:p>
            <a:pPr algn="l">
              <a:spcAft>
                <a:spcPts val="400"/>
              </a:spcAft>
            </a:pPr>
            <a:r>
              <a:rPr sz="1500" b="1" i="0">
                <a:solidFill>
                  <a:srgbClr val="1B998B"/>
                </a:solidFill>
                <a:latin typeface="Calibri"/>
              </a:rPr>
              <a:t>SNN: benign neuron 4 spikes, malicious 0 → benign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02975" y="6400800"/>
            <a:ext cx="822960" cy="274320"/>
          </a:xfrm>
          <a:prstGeom prst="rect">
            <a:avLst/>
          </a:prstGeom>
          <a:noFill/>
        </p:spPr>
        <p:txBody>
          <a:bodyPr wrap="square" anchor="t" lIns="45720" rIns="45720">
            <a:spAutoFit/>
          </a:bodyPr>
          <a:lstStyle/>
          <a:p>
            <a:pPr algn="r">
              <a:spcAft>
                <a:spcPts val="400"/>
              </a:spcAft>
            </a:pPr>
            <a:r>
              <a:rPr sz="1100" b="0" i="0">
                <a:solidFill>
                  <a:srgbClr val="5F6F78"/>
                </a:solidFill>
                <a:latin typeface="Calibri"/>
              </a:rPr>
              <a:t>15</a:t>
            </a:r>
          </a:p>
        </p:txBody>
      </p:sp>
      <p:sp>
        <p:nvSpPr>
          <p:cNvPr id="3" name="TextBox 2"/>
          <p:cNvSpPr txBox="1"/>
          <p:nvPr/>
        </p:nvSpPr>
        <p:spPr>
          <a:xfrm>
            <a:off x="548640" y="6400800"/>
            <a:ext cx="7315200" cy="274320"/>
          </a:xfrm>
          <a:prstGeom prst="rect">
            <a:avLst/>
          </a:prstGeom>
          <a:noFill/>
        </p:spPr>
        <p:txBody>
          <a:bodyPr wrap="square" anchor="t" lIns="45720" rIns="45720">
            <a:spAutoFit/>
          </a:bodyPr>
          <a:lstStyle/>
          <a:p>
            <a:pPr algn="l">
              <a:spcAft>
                <a:spcPts val="400"/>
              </a:spcAft>
            </a:pPr>
            <a:r>
              <a:rPr sz="1100" b="0" i="0">
                <a:solidFill>
                  <a:srgbClr val="5F6F78"/>
                </a:solidFill>
                <a:latin typeface="Calibri"/>
              </a:rPr>
              <a:t>2  Our design</a:t>
            </a:r>
          </a:p>
        </p:txBody>
      </p:sp>
      <p:sp>
        <p:nvSpPr>
          <p:cNvPr id="4" name="Title"/>
          <p:cNvSpPr txBox="1"/>
          <p:nvPr/>
        </p:nvSpPr>
        <p:spPr>
          <a:xfrm>
            <a:off x="548640" y="320040"/>
            <a:ext cx="11064240" cy="777240"/>
          </a:xfrm>
          <a:prstGeom prst="rect">
            <a:avLst/>
          </a:prstGeom>
          <a:noFill/>
        </p:spPr>
        <p:txBody>
          <a:bodyPr wrap="square" anchor="ctr" lIns="45720" rIns="45720">
            <a:spAutoFit/>
          </a:bodyPr>
          <a:lstStyle/>
          <a:p>
            <a:pPr algn="l">
              <a:spcAft>
                <a:spcPts val="400"/>
              </a:spcAft>
            </a:pPr>
            <a:r>
              <a:rPr sz="3400" b="1" i="0">
                <a:solidFill>
                  <a:srgbClr val="0F2A33"/>
                </a:solidFill>
                <a:latin typeface="Cambria"/>
              </a:rPr>
              <a:t>Our network: 64 → 16 → 2</a:t>
            </a:r>
          </a:p>
        </p:txBody>
      </p:sp>
      <p:sp>
        <p:nvSpPr>
          <p:cNvPr id="5" name="Oval 4"/>
          <p:cNvSpPr/>
          <p:nvPr/>
        </p:nvSpPr>
        <p:spPr>
          <a:xfrm>
            <a:off x="914400" y="1600200"/>
            <a:ext cx="347472" cy="347472"/>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800" b="1" i="0">
                <a:solidFill>
                  <a:srgbClr val="0F2A33"/>
                </a:solidFill>
                <a:latin typeface="Calibri"/>
              </a:rPr>
              <a:t/>
            </a:r>
          </a:p>
        </p:txBody>
      </p:sp>
      <p:sp>
        <p:nvSpPr>
          <p:cNvPr id="6" name="Oval 5"/>
          <p:cNvSpPr/>
          <p:nvPr/>
        </p:nvSpPr>
        <p:spPr>
          <a:xfrm>
            <a:off x="914400" y="2148840"/>
            <a:ext cx="347472" cy="347472"/>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800" b="1" i="0">
                <a:solidFill>
                  <a:srgbClr val="0F2A33"/>
                </a:solidFill>
                <a:latin typeface="Calibri"/>
              </a:rPr>
              <a:t/>
            </a:r>
          </a:p>
        </p:txBody>
      </p:sp>
      <p:sp>
        <p:nvSpPr>
          <p:cNvPr id="7" name="Oval 6"/>
          <p:cNvSpPr/>
          <p:nvPr/>
        </p:nvSpPr>
        <p:spPr>
          <a:xfrm>
            <a:off x="914400" y="2697480"/>
            <a:ext cx="347472" cy="347472"/>
          </a:xfrm>
          <a:prstGeom prst="ellipse">
            <a:avLst/>
          </a:prstGeom>
          <a:solidFill>
            <a:srgbClr val="C9D6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800" b="1" i="0">
                <a:solidFill>
                  <a:srgbClr val="0F2A33"/>
                </a:solidFill>
                <a:latin typeface="Calibri"/>
              </a:rPr>
              <a:t/>
            </a:r>
          </a:p>
        </p:txBody>
      </p:sp>
      <p:sp>
        <p:nvSpPr>
          <p:cNvPr id="8" name="Oval 7"/>
          <p:cNvSpPr/>
          <p:nvPr/>
        </p:nvSpPr>
        <p:spPr>
          <a:xfrm>
            <a:off x="914400" y="3246120"/>
            <a:ext cx="347472" cy="347472"/>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800" b="1" i="0">
                <a:solidFill>
                  <a:srgbClr val="0F2A33"/>
                </a:solidFill>
                <a:latin typeface="Calibri"/>
              </a:rPr>
              <a:t/>
            </a:r>
          </a:p>
        </p:txBody>
      </p:sp>
      <p:sp>
        <p:nvSpPr>
          <p:cNvPr id="9" name="Oval 8"/>
          <p:cNvSpPr/>
          <p:nvPr/>
        </p:nvSpPr>
        <p:spPr>
          <a:xfrm>
            <a:off x="914400" y="3794760"/>
            <a:ext cx="347472" cy="347472"/>
          </a:xfrm>
          <a:prstGeom prst="ellipse">
            <a:avLst/>
          </a:prstGeom>
          <a:solidFill>
            <a:srgbClr val="C9D6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800" b="1" i="0">
                <a:solidFill>
                  <a:srgbClr val="0F2A33"/>
                </a:solidFill>
                <a:latin typeface="Calibri"/>
              </a:rPr>
              <a:t/>
            </a:r>
          </a:p>
        </p:txBody>
      </p:sp>
      <p:sp>
        <p:nvSpPr>
          <p:cNvPr id="10" name="Oval 9"/>
          <p:cNvSpPr/>
          <p:nvPr/>
        </p:nvSpPr>
        <p:spPr>
          <a:xfrm>
            <a:off x="914400" y="4343400"/>
            <a:ext cx="347472" cy="347472"/>
          </a:xfrm>
          <a:prstGeom prst="ellipse">
            <a:avLst/>
          </a:prstGeom>
          <a:solidFill>
            <a:srgbClr val="C9D6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800" b="1" i="0">
                <a:solidFill>
                  <a:srgbClr val="0F2A33"/>
                </a:solidFill>
                <a:latin typeface="Calibri"/>
              </a:rPr>
              <a:t/>
            </a:r>
          </a:p>
        </p:txBody>
      </p:sp>
      <p:sp>
        <p:nvSpPr>
          <p:cNvPr id="11" name="Oval 10"/>
          <p:cNvSpPr/>
          <p:nvPr/>
        </p:nvSpPr>
        <p:spPr>
          <a:xfrm>
            <a:off x="914400" y="4892040"/>
            <a:ext cx="347472" cy="347472"/>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800" b="1" i="0">
                <a:solidFill>
                  <a:srgbClr val="0F2A33"/>
                </a:solidFill>
                <a:latin typeface="Calibri"/>
              </a:rPr>
              <a:t/>
            </a:r>
          </a:p>
        </p:txBody>
      </p:sp>
      <p:sp>
        <p:nvSpPr>
          <p:cNvPr id="12" name="Oval 11"/>
          <p:cNvSpPr/>
          <p:nvPr/>
        </p:nvSpPr>
        <p:spPr>
          <a:xfrm>
            <a:off x="914400" y="5440680"/>
            <a:ext cx="347472" cy="347472"/>
          </a:xfrm>
          <a:prstGeom prst="ellipse">
            <a:avLst/>
          </a:prstGeom>
          <a:solidFill>
            <a:srgbClr val="C9D6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800" b="1" i="0">
                <a:solidFill>
                  <a:srgbClr val="0F2A33"/>
                </a:solidFill>
                <a:latin typeface="Calibri"/>
              </a:rPr>
              <a:t/>
            </a:r>
          </a:p>
        </p:txBody>
      </p:sp>
      <p:sp>
        <p:nvSpPr>
          <p:cNvPr id="13" name="TextBox 12"/>
          <p:cNvSpPr txBox="1"/>
          <p:nvPr/>
        </p:nvSpPr>
        <p:spPr>
          <a:xfrm>
            <a:off x="365760" y="6035040"/>
            <a:ext cx="2011680" cy="365760"/>
          </a:xfrm>
          <a:prstGeom prst="rect">
            <a:avLst/>
          </a:prstGeom>
          <a:noFill/>
        </p:spPr>
        <p:txBody>
          <a:bodyPr wrap="square" anchor="t" lIns="45720" rIns="45720">
            <a:spAutoFit/>
          </a:bodyPr>
          <a:lstStyle/>
          <a:p>
            <a:pPr algn="ctr">
              <a:spcAft>
                <a:spcPts val="400"/>
              </a:spcAft>
            </a:pPr>
            <a:r>
              <a:rPr sz="1400" b="0" i="0">
                <a:solidFill>
                  <a:srgbClr val="5F6F78"/>
                </a:solidFill>
                <a:latin typeface="Calibri"/>
              </a:rPr>
              <a:t>64 input spikes</a:t>
            </a:r>
          </a:p>
        </p:txBody>
      </p:sp>
      <p:sp>
        <p:nvSpPr>
          <p:cNvPr id="14" name="Oval 13"/>
          <p:cNvSpPr/>
          <p:nvPr/>
        </p:nvSpPr>
        <p:spPr>
          <a:xfrm>
            <a:off x="3840480" y="1737360"/>
            <a:ext cx="457200" cy="457200"/>
          </a:xfrm>
          <a:prstGeom prst="ellipse">
            <a:avLst/>
          </a:prstGeom>
          <a:solidFill>
            <a:srgbClr val="7A5C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800" b="1" i="0">
                <a:solidFill>
                  <a:srgbClr val="0F2A33"/>
                </a:solidFill>
                <a:latin typeface="Calibri"/>
              </a:rPr>
              <a:t/>
            </a:r>
          </a:p>
        </p:txBody>
      </p:sp>
      <p:sp>
        <p:nvSpPr>
          <p:cNvPr id="15" name="Oval 14"/>
          <p:cNvSpPr/>
          <p:nvPr/>
        </p:nvSpPr>
        <p:spPr>
          <a:xfrm>
            <a:off x="3840480" y="2450591"/>
            <a:ext cx="457200" cy="457200"/>
          </a:xfrm>
          <a:prstGeom prst="ellipse">
            <a:avLst/>
          </a:prstGeom>
          <a:solidFill>
            <a:srgbClr val="7A5C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800" b="1" i="0">
                <a:solidFill>
                  <a:srgbClr val="0F2A33"/>
                </a:solidFill>
                <a:latin typeface="Calibri"/>
              </a:rPr>
              <a:t/>
            </a:r>
          </a:p>
        </p:txBody>
      </p:sp>
      <p:sp>
        <p:nvSpPr>
          <p:cNvPr id="16" name="Oval 15"/>
          <p:cNvSpPr/>
          <p:nvPr/>
        </p:nvSpPr>
        <p:spPr>
          <a:xfrm>
            <a:off x="3840480" y="3163824"/>
            <a:ext cx="457200" cy="457200"/>
          </a:xfrm>
          <a:prstGeom prst="ellipse">
            <a:avLst/>
          </a:prstGeom>
          <a:solidFill>
            <a:srgbClr val="7A5C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800" b="1" i="0">
                <a:solidFill>
                  <a:srgbClr val="0F2A33"/>
                </a:solidFill>
                <a:latin typeface="Calibri"/>
              </a:rPr>
              <a:t/>
            </a:r>
          </a:p>
        </p:txBody>
      </p:sp>
      <p:sp>
        <p:nvSpPr>
          <p:cNvPr id="17" name="Oval 16"/>
          <p:cNvSpPr/>
          <p:nvPr/>
        </p:nvSpPr>
        <p:spPr>
          <a:xfrm>
            <a:off x="3840480" y="3877056"/>
            <a:ext cx="457200" cy="457200"/>
          </a:xfrm>
          <a:prstGeom prst="ellipse">
            <a:avLst/>
          </a:prstGeom>
          <a:solidFill>
            <a:srgbClr val="7A5C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800" b="1" i="0">
                <a:solidFill>
                  <a:srgbClr val="0F2A33"/>
                </a:solidFill>
                <a:latin typeface="Calibri"/>
              </a:rPr>
              <a:t/>
            </a:r>
          </a:p>
        </p:txBody>
      </p:sp>
      <p:sp>
        <p:nvSpPr>
          <p:cNvPr id="18" name="Oval 17"/>
          <p:cNvSpPr/>
          <p:nvPr/>
        </p:nvSpPr>
        <p:spPr>
          <a:xfrm>
            <a:off x="3840480" y="4590288"/>
            <a:ext cx="457200" cy="457200"/>
          </a:xfrm>
          <a:prstGeom prst="ellipse">
            <a:avLst/>
          </a:prstGeom>
          <a:solidFill>
            <a:srgbClr val="7A5C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800" b="1" i="0">
                <a:solidFill>
                  <a:srgbClr val="0F2A33"/>
                </a:solidFill>
                <a:latin typeface="Calibri"/>
              </a:rPr>
              <a:t/>
            </a:r>
          </a:p>
        </p:txBody>
      </p:sp>
      <p:sp>
        <p:nvSpPr>
          <p:cNvPr id="19" name="Oval 18"/>
          <p:cNvSpPr/>
          <p:nvPr/>
        </p:nvSpPr>
        <p:spPr>
          <a:xfrm>
            <a:off x="3840480" y="5303520"/>
            <a:ext cx="457200" cy="457200"/>
          </a:xfrm>
          <a:prstGeom prst="ellipse">
            <a:avLst/>
          </a:prstGeom>
          <a:solidFill>
            <a:srgbClr val="7A5C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800" b="1" i="0">
                <a:solidFill>
                  <a:srgbClr val="0F2A33"/>
                </a:solidFill>
                <a:latin typeface="Calibri"/>
              </a:rPr>
              <a:t/>
            </a:r>
          </a:p>
        </p:txBody>
      </p:sp>
      <p:sp>
        <p:nvSpPr>
          <p:cNvPr id="20" name="TextBox 19"/>
          <p:cNvSpPr txBox="1"/>
          <p:nvPr/>
        </p:nvSpPr>
        <p:spPr>
          <a:xfrm>
            <a:off x="3200400" y="6035040"/>
            <a:ext cx="1828800" cy="365760"/>
          </a:xfrm>
          <a:prstGeom prst="rect">
            <a:avLst/>
          </a:prstGeom>
          <a:noFill/>
        </p:spPr>
        <p:txBody>
          <a:bodyPr wrap="square" anchor="t" lIns="45720" rIns="45720">
            <a:spAutoFit/>
          </a:bodyPr>
          <a:lstStyle/>
          <a:p>
            <a:pPr algn="ctr">
              <a:spcAft>
                <a:spcPts val="400"/>
              </a:spcAft>
            </a:pPr>
            <a:r>
              <a:rPr sz="1400" b="0" i="0">
                <a:solidFill>
                  <a:srgbClr val="5F6F78"/>
                </a:solidFill>
                <a:latin typeface="Calibri"/>
              </a:rPr>
              <a:t>16 hidden LIF</a:t>
            </a:r>
          </a:p>
        </p:txBody>
      </p:sp>
      <p:cxnSp>
        <p:nvCxnSpPr>
          <p:cNvPr id="21" name="Connector 20"/>
          <p:cNvCxnSpPr/>
          <p:nvPr/>
        </p:nvCxnSpPr>
        <p:spPr>
          <a:xfrm>
            <a:off x="1261872" y="1773936"/>
            <a:ext cx="2578608" cy="192024"/>
          </a:xfrm>
          <a:prstGeom prst="line">
            <a:avLst/>
          </a:prstGeom>
          <a:ln w="9525">
            <a:solidFill>
              <a:srgbClr val="D7E2E5"/>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261872" y="1773936"/>
            <a:ext cx="2578608" cy="905255"/>
          </a:xfrm>
          <a:prstGeom prst="line">
            <a:avLst/>
          </a:prstGeom>
          <a:ln w="9525">
            <a:solidFill>
              <a:srgbClr val="D7E2E5"/>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261872" y="1773936"/>
            <a:ext cx="2578608" cy="1618488"/>
          </a:xfrm>
          <a:prstGeom prst="line">
            <a:avLst/>
          </a:prstGeom>
          <a:ln w="9525">
            <a:solidFill>
              <a:srgbClr val="D7E2E5"/>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261872" y="1773936"/>
            <a:ext cx="2578608" cy="2331720"/>
          </a:xfrm>
          <a:prstGeom prst="line">
            <a:avLst/>
          </a:prstGeom>
          <a:ln w="9525">
            <a:solidFill>
              <a:srgbClr val="D7E2E5"/>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261872" y="1773936"/>
            <a:ext cx="2578608" cy="3044952"/>
          </a:xfrm>
          <a:prstGeom prst="line">
            <a:avLst/>
          </a:prstGeom>
          <a:ln w="9525">
            <a:solidFill>
              <a:srgbClr val="D7E2E5"/>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261872" y="1773936"/>
            <a:ext cx="2578608" cy="3758184"/>
          </a:xfrm>
          <a:prstGeom prst="line">
            <a:avLst/>
          </a:prstGeom>
          <a:ln w="9525">
            <a:solidFill>
              <a:srgbClr val="D7E2E5"/>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1261872" y="1965960"/>
            <a:ext cx="2578608" cy="356616"/>
          </a:xfrm>
          <a:prstGeom prst="line">
            <a:avLst/>
          </a:prstGeom>
          <a:ln w="9525">
            <a:solidFill>
              <a:srgbClr val="D7E2E5"/>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261872" y="2322576"/>
            <a:ext cx="2578608" cy="356615"/>
          </a:xfrm>
          <a:prstGeom prst="line">
            <a:avLst/>
          </a:prstGeom>
          <a:ln w="9525">
            <a:solidFill>
              <a:srgbClr val="D7E2E5"/>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261872" y="2322576"/>
            <a:ext cx="2578608" cy="1069848"/>
          </a:xfrm>
          <a:prstGeom prst="line">
            <a:avLst/>
          </a:prstGeom>
          <a:ln w="9525">
            <a:solidFill>
              <a:srgbClr val="D7E2E5"/>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261872" y="2322576"/>
            <a:ext cx="2578608" cy="1783080"/>
          </a:xfrm>
          <a:prstGeom prst="line">
            <a:avLst/>
          </a:prstGeom>
          <a:ln w="9525">
            <a:solidFill>
              <a:srgbClr val="D7E2E5"/>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261872" y="2322576"/>
            <a:ext cx="2578608" cy="2496312"/>
          </a:xfrm>
          <a:prstGeom prst="line">
            <a:avLst/>
          </a:prstGeom>
          <a:ln w="9525">
            <a:solidFill>
              <a:srgbClr val="D7E2E5"/>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261872" y="2322576"/>
            <a:ext cx="2578608" cy="3209544"/>
          </a:xfrm>
          <a:prstGeom prst="line">
            <a:avLst/>
          </a:prstGeom>
          <a:ln w="9525">
            <a:solidFill>
              <a:srgbClr val="D7E2E5"/>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1261872" y="1965960"/>
            <a:ext cx="2578608" cy="905255"/>
          </a:xfrm>
          <a:prstGeom prst="line">
            <a:avLst/>
          </a:prstGeom>
          <a:ln w="9525">
            <a:solidFill>
              <a:srgbClr val="D7E2E5"/>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1261872" y="2679191"/>
            <a:ext cx="2578608" cy="192024"/>
          </a:xfrm>
          <a:prstGeom prst="line">
            <a:avLst/>
          </a:prstGeom>
          <a:ln w="9525">
            <a:solidFill>
              <a:srgbClr val="D7E2E5"/>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261872" y="2871215"/>
            <a:ext cx="2578608" cy="521209"/>
          </a:xfrm>
          <a:prstGeom prst="line">
            <a:avLst/>
          </a:prstGeom>
          <a:ln w="9525">
            <a:solidFill>
              <a:srgbClr val="D7E2E5"/>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261872" y="2871215"/>
            <a:ext cx="2578608" cy="1234441"/>
          </a:xfrm>
          <a:prstGeom prst="line">
            <a:avLst/>
          </a:prstGeom>
          <a:ln w="9525">
            <a:solidFill>
              <a:srgbClr val="D7E2E5"/>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261872" y="2871215"/>
            <a:ext cx="2578608" cy="1947673"/>
          </a:xfrm>
          <a:prstGeom prst="line">
            <a:avLst/>
          </a:prstGeom>
          <a:ln w="9525">
            <a:solidFill>
              <a:srgbClr val="D7E2E5"/>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261872" y="2871215"/>
            <a:ext cx="2578608" cy="2660905"/>
          </a:xfrm>
          <a:prstGeom prst="line">
            <a:avLst/>
          </a:prstGeom>
          <a:ln w="9525">
            <a:solidFill>
              <a:srgbClr val="D7E2E5"/>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1261872" y="1965960"/>
            <a:ext cx="2578608" cy="1453896"/>
          </a:xfrm>
          <a:prstGeom prst="line">
            <a:avLst/>
          </a:prstGeom>
          <a:ln w="9525">
            <a:solidFill>
              <a:srgbClr val="D7E2E5"/>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1261872" y="2679191"/>
            <a:ext cx="2578608" cy="740665"/>
          </a:xfrm>
          <a:prstGeom prst="line">
            <a:avLst/>
          </a:prstGeom>
          <a:ln w="9525">
            <a:solidFill>
              <a:srgbClr val="D7E2E5"/>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261872" y="3392424"/>
            <a:ext cx="2578608" cy="27432"/>
          </a:xfrm>
          <a:prstGeom prst="line">
            <a:avLst/>
          </a:prstGeom>
          <a:ln w="9525">
            <a:solidFill>
              <a:srgbClr val="D7E2E5"/>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261872" y="3419856"/>
            <a:ext cx="2578608" cy="685800"/>
          </a:xfrm>
          <a:prstGeom prst="line">
            <a:avLst/>
          </a:prstGeom>
          <a:ln w="9525">
            <a:solidFill>
              <a:srgbClr val="D7E2E5"/>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1261872" y="3419856"/>
            <a:ext cx="2578608" cy="1399032"/>
          </a:xfrm>
          <a:prstGeom prst="line">
            <a:avLst/>
          </a:prstGeom>
          <a:ln w="9525">
            <a:solidFill>
              <a:srgbClr val="D7E2E5"/>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1261872" y="3419856"/>
            <a:ext cx="2578608" cy="2112264"/>
          </a:xfrm>
          <a:prstGeom prst="line">
            <a:avLst/>
          </a:prstGeom>
          <a:ln w="9525">
            <a:solidFill>
              <a:srgbClr val="D7E2E5"/>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1261872" y="1965960"/>
            <a:ext cx="2578608" cy="2002536"/>
          </a:xfrm>
          <a:prstGeom prst="line">
            <a:avLst/>
          </a:prstGeom>
          <a:ln w="9525">
            <a:solidFill>
              <a:srgbClr val="D7E2E5"/>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1261872" y="2679191"/>
            <a:ext cx="2578608" cy="1289305"/>
          </a:xfrm>
          <a:prstGeom prst="line">
            <a:avLst/>
          </a:prstGeom>
          <a:ln w="9525">
            <a:solidFill>
              <a:srgbClr val="D7E2E5"/>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1261872" y="3392424"/>
            <a:ext cx="2578608" cy="576072"/>
          </a:xfrm>
          <a:prstGeom prst="line">
            <a:avLst/>
          </a:prstGeom>
          <a:ln w="9525">
            <a:solidFill>
              <a:srgbClr val="D7E2E5"/>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261872" y="3968496"/>
            <a:ext cx="2578608" cy="137160"/>
          </a:xfrm>
          <a:prstGeom prst="line">
            <a:avLst/>
          </a:prstGeom>
          <a:ln w="9525">
            <a:solidFill>
              <a:srgbClr val="D7E2E5"/>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261872" y="3968496"/>
            <a:ext cx="2578608" cy="850392"/>
          </a:xfrm>
          <a:prstGeom prst="line">
            <a:avLst/>
          </a:prstGeom>
          <a:ln w="9525">
            <a:solidFill>
              <a:srgbClr val="D7E2E5"/>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1261872" y="3968496"/>
            <a:ext cx="2578608" cy="1563624"/>
          </a:xfrm>
          <a:prstGeom prst="line">
            <a:avLst/>
          </a:prstGeom>
          <a:ln w="9525">
            <a:solidFill>
              <a:srgbClr val="D7E2E5"/>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1261872" y="1965960"/>
            <a:ext cx="2578608" cy="2551176"/>
          </a:xfrm>
          <a:prstGeom prst="line">
            <a:avLst/>
          </a:prstGeom>
          <a:ln w="9525">
            <a:solidFill>
              <a:srgbClr val="D7E2E5"/>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1261872" y="2679191"/>
            <a:ext cx="2578608" cy="1837945"/>
          </a:xfrm>
          <a:prstGeom prst="line">
            <a:avLst/>
          </a:prstGeom>
          <a:ln w="9525">
            <a:solidFill>
              <a:srgbClr val="D7E2E5"/>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1261872" y="3392424"/>
            <a:ext cx="2578608" cy="1124712"/>
          </a:xfrm>
          <a:prstGeom prst="line">
            <a:avLst/>
          </a:prstGeom>
          <a:ln w="9525">
            <a:solidFill>
              <a:srgbClr val="D7E2E5"/>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1261872" y="4105656"/>
            <a:ext cx="2578608" cy="411480"/>
          </a:xfrm>
          <a:prstGeom prst="line">
            <a:avLst/>
          </a:prstGeom>
          <a:ln w="9525">
            <a:solidFill>
              <a:srgbClr val="D7E2E5"/>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1261872" y="4517136"/>
            <a:ext cx="2578608" cy="301752"/>
          </a:xfrm>
          <a:prstGeom prst="line">
            <a:avLst/>
          </a:prstGeom>
          <a:ln w="9525">
            <a:solidFill>
              <a:srgbClr val="D7E2E5"/>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1261872" y="4517136"/>
            <a:ext cx="2578608" cy="1014984"/>
          </a:xfrm>
          <a:prstGeom prst="line">
            <a:avLst/>
          </a:prstGeom>
          <a:ln w="9525">
            <a:solidFill>
              <a:srgbClr val="D7E2E5"/>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1261872" y="1965960"/>
            <a:ext cx="2578608" cy="3099815"/>
          </a:xfrm>
          <a:prstGeom prst="line">
            <a:avLst/>
          </a:prstGeom>
          <a:ln w="9525">
            <a:solidFill>
              <a:srgbClr val="D7E2E5"/>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1261872" y="2679191"/>
            <a:ext cx="2578608" cy="2386584"/>
          </a:xfrm>
          <a:prstGeom prst="line">
            <a:avLst/>
          </a:prstGeom>
          <a:ln w="9525">
            <a:solidFill>
              <a:srgbClr val="D7E2E5"/>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1261872" y="3392424"/>
            <a:ext cx="2578608" cy="1673351"/>
          </a:xfrm>
          <a:prstGeom prst="line">
            <a:avLst/>
          </a:prstGeom>
          <a:ln w="9525">
            <a:solidFill>
              <a:srgbClr val="D7E2E5"/>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1261872" y="4105656"/>
            <a:ext cx="2578608" cy="960119"/>
          </a:xfrm>
          <a:prstGeom prst="line">
            <a:avLst/>
          </a:prstGeom>
          <a:ln w="9525">
            <a:solidFill>
              <a:srgbClr val="D7E2E5"/>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1261872" y="4818888"/>
            <a:ext cx="2578608" cy="246887"/>
          </a:xfrm>
          <a:prstGeom prst="line">
            <a:avLst/>
          </a:prstGeom>
          <a:ln w="9525">
            <a:solidFill>
              <a:srgbClr val="D7E2E5"/>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1261872" y="5065775"/>
            <a:ext cx="2578608" cy="466345"/>
          </a:xfrm>
          <a:prstGeom prst="line">
            <a:avLst/>
          </a:prstGeom>
          <a:ln w="9525">
            <a:solidFill>
              <a:srgbClr val="D7E2E5"/>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1261872" y="1965960"/>
            <a:ext cx="2578608" cy="3648456"/>
          </a:xfrm>
          <a:prstGeom prst="line">
            <a:avLst/>
          </a:prstGeom>
          <a:ln w="9525">
            <a:solidFill>
              <a:srgbClr val="D7E2E5"/>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1261872" y="2679191"/>
            <a:ext cx="2578608" cy="2935225"/>
          </a:xfrm>
          <a:prstGeom prst="line">
            <a:avLst/>
          </a:prstGeom>
          <a:ln w="9525">
            <a:solidFill>
              <a:srgbClr val="D7E2E5"/>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1261872" y="3392424"/>
            <a:ext cx="2578608" cy="2221992"/>
          </a:xfrm>
          <a:prstGeom prst="line">
            <a:avLst/>
          </a:prstGeom>
          <a:ln w="9525">
            <a:solidFill>
              <a:srgbClr val="D7E2E5"/>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1261872" y="4105656"/>
            <a:ext cx="2578608" cy="1508760"/>
          </a:xfrm>
          <a:prstGeom prst="line">
            <a:avLst/>
          </a:prstGeom>
          <a:ln w="9525">
            <a:solidFill>
              <a:srgbClr val="D7E2E5"/>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1261872" y="4818888"/>
            <a:ext cx="2578608" cy="795528"/>
          </a:xfrm>
          <a:prstGeom prst="line">
            <a:avLst/>
          </a:prstGeom>
          <a:ln w="9525">
            <a:solidFill>
              <a:srgbClr val="D7E2E5"/>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1261872" y="5532120"/>
            <a:ext cx="2578608" cy="82296"/>
          </a:xfrm>
          <a:prstGeom prst="line">
            <a:avLst/>
          </a:prstGeom>
          <a:ln w="9525">
            <a:solidFill>
              <a:srgbClr val="D7E2E5"/>
            </a:solidFill>
          </a:ln>
        </p:spPr>
        <p:style>
          <a:lnRef idx="2">
            <a:schemeClr val="accent1"/>
          </a:lnRef>
          <a:fillRef idx="0">
            <a:schemeClr val="accent1"/>
          </a:fillRef>
          <a:effectRef idx="1">
            <a:schemeClr val="accent1"/>
          </a:effectRef>
          <a:fontRef idx="minor">
            <a:schemeClr val="tx1"/>
          </a:fontRef>
        </p:style>
      </p:cxnSp>
      <p:sp>
        <p:nvSpPr>
          <p:cNvPr id="69" name="Oval 68"/>
          <p:cNvSpPr/>
          <p:nvPr/>
        </p:nvSpPr>
        <p:spPr>
          <a:xfrm>
            <a:off x="6400800" y="2377440"/>
            <a:ext cx="640080" cy="640080"/>
          </a:xfrm>
          <a:prstGeom prst="ellipse">
            <a:avLst/>
          </a:prstGeom>
          <a:solidFill>
            <a:srgbClr val="1B99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800" b="1" i="0">
                <a:solidFill>
                  <a:srgbClr val="0F2A33"/>
                </a:solidFill>
                <a:latin typeface="Calibri"/>
              </a:rPr>
              <a:t/>
            </a:r>
          </a:p>
        </p:txBody>
      </p:sp>
      <p:sp>
        <p:nvSpPr>
          <p:cNvPr id="70" name="Oval 69"/>
          <p:cNvSpPr/>
          <p:nvPr/>
        </p:nvSpPr>
        <p:spPr>
          <a:xfrm>
            <a:off x="6400800" y="3840480"/>
            <a:ext cx="640080" cy="640080"/>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800" b="1" i="0">
                <a:solidFill>
                  <a:srgbClr val="0F2A33"/>
                </a:solidFill>
                <a:latin typeface="Calibri"/>
              </a:rPr>
              <a:t/>
            </a:r>
          </a:p>
        </p:txBody>
      </p:sp>
      <p:cxnSp>
        <p:nvCxnSpPr>
          <p:cNvPr id="71" name="Connector 70"/>
          <p:cNvCxnSpPr/>
          <p:nvPr/>
        </p:nvCxnSpPr>
        <p:spPr>
          <a:xfrm>
            <a:off x="4297680" y="1965960"/>
            <a:ext cx="2103120" cy="731520"/>
          </a:xfrm>
          <a:prstGeom prst="line">
            <a:avLst/>
          </a:prstGeom>
          <a:ln w="9525">
            <a:solidFill>
              <a:srgbClr val="D7E2E5"/>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4297680" y="1965960"/>
            <a:ext cx="2103120" cy="2194560"/>
          </a:xfrm>
          <a:prstGeom prst="line">
            <a:avLst/>
          </a:prstGeom>
          <a:ln w="9525">
            <a:solidFill>
              <a:srgbClr val="D7E2E5"/>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4297680" y="2679191"/>
            <a:ext cx="2103120" cy="18289"/>
          </a:xfrm>
          <a:prstGeom prst="line">
            <a:avLst/>
          </a:prstGeom>
          <a:ln w="9525">
            <a:solidFill>
              <a:srgbClr val="D7E2E5"/>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4297680" y="2679191"/>
            <a:ext cx="2103120" cy="1481329"/>
          </a:xfrm>
          <a:prstGeom prst="line">
            <a:avLst/>
          </a:prstGeom>
          <a:ln w="9525">
            <a:solidFill>
              <a:srgbClr val="D7E2E5"/>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4297680" y="2697480"/>
            <a:ext cx="2103120" cy="694944"/>
          </a:xfrm>
          <a:prstGeom prst="line">
            <a:avLst/>
          </a:prstGeom>
          <a:ln w="9525">
            <a:solidFill>
              <a:srgbClr val="D7E2E5"/>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4297680" y="3392424"/>
            <a:ext cx="2103120" cy="768096"/>
          </a:xfrm>
          <a:prstGeom prst="line">
            <a:avLst/>
          </a:prstGeom>
          <a:ln w="9525">
            <a:solidFill>
              <a:srgbClr val="D7E2E5"/>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4297680" y="2697480"/>
            <a:ext cx="2103120" cy="1408176"/>
          </a:xfrm>
          <a:prstGeom prst="line">
            <a:avLst/>
          </a:prstGeom>
          <a:ln w="9525">
            <a:solidFill>
              <a:srgbClr val="D7E2E5"/>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4297680" y="4105656"/>
            <a:ext cx="2103120" cy="54864"/>
          </a:xfrm>
          <a:prstGeom prst="line">
            <a:avLst/>
          </a:prstGeom>
          <a:ln w="9525">
            <a:solidFill>
              <a:srgbClr val="D7E2E5"/>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4297680" y="2697480"/>
            <a:ext cx="2103120" cy="2121408"/>
          </a:xfrm>
          <a:prstGeom prst="line">
            <a:avLst/>
          </a:prstGeom>
          <a:ln w="9525">
            <a:solidFill>
              <a:srgbClr val="D7E2E5"/>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4297680" y="4160520"/>
            <a:ext cx="2103120" cy="658368"/>
          </a:xfrm>
          <a:prstGeom prst="line">
            <a:avLst/>
          </a:prstGeom>
          <a:ln w="9525">
            <a:solidFill>
              <a:srgbClr val="D7E2E5"/>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4297680" y="2697480"/>
            <a:ext cx="2103120" cy="2834640"/>
          </a:xfrm>
          <a:prstGeom prst="line">
            <a:avLst/>
          </a:prstGeom>
          <a:ln w="9525">
            <a:solidFill>
              <a:srgbClr val="D7E2E5"/>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4297680" y="4160520"/>
            <a:ext cx="2103120" cy="1371600"/>
          </a:xfrm>
          <a:prstGeom prst="line">
            <a:avLst/>
          </a:prstGeom>
          <a:ln w="9525">
            <a:solidFill>
              <a:srgbClr val="D7E2E5"/>
            </a:solidFill>
          </a:ln>
        </p:spPr>
        <p:style>
          <a:lnRef idx="2">
            <a:schemeClr val="accent1"/>
          </a:lnRef>
          <a:fillRef idx="0">
            <a:schemeClr val="accent1"/>
          </a:fillRef>
          <a:effectRef idx="1">
            <a:schemeClr val="accent1"/>
          </a:effectRef>
          <a:fontRef idx="minor">
            <a:schemeClr val="tx1"/>
          </a:fontRef>
        </p:style>
      </p:cxnSp>
      <p:sp>
        <p:nvSpPr>
          <p:cNvPr id="83" name="TextBox 82"/>
          <p:cNvSpPr txBox="1"/>
          <p:nvPr/>
        </p:nvSpPr>
        <p:spPr>
          <a:xfrm>
            <a:off x="7178040" y="2423160"/>
            <a:ext cx="1645920" cy="548640"/>
          </a:xfrm>
          <a:prstGeom prst="rect">
            <a:avLst/>
          </a:prstGeom>
          <a:noFill/>
        </p:spPr>
        <p:txBody>
          <a:bodyPr wrap="square" anchor="ctr" lIns="45720" rIns="45720">
            <a:spAutoFit/>
          </a:bodyPr>
          <a:lstStyle/>
          <a:p>
            <a:pPr algn="l">
              <a:spcAft>
                <a:spcPts val="400"/>
              </a:spcAft>
            </a:pPr>
            <a:r>
              <a:rPr sz="1600" b="1" i="0">
                <a:solidFill>
                  <a:srgbClr val="1B998B"/>
                </a:solidFill>
                <a:latin typeface="Calibri"/>
              </a:rPr>
              <a:t>benign</a:t>
            </a:r>
          </a:p>
        </p:txBody>
      </p:sp>
      <p:sp>
        <p:nvSpPr>
          <p:cNvPr id="84" name="TextBox 83"/>
          <p:cNvSpPr txBox="1"/>
          <p:nvPr/>
        </p:nvSpPr>
        <p:spPr>
          <a:xfrm>
            <a:off x="7178040" y="3886200"/>
            <a:ext cx="1645920" cy="548640"/>
          </a:xfrm>
          <a:prstGeom prst="rect">
            <a:avLst/>
          </a:prstGeom>
          <a:noFill/>
        </p:spPr>
        <p:txBody>
          <a:bodyPr wrap="square" anchor="ctr" lIns="45720" rIns="45720">
            <a:spAutoFit/>
          </a:bodyPr>
          <a:lstStyle/>
          <a:p>
            <a:pPr algn="l">
              <a:spcAft>
                <a:spcPts val="400"/>
              </a:spcAft>
            </a:pPr>
            <a:r>
              <a:rPr sz="1600" b="1" i="0">
                <a:solidFill>
                  <a:srgbClr val="D1495B"/>
                </a:solidFill>
                <a:latin typeface="Calibri"/>
              </a:rPr>
              <a:t>malicious</a:t>
            </a:r>
          </a:p>
        </p:txBody>
      </p:sp>
      <p:sp>
        <p:nvSpPr>
          <p:cNvPr id="85" name="Rounded Rectangle 84"/>
          <p:cNvSpPr/>
          <p:nvPr/>
        </p:nvSpPr>
        <p:spPr>
          <a:xfrm>
            <a:off x="8778240" y="1463040"/>
            <a:ext cx="2880360" cy="457200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6" name="TextBox 85"/>
          <p:cNvSpPr txBox="1"/>
          <p:nvPr/>
        </p:nvSpPr>
        <p:spPr>
          <a:xfrm>
            <a:off x="9006840" y="1645920"/>
            <a:ext cx="2468879" cy="502920"/>
          </a:xfrm>
          <a:prstGeom prst="rect">
            <a:avLst/>
          </a:prstGeom>
          <a:noFill/>
        </p:spPr>
        <p:txBody>
          <a:bodyPr wrap="square" anchor="ctr" lIns="45720" rIns="45720">
            <a:spAutoFit/>
          </a:bodyPr>
          <a:lstStyle/>
          <a:p>
            <a:pPr algn="l">
              <a:spcAft>
                <a:spcPts val="400"/>
              </a:spcAft>
            </a:pPr>
            <a:r>
              <a:rPr sz="1700" b="1" i="0">
                <a:solidFill>
                  <a:srgbClr val="0F2A33"/>
                </a:solidFill>
                <a:latin typeface="Calibri"/>
              </a:rPr>
              <a:t>Rules</a:t>
            </a:r>
          </a:p>
        </p:txBody>
      </p:sp>
      <p:sp>
        <p:nvSpPr>
          <p:cNvPr id="87" name="TextBox 86"/>
          <p:cNvSpPr txBox="1"/>
          <p:nvPr/>
        </p:nvSpPr>
        <p:spPr>
          <a:xfrm>
            <a:off x="9006840" y="2240280"/>
            <a:ext cx="2468879" cy="3657600"/>
          </a:xfrm>
          <a:prstGeom prst="rect">
            <a:avLst/>
          </a:prstGeom>
          <a:noFill/>
        </p:spPr>
        <p:txBody>
          <a:bodyPr wrap="square" anchor="t" lIns="45720" rIns="45720">
            <a:spAutoFit/>
          </a:bodyPr>
          <a:lstStyle/>
          <a:p>
            <a:pPr algn="l">
              <a:spcAft>
                <a:spcPts val="400"/>
              </a:spcAft>
            </a:pPr>
            <a:r>
              <a:rPr sz="1400" b="0" i="0">
                <a:solidFill>
                  <a:srgbClr val="0F2A33"/>
                </a:solidFill>
                <a:latin typeface="Calibri"/>
              </a:rPr>
              <a:t>W1: 64×16 int8 weights</a:t>
            </a:r>
          </a:p>
          <a:p>
            <a:pPr algn="l">
              <a:spcAft>
                <a:spcPts val="400"/>
              </a:spcAft>
            </a:pPr>
            <a:r>
              <a:rPr sz="1400" b="0" i="0">
                <a:solidFill>
                  <a:srgbClr val="0F2A33"/>
                </a:solidFill>
                <a:latin typeface="Calibri"/>
              </a:rPr>
              <a:t>W2: 16×2 int8 weights</a:t>
            </a:r>
          </a:p>
          <a:p>
            <a:pPr algn="l">
              <a:spcAft>
                <a:spcPts val="400"/>
              </a:spcAft>
            </a:pPr>
            <a:r>
              <a:rPr sz="1400" b="0" i="0">
                <a:solidFill>
                  <a:srgbClr val="0F2A33"/>
                </a:solidFill>
                <a:latin typeface="Calibri"/>
              </a:rPr>
              <a:t>Thresholds 256 / 128</a:t>
            </a:r>
          </a:p>
          <a:p>
            <a:pPr algn="l">
              <a:spcAft>
                <a:spcPts val="400"/>
              </a:spcAft>
            </a:pPr>
            <a:r>
              <a:rPr sz="1400" b="0" i="0">
                <a:solidFill>
                  <a:srgbClr val="0F2A33"/>
                </a:solidFill>
                <a:latin typeface="Calibri"/>
              </a:rPr>
              <a:t>Leak: lose 1/4 per step</a:t>
            </a:r>
          </a:p>
          <a:p>
            <a:pPr algn="l">
              <a:spcAft>
                <a:spcPts val="400"/>
              </a:spcAft>
            </a:pPr>
            <a:r>
              <a:rPr sz="1400" b="0" i="0">
                <a:solidFill>
                  <a:srgbClr val="0F2A33"/>
                </a:solidFill>
                <a:latin typeface="Calibri"/>
              </a:rPr>
              <a:t>8 time steps</a:t>
            </a:r>
          </a:p>
          <a:p>
            <a:pPr algn="l">
              <a:spcAft>
                <a:spcPts val="400"/>
              </a:spcAft>
            </a:pPr>
            <a:r>
              <a:rPr sz="1400" b="1" i="0">
                <a:solidFill>
                  <a:srgbClr val="0F2A33"/>
                </a:solidFill>
                <a:latin typeface="Calibri"/>
              </a:rPr>
              <a:t>Decision: </a:t>
            </a:r>
            <a:r>
              <a:rPr sz="1400" b="0" i="0">
                <a:solidFill>
                  <a:srgbClr val="0F2A33"/>
                </a:solidFill>
                <a:latin typeface="Calibri"/>
              </a:rPr>
              <a:t>malicious if its neuron fired more often (tie: higher charge)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02975" y="6400800"/>
            <a:ext cx="822960" cy="274320"/>
          </a:xfrm>
          <a:prstGeom prst="rect">
            <a:avLst/>
          </a:prstGeom>
          <a:noFill/>
        </p:spPr>
        <p:txBody>
          <a:bodyPr wrap="square" anchor="t" lIns="45720" rIns="45720">
            <a:spAutoFit/>
          </a:bodyPr>
          <a:lstStyle/>
          <a:p>
            <a:pPr algn="r">
              <a:spcAft>
                <a:spcPts val="400"/>
              </a:spcAft>
            </a:pPr>
            <a:r>
              <a:rPr sz="1100" b="0" i="0">
                <a:solidFill>
                  <a:srgbClr val="5F6F78"/>
                </a:solidFill>
                <a:latin typeface="Calibri"/>
              </a:rPr>
              <a:t>16</a:t>
            </a:r>
          </a:p>
        </p:txBody>
      </p:sp>
      <p:sp>
        <p:nvSpPr>
          <p:cNvPr id="3" name="TextBox 2"/>
          <p:cNvSpPr txBox="1"/>
          <p:nvPr/>
        </p:nvSpPr>
        <p:spPr>
          <a:xfrm>
            <a:off x="548640" y="6400800"/>
            <a:ext cx="7315200" cy="274320"/>
          </a:xfrm>
          <a:prstGeom prst="rect">
            <a:avLst/>
          </a:prstGeom>
          <a:noFill/>
        </p:spPr>
        <p:txBody>
          <a:bodyPr wrap="square" anchor="t" lIns="45720" rIns="45720">
            <a:spAutoFit/>
          </a:bodyPr>
          <a:lstStyle/>
          <a:p>
            <a:pPr algn="l">
              <a:spcAft>
                <a:spcPts val="400"/>
              </a:spcAft>
            </a:pPr>
            <a:r>
              <a:rPr sz="1100" b="0" i="0">
                <a:solidFill>
                  <a:srgbClr val="5F6F78"/>
                </a:solidFill>
                <a:latin typeface="Calibri"/>
              </a:rPr>
              <a:t>2  Our design</a:t>
            </a:r>
          </a:p>
        </p:txBody>
      </p:sp>
      <p:sp>
        <p:nvSpPr>
          <p:cNvPr id="4" name="Title"/>
          <p:cNvSpPr txBox="1"/>
          <p:nvPr/>
        </p:nvSpPr>
        <p:spPr>
          <a:xfrm>
            <a:off x="548640" y="320040"/>
            <a:ext cx="11064240" cy="777240"/>
          </a:xfrm>
          <a:prstGeom prst="rect">
            <a:avLst/>
          </a:prstGeom>
          <a:noFill/>
        </p:spPr>
        <p:txBody>
          <a:bodyPr wrap="square" anchor="ctr" lIns="45720" rIns="45720">
            <a:spAutoFit/>
          </a:bodyPr>
          <a:lstStyle/>
          <a:p>
            <a:pPr algn="l">
              <a:spcAft>
                <a:spcPts val="400"/>
              </a:spcAft>
            </a:pPr>
            <a:r>
              <a:rPr sz="3400" b="1" i="0">
                <a:solidFill>
                  <a:srgbClr val="0F2A33"/>
                </a:solidFill>
                <a:latin typeface="Cambria"/>
              </a:rPr>
              <a:t>HDL architecture of the neurons (snn_core.v)</a:t>
            </a:r>
          </a:p>
        </p:txBody>
      </p:sp>
      <p:sp>
        <p:nvSpPr>
          <p:cNvPr id="5" name="Rounded Rectangle 4"/>
          <p:cNvSpPr/>
          <p:nvPr/>
        </p:nvSpPr>
        <p:spPr>
          <a:xfrm>
            <a:off x="548640" y="1600200"/>
            <a:ext cx="1691640" cy="1371600"/>
          </a:xfrm>
          <a:prstGeom prst="roundRect">
            <a:avLst>
              <a:gd name="adj" fmla="val 12000"/>
            </a:avLst>
          </a:prstGeom>
          <a:solidFill>
            <a:srgbClr val="1B4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300" b="1" i="0">
                <a:solidFill>
                  <a:srgbClr val="FFFFFF"/>
                </a:solidFill>
                <a:latin typeface="Calibri"/>
              </a:rPr>
              <a:t>pend[63:0]</a:t>
            </a:r>
          </a:p>
          <a:p>
            <a:pPr algn="ctr"/>
            <a:r>
              <a:rPr sz="1300" b="1" i="0">
                <a:solidFill>
                  <a:srgbClr val="FFFFFF"/>
                </a:solidFill>
                <a:latin typeface="Calibri"/>
              </a:rPr>
              <a:t>+ lowest-'1' finder</a:t>
            </a:r>
          </a:p>
        </p:txBody>
      </p:sp>
      <p:sp>
        <p:nvSpPr>
          <p:cNvPr id="6" name="TextBox 5"/>
          <p:cNvSpPr txBox="1"/>
          <p:nvPr/>
        </p:nvSpPr>
        <p:spPr>
          <a:xfrm>
            <a:off x="548640" y="3017520"/>
            <a:ext cx="1691640" cy="365760"/>
          </a:xfrm>
          <a:prstGeom prst="rect">
            <a:avLst/>
          </a:prstGeom>
          <a:noFill/>
        </p:spPr>
        <p:txBody>
          <a:bodyPr wrap="square" anchor="t" lIns="45720" rIns="45720">
            <a:spAutoFit/>
          </a:bodyPr>
          <a:lstStyle/>
          <a:p>
            <a:pPr algn="ctr">
              <a:spcAft>
                <a:spcPts val="400"/>
              </a:spcAft>
            </a:pPr>
            <a:r>
              <a:rPr sz="1300" b="0" i="0">
                <a:solidFill>
                  <a:srgbClr val="5F6F78"/>
                </a:solidFill>
                <a:latin typeface="Calibri"/>
              </a:rPr>
              <a:t>which input next?</a:t>
            </a:r>
          </a:p>
        </p:txBody>
      </p:sp>
      <p:cxnSp>
        <p:nvCxnSpPr>
          <p:cNvPr id="7" name="Connector 6"/>
          <p:cNvCxnSpPr/>
          <p:nvPr/>
        </p:nvCxnSpPr>
        <p:spPr>
          <a:xfrm>
            <a:off x="2240280" y="2286000"/>
            <a:ext cx="201168" cy="0"/>
          </a:xfrm>
          <a:prstGeom prst="line">
            <a:avLst/>
          </a:prstGeom>
          <a:ln w="28575">
            <a:solidFill>
              <a:srgbClr val="1B4D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441448" y="1600200"/>
            <a:ext cx="1691640" cy="1371600"/>
          </a:xfrm>
          <a:prstGeom prst="roundRect">
            <a:avLst>
              <a:gd name="adj" fmla="val 12000"/>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300" b="1" i="0">
                <a:solidFill>
                  <a:srgbClr val="FFFFFF"/>
                </a:solidFill>
                <a:latin typeface="Calibri"/>
              </a:rPr>
              <a:t>W1 memory</a:t>
            </a:r>
          </a:p>
          <a:p>
            <a:pPr algn="ctr"/>
            <a:r>
              <a:rPr sz="1300" b="1" i="0">
                <a:solidFill>
                  <a:srgbClr val="FFFFFF"/>
                </a:solidFill>
                <a:latin typeface="Calibri"/>
              </a:rPr>
              <a:t>4 banks × 64 × 32 bit</a:t>
            </a:r>
          </a:p>
        </p:txBody>
      </p:sp>
      <p:sp>
        <p:nvSpPr>
          <p:cNvPr id="9" name="TextBox 8"/>
          <p:cNvSpPr txBox="1"/>
          <p:nvPr/>
        </p:nvSpPr>
        <p:spPr>
          <a:xfrm>
            <a:off x="2441448" y="3017520"/>
            <a:ext cx="1691640" cy="365760"/>
          </a:xfrm>
          <a:prstGeom prst="rect">
            <a:avLst/>
          </a:prstGeom>
          <a:noFill/>
        </p:spPr>
        <p:txBody>
          <a:bodyPr wrap="square" anchor="t" lIns="45720" rIns="45720">
            <a:spAutoFit/>
          </a:bodyPr>
          <a:lstStyle/>
          <a:p>
            <a:pPr algn="ctr">
              <a:spcAft>
                <a:spcPts val="400"/>
              </a:spcAft>
            </a:pPr>
            <a:r>
              <a:rPr sz="1300" b="0" i="0">
                <a:solidFill>
                  <a:srgbClr val="5F6F78"/>
                </a:solidFill>
                <a:latin typeface="Calibri"/>
              </a:rPr>
              <a:t>one row = 16 weights</a:t>
            </a:r>
          </a:p>
        </p:txBody>
      </p:sp>
      <p:cxnSp>
        <p:nvCxnSpPr>
          <p:cNvPr id="10" name="Connector 9"/>
          <p:cNvCxnSpPr/>
          <p:nvPr/>
        </p:nvCxnSpPr>
        <p:spPr>
          <a:xfrm>
            <a:off x="4133087" y="2286000"/>
            <a:ext cx="201169" cy="0"/>
          </a:xfrm>
          <a:prstGeom prst="line">
            <a:avLst/>
          </a:prstGeom>
          <a:ln w="28575">
            <a:solidFill>
              <a:srgbClr val="1B4D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334255" y="1600200"/>
            <a:ext cx="1691640" cy="1371600"/>
          </a:xfrm>
          <a:prstGeom prst="roundRect">
            <a:avLst>
              <a:gd name="adj" fmla="val 12000"/>
            </a:avLst>
          </a:prstGeom>
          <a:solidFill>
            <a:srgbClr val="7A5C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300" b="1" i="0">
                <a:solidFill>
                  <a:srgbClr val="FFFFFF"/>
                </a:solidFill>
                <a:latin typeface="Calibri"/>
              </a:rPr>
              <a:t>16 accumulators</a:t>
            </a:r>
          </a:p>
          <a:p>
            <a:pPr algn="ctr"/>
            <a:r>
              <a:rPr sz="1300" b="1" i="0">
                <a:solidFill>
                  <a:srgbClr val="FFFFFF"/>
                </a:solidFill>
                <a:latin typeface="Calibri"/>
              </a:rPr>
              <a:t>acc[h] += W1[row][h]</a:t>
            </a:r>
          </a:p>
        </p:txBody>
      </p:sp>
      <p:sp>
        <p:nvSpPr>
          <p:cNvPr id="12" name="TextBox 11"/>
          <p:cNvSpPr txBox="1"/>
          <p:nvPr/>
        </p:nvSpPr>
        <p:spPr>
          <a:xfrm>
            <a:off x="4334255" y="3017520"/>
            <a:ext cx="1691640" cy="365760"/>
          </a:xfrm>
          <a:prstGeom prst="rect">
            <a:avLst/>
          </a:prstGeom>
          <a:noFill/>
        </p:spPr>
        <p:txBody>
          <a:bodyPr wrap="square" anchor="t" lIns="45720" rIns="45720">
            <a:spAutoFit/>
          </a:bodyPr>
          <a:lstStyle/>
          <a:p>
            <a:pPr algn="ctr">
              <a:spcAft>
                <a:spcPts val="400"/>
              </a:spcAft>
            </a:pPr>
            <a:r>
              <a:rPr sz="1300" b="0" i="0">
                <a:solidFill>
                  <a:srgbClr val="5F6F78"/>
                </a:solidFill>
                <a:latin typeface="Calibri"/>
              </a:rPr>
              <a:t>input current, once</a:t>
            </a:r>
          </a:p>
        </p:txBody>
      </p:sp>
      <p:cxnSp>
        <p:nvCxnSpPr>
          <p:cNvPr id="13" name="Connector 12"/>
          <p:cNvCxnSpPr/>
          <p:nvPr/>
        </p:nvCxnSpPr>
        <p:spPr>
          <a:xfrm>
            <a:off x="6025896" y="2286000"/>
            <a:ext cx="201167" cy="0"/>
          </a:xfrm>
          <a:prstGeom prst="line">
            <a:avLst/>
          </a:prstGeom>
          <a:ln w="28575">
            <a:solidFill>
              <a:srgbClr val="1B4D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227063" y="1600200"/>
            <a:ext cx="1691640" cy="1371600"/>
          </a:xfrm>
          <a:prstGeom prst="roundRect">
            <a:avLst>
              <a:gd name="adj" fmla="val 12000"/>
            </a:avLst>
          </a:prstGeom>
          <a:solidFill>
            <a:srgbClr val="7A5C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300" b="1" i="0">
                <a:solidFill>
                  <a:srgbClr val="FFFFFF"/>
                </a:solidFill>
                <a:latin typeface="Calibri"/>
              </a:rPr>
              <a:t>16 LIF neurons</a:t>
            </a:r>
          </a:p>
          <a:p>
            <a:pPr algn="ctr"/>
            <a:r>
              <a:rPr sz="1300" b="1" i="0">
                <a:solidFill>
                  <a:srgbClr val="FFFFFF"/>
                </a:solidFill>
                <a:latin typeface="Calibri"/>
              </a:rPr>
              <a:t>v − v&gt;&gt;2 + acc ≥ TH1</a:t>
            </a:r>
          </a:p>
        </p:txBody>
      </p:sp>
      <p:sp>
        <p:nvSpPr>
          <p:cNvPr id="15" name="TextBox 14"/>
          <p:cNvSpPr txBox="1"/>
          <p:nvPr/>
        </p:nvSpPr>
        <p:spPr>
          <a:xfrm>
            <a:off x="6227063" y="3017520"/>
            <a:ext cx="1691640" cy="365760"/>
          </a:xfrm>
          <a:prstGeom prst="rect">
            <a:avLst/>
          </a:prstGeom>
          <a:noFill/>
        </p:spPr>
        <p:txBody>
          <a:bodyPr wrap="square" anchor="t" lIns="45720" rIns="45720">
            <a:spAutoFit/>
          </a:bodyPr>
          <a:lstStyle/>
          <a:p>
            <a:pPr algn="ctr">
              <a:spcAft>
                <a:spcPts val="400"/>
              </a:spcAft>
            </a:pPr>
            <a:r>
              <a:rPr sz="1300" b="0" i="0">
                <a:solidFill>
                  <a:srgbClr val="5F6F78"/>
                </a:solidFill>
                <a:latin typeface="Calibri"/>
              </a:rPr>
              <a:t>8 steps, in parallel</a:t>
            </a:r>
          </a:p>
        </p:txBody>
      </p:sp>
      <p:cxnSp>
        <p:nvCxnSpPr>
          <p:cNvPr id="16" name="Connector 15"/>
          <p:cNvCxnSpPr/>
          <p:nvPr/>
        </p:nvCxnSpPr>
        <p:spPr>
          <a:xfrm>
            <a:off x="7918703" y="2286000"/>
            <a:ext cx="201168" cy="0"/>
          </a:xfrm>
          <a:prstGeom prst="line">
            <a:avLst/>
          </a:prstGeom>
          <a:ln w="28575">
            <a:solidFill>
              <a:srgbClr val="1B4D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119871" y="1600200"/>
            <a:ext cx="1691640" cy="1371600"/>
          </a:xfrm>
          <a:prstGeom prst="roundRect">
            <a:avLst>
              <a:gd name="adj" fmla="val 12000"/>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300" b="1" i="0">
                <a:solidFill>
                  <a:srgbClr val="FFFFFF"/>
                </a:solidFill>
                <a:latin typeface="Calibri"/>
              </a:rPr>
              <a:t>adder tree, 2 pipeline</a:t>
            </a:r>
          </a:p>
          <a:p>
            <a:pPr algn="ctr"/>
            <a:r>
              <a:rPr sz="1300" b="1" i="0">
                <a:solidFill>
                  <a:srgbClr val="FFFFFF"/>
                </a:solidFill>
                <a:latin typeface="Calibri"/>
              </a:rPr>
              <a:t>stages: Σ W2 · spikes</a:t>
            </a:r>
          </a:p>
        </p:txBody>
      </p:sp>
      <p:sp>
        <p:nvSpPr>
          <p:cNvPr id="18" name="TextBox 17"/>
          <p:cNvSpPr txBox="1"/>
          <p:nvPr/>
        </p:nvSpPr>
        <p:spPr>
          <a:xfrm>
            <a:off x="8119871" y="3017520"/>
            <a:ext cx="1691640" cy="365760"/>
          </a:xfrm>
          <a:prstGeom prst="rect">
            <a:avLst/>
          </a:prstGeom>
          <a:noFill/>
        </p:spPr>
        <p:txBody>
          <a:bodyPr wrap="square" anchor="t" lIns="45720" rIns="45720">
            <a:spAutoFit/>
          </a:bodyPr>
          <a:lstStyle/>
          <a:p>
            <a:pPr algn="ctr">
              <a:spcAft>
                <a:spcPts val="400"/>
              </a:spcAft>
            </a:pPr>
            <a:r>
              <a:rPr sz="1300" b="0" i="0">
                <a:solidFill>
                  <a:srgbClr val="5F6F78"/>
                </a:solidFill>
                <a:latin typeface="Calibri"/>
              </a:rPr>
              <a:t>output current</a:t>
            </a:r>
          </a:p>
        </p:txBody>
      </p:sp>
      <p:cxnSp>
        <p:nvCxnSpPr>
          <p:cNvPr id="19" name="Connector 18"/>
          <p:cNvCxnSpPr/>
          <p:nvPr/>
        </p:nvCxnSpPr>
        <p:spPr>
          <a:xfrm>
            <a:off x="9811511" y="2286000"/>
            <a:ext cx="201169" cy="0"/>
          </a:xfrm>
          <a:prstGeom prst="line">
            <a:avLst/>
          </a:prstGeom>
          <a:ln w="28575">
            <a:solidFill>
              <a:srgbClr val="1B4D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10012680" y="1600200"/>
            <a:ext cx="1691640" cy="1371600"/>
          </a:xfrm>
          <a:prstGeom prst="roundRect">
            <a:avLst>
              <a:gd name="adj" fmla="val 12000"/>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300" b="1" i="0">
                <a:solidFill>
                  <a:srgbClr val="FFFFFF"/>
                </a:solidFill>
                <a:latin typeface="Calibri"/>
              </a:rPr>
              <a:t>2 output LIF + spike</a:t>
            </a:r>
          </a:p>
          <a:p>
            <a:pPr algn="ctr"/>
            <a:r>
              <a:rPr sz="1300" b="1" i="0">
                <a:solidFill>
                  <a:srgbClr val="FFFFFF"/>
                </a:solidFill>
                <a:latin typeface="Calibri"/>
              </a:rPr>
              <a:t>counters cnt0 / cnt1</a:t>
            </a:r>
          </a:p>
        </p:txBody>
      </p:sp>
      <p:sp>
        <p:nvSpPr>
          <p:cNvPr id="21" name="TextBox 20"/>
          <p:cNvSpPr txBox="1"/>
          <p:nvPr/>
        </p:nvSpPr>
        <p:spPr>
          <a:xfrm>
            <a:off x="10012680" y="3017520"/>
            <a:ext cx="1691640" cy="365760"/>
          </a:xfrm>
          <a:prstGeom prst="rect">
            <a:avLst/>
          </a:prstGeom>
          <a:noFill/>
        </p:spPr>
        <p:txBody>
          <a:bodyPr wrap="square" anchor="t" lIns="45720" rIns="45720">
            <a:spAutoFit/>
          </a:bodyPr>
          <a:lstStyle/>
          <a:p>
            <a:pPr algn="ctr">
              <a:spcAft>
                <a:spcPts val="400"/>
              </a:spcAft>
            </a:pPr>
            <a:r>
              <a:rPr sz="1300" b="0" i="0">
                <a:solidFill>
                  <a:srgbClr val="5F6F78"/>
                </a:solidFill>
                <a:latin typeface="Calibri"/>
              </a:rPr>
              <a:t>≥ TH2 → count</a:t>
            </a:r>
          </a:p>
        </p:txBody>
      </p:sp>
      <p:sp>
        <p:nvSpPr>
          <p:cNvPr id="22" name="TextBox 21"/>
          <p:cNvSpPr txBox="1"/>
          <p:nvPr/>
        </p:nvSpPr>
        <p:spPr>
          <a:xfrm>
            <a:off x="548640" y="3611880"/>
            <a:ext cx="3657600" cy="411480"/>
          </a:xfrm>
          <a:prstGeom prst="rect">
            <a:avLst/>
          </a:prstGeom>
          <a:noFill/>
        </p:spPr>
        <p:txBody>
          <a:bodyPr wrap="square" anchor="t" lIns="45720" rIns="45720">
            <a:spAutoFit/>
          </a:bodyPr>
          <a:lstStyle/>
          <a:p>
            <a:pPr algn="l">
              <a:spcAft>
                <a:spcPts val="400"/>
              </a:spcAft>
            </a:pPr>
            <a:r>
              <a:rPr sz="1800" b="1" i="0">
                <a:solidFill>
                  <a:srgbClr val="0F2A33"/>
                </a:solidFill>
                <a:latin typeface="Cambria"/>
              </a:rPr>
              <a:t>Control: a 4-state machine</a:t>
            </a:r>
          </a:p>
        </p:txBody>
      </p:sp>
      <p:sp>
        <p:nvSpPr>
          <p:cNvPr id="23" name="Rounded Rectangle 22"/>
          <p:cNvSpPr/>
          <p:nvPr/>
        </p:nvSpPr>
        <p:spPr>
          <a:xfrm>
            <a:off x="548640" y="4114800"/>
            <a:ext cx="2377440" cy="68580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700" b="1" i="0">
                <a:solidFill>
                  <a:srgbClr val="0F2A33"/>
                </a:solidFill>
                <a:latin typeface="Calibri"/>
              </a:rPr>
              <a:t>IDLE</a:t>
            </a:r>
          </a:p>
        </p:txBody>
      </p:sp>
      <p:sp>
        <p:nvSpPr>
          <p:cNvPr id="24" name="TextBox 23"/>
          <p:cNvSpPr txBox="1"/>
          <p:nvPr/>
        </p:nvSpPr>
        <p:spPr>
          <a:xfrm>
            <a:off x="548640" y="4846320"/>
            <a:ext cx="2377440" cy="365760"/>
          </a:xfrm>
          <a:prstGeom prst="rect">
            <a:avLst/>
          </a:prstGeom>
          <a:noFill/>
        </p:spPr>
        <p:txBody>
          <a:bodyPr wrap="square" anchor="t" lIns="45720" rIns="45720">
            <a:spAutoFit/>
          </a:bodyPr>
          <a:lstStyle/>
          <a:p>
            <a:pPr algn="ctr">
              <a:spcAft>
                <a:spcPts val="400"/>
              </a:spcAft>
            </a:pPr>
            <a:r>
              <a:rPr sz="1400" b="0" i="0">
                <a:solidFill>
                  <a:srgbClr val="5F6F78"/>
                </a:solidFill>
                <a:latin typeface="Calibri"/>
              </a:rPr>
              <a:t>wait for a spike vector</a:t>
            </a:r>
          </a:p>
        </p:txBody>
      </p:sp>
      <p:cxnSp>
        <p:nvCxnSpPr>
          <p:cNvPr id="25" name="Connector 24"/>
          <p:cNvCxnSpPr/>
          <p:nvPr/>
        </p:nvCxnSpPr>
        <p:spPr>
          <a:xfrm>
            <a:off x="2926080" y="4453128"/>
            <a:ext cx="411480" cy="0"/>
          </a:xfrm>
          <a:prstGeom prst="line">
            <a:avLst/>
          </a:prstGeom>
          <a:ln w="28575">
            <a:solidFill>
              <a:srgbClr val="1B4D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3337560" y="4114800"/>
            <a:ext cx="2377440" cy="685800"/>
          </a:xfrm>
          <a:prstGeom prst="roundRect">
            <a:avLst>
              <a:gd name="adj" fmla="val 12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700" b="1" i="0">
                <a:solidFill>
                  <a:srgbClr val="0F2A33"/>
                </a:solidFill>
                <a:latin typeface="Calibri"/>
              </a:rPr>
              <a:t>ACC</a:t>
            </a:r>
          </a:p>
        </p:txBody>
      </p:sp>
      <p:sp>
        <p:nvSpPr>
          <p:cNvPr id="27" name="TextBox 26"/>
          <p:cNvSpPr txBox="1"/>
          <p:nvPr/>
        </p:nvSpPr>
        <p:spPr>
          <a:xfrm>
            <a:off x="3337560" y="4846320"/>
            <a:ext cx="2377440" cy="365760"/>
          </a:xfrm>
          <a:prstGeom prst="rect">
            <a:avLst/>
          </a:prstGeom>
          <a:noFill/>
        </p:spPr>
        <p:txBody>
          <a:bodyPr wrap="square" anchor="t" lIns="45720" rIns="45720">
            <a:spAutoFit/>
          </a:bodyPr>
          <a:lstStyle/>
          <a:p>
            <a:pPr algn="ctr">
              <a:spcAft>
                <a:spcPts val="400"/>
              </a:spcAft>
            </a:pPr>
            <a:r>
              <a:rPr sz="1400" b="0" i="0">
                <a:solidFill>
                  <a:srgbClr val="5F6F78"/>
                </a:solidFill>
                <a:latin typeface="Calibri"/>
              </a:rPr>
              <a:t>1 clock per 'yes' input</a:t>
            </a:r>
          </a:p>
        </p:txBody>
      </p:sp>
      <p:cxnSp>
        <p:nvCxnSpPr>
          <p:cNvPr id="28" name="Connector 27"/>
          <p:cNvCxnSpPr/>
          <p:nvPr/>
        </p:nvCxnSpPr>
        <p:spPr>
          <a:xfrm>
            <a:off x="5715000" y="4453128"/>
            <a:ext cx="411479" cy="0"/>
          </a:xfrm>
          <a:prstGeom prst="line">
            <a:avLst/>
          </a:prstGeom>
          <a:ln w="28575">
            <a:solidFill>
              <a:srgbClr val="1B4D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126479" y="4114800"/>
            <a:ext cx="2377440" cy="685800"/>
          </a:xfrm>
          <a:prstGeom prst="roundRect">
            <a:avLst>
              <a:gd name="adj" fmla="val 12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700" b="1" i="0">
                <a:solidFill>
                  <a:srgbClr val="0F2A33"/>
                </a:solidFill>
                <a:latin typeface="Calibri"/>
              </a:rPr>
              <a:t>LIF</a:t>
            </a:r>
          </a:p>
        </p:txBody>
      </p:sp>
      <p:sp>
        <p:nvSpPr>
          <p:cNvPr id="30" name="TextBox 29"/>
          <p:cNvSpPr txBox="1"/>
          <p:nvPr/>
        </p:nvSpPr>
        <p:spPr>
          <a:xfrm>
            <a:off x="6126479" y="4846320"/>
            <a:ext cx="2377440" cy="365760"/>
          </a:xfrm>
          <a:prstGeom prst="rect">
            <a:avLst/>
          </a:prstGeom>
          <a:noFill/>
        </p:spPr>
        <p:txBody>
          <a:bodyPr wrap="square" anchor="t" lIns="45720" rIns="45720">
            <a:spAutoFit/>
          </a:bodyPr>
          <a:lstStyle/>
          <a:p>
            <a:pPr algn="ctr">
              <a:spcAft>
                <a:spcPts val="400"/>
              </a:spcAft>
            </a:pPr>
            <a:r>
              <a:rPr sz="1400" b="0" i="0">
                <a:solidFill>
                  <a:srgbClr val="5F6F78"/>
                </a:solidFill>
                <a:latin typeface="Calibri"/>
              </a:rPr>
              <a:t>8 time steps</a:t>
            </a:r>
          </a:p>
        </p:txBody>
      </p:sp>
      <p:cxnSp>
        <p:nvCxnSpPr>
          <p:cNvPr id="31" name="Connector 30"/>
          <p:cNvCxnSpPr/>
          <p:nvPr/>
        </p:nvCxnSpPr>
        <p:spPr>
          <a:xfrm>
            <a:off x="8503919" y="4453128"/>
            <a:ext cx="411481" cy="0"/>
          </a:xfrm>
          <a:prstGeom prst="line">
            <a:avLst/>
          </a:prstGeom>
          <a:ln w="28575">
            <a:solidFill>
              <a:srgbClr val="1B4D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8915399" y="4114800"/>
            <a:ext cx="2377440" cy="685800"/>
          </a:xfrm>
          <a:prstGeom prst="roundRect">
            <a:avLst>
              <a:gd name="adj" fmla="val 12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700" b="1" i="0">
                <a:solidFill>
                  <a:srgbClr val="0F2A33"/>
                </a:solidFill>
                <a:latin typeface="Calibri"/>
              </a:rPr>
              <a:t>OUT</a:t>
            </a:r>
          </a:p>
        </p:txBody>
      </p:sp>
      <p:sp>
        <p:nvSpPr>
          <p:cNvPr id="33" name="TextBox 32"/>
          <p:cNvSpPr txBox="1"/>
          <p:nvPr/>
        </p:nvSpPr>
        <p:spPr>
          <a:xfrm>
            <a:off x="8915399" y="4846320"/>
            <a:ext cx="2377440" cy="365760"/>
          </a:xfrm>
          <a:prstGeom prst="rect">
            <a:avLst/>
          </a:prstGeom>
          <a:noFill/>
        </p:spPr>
        <p:txBody>
          <a:bodyPr wrap="square" anchor="t" lIns="45720" rIns="45720">
            <a:spAutoFit/>
          </a:bodyPr>
          <a:lstStyle/>
          <a:p>
            <a:pPr algn="ctr">
              <a:spcAft>
                <a:spcPts val="400"/>
              </a:spcAft>
            </a:pPr>
            <a:r>
              <a:rPr sz="1400" b="0" i="0">
                <a:solidFill>
                  <a:srgbClr val="5F6F78"/>
                </a:solidFill>
                <a:latin typeface="Calibri"/>
              </a:rPr>
              <a:t>decide, report</a:t>
            </a:r>
          </a:p>
        </p:txBody>
      </p:sp>
      <p:sp>
        <p:nvSpPr>
          <p:cNvPr id="34" name="Rounded Rectangle 33"/>
          <p:cNvSpPr/>
          <p:nvPr/>
        </p:nvSpPr>
        <p:spPr>
          <a:xfrm>
            <a:off x="548640" y="5440680"/>
            <a:ext cx="11109960" cy="68580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r>
              <a:rPr sz="1500" b="1" i="0">
                <a:solidFill>
                  <a:srgbClr val="0F2A33"/>
                </a:solidFill>
                <a:latin typeface="Calibri"/>
              </a:rPr>
              <a:t>Latency per frame = (number of 'yes' inputs) + 8 + 6 cycles ≈ 28 cycles.   </a:t>
            </a:r>
            <a:r>
              <a:rPr sz="1500" b="0" i="0">
                <a:solidFill>
                  <a:srgbClr val="0F2A33"/>
                </a:solidFill>
                <a:latin typeface="Calibri"/>
              </a:rPr>
              <a:t>No multipliers: every product is 'add the weight or not'.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02975" y="6400800"/>
            <a:ext cx="822960" cy="274320"/>
          </a:xfrm>
          <a:prstGeom prst="rect">
            <a:avLst/>
          </a:prstGeom>
          <a:noFill/>
        </p:spPr>
        <p:txBody>
          <a:bodyPr wrap="square" anchor="t" lIns="45720" rIns="45720">
            <a:spAutoFit/>
          </a:bodyPr>
          <a:lstStyle/>
          <a:p>
            <a:pPr algn="r">
              <a:spcAft>
                <a:spcPts val="400"/>
              </a:spcAft>
            </a:pPr>
            <a:r>
              <a:rPr sz="1100" b="0" i="0">
                <a:solidFill>
                  <a:srgbClr val="5F6F78"/>
                </a:solidFill>
                <a:latin typeface="Calibri"/>
              </a:rPr>
              <a:t>17</a:t>
            </a:r>
          </a:p>
        </p:txBody>
      </p:sp>
      <p:sp>
        <p:nvSpPr>
          <p:cNvPr id="3" name="TextBox 2"/>
          <p:cNvSpPr txBox="1"/>
          <p:nvPr/>
        </p:nvSpPr>
        <p:spPr>
          <a:xfrm>
            <a:off x="548640" y="6400800"/>
            <a:ext cx="7315200" cy="274320"/>
          </a:xfrm>
          <a:prstGeom prst="rect">
            <a:avLst/>
          </a:prstGeom>
          <a:noFill/>
        </p:spPr>
        <p:txBody>
          <a:bodyPr wrap="square" anchor="t" lIns="45720" rIns="45720">
            <a:spAutoFit/>
          </a:bodyPr>
          <a:lstStyle/>
          <a:p>
            <a:pPr algn="l">
              <a:spcAft>
                <a:spcPts val="400"/>
              </a:spcAft>
            </a:pPr>
            <a:r>
              <a:rPr sz="1100" b="0" i="0">
                <a:solidFill>
                  <a:srgbClr val="5F6F78"/>
                </a:solidFill>
                <a:latin typeface="Calibri"/>
              </a:rPr>
              <a:t>2  Our design</a:t>
            </a:r>
          </a:p>
        </p:txBody>
      </p:sp>
      <p:sp>
        <p:nvSpPr>
          <p:cNvPr id="4" name="Title"/>
          <p:cNvSpPr txBox="1"/>
          <p:nvPr/>
        </p:nvSpPr>
        <p:spPr>
          <a:xfrm>
            <a:off x="548640" y="320040"/>
            <a:ext cx="11064240" cy="777240"/>
          </a:xfrm>
          <a:prstGeom prst="rect">
            <a:avLst/>
          </a:prstGeom>
          <a:noFill/>
        </p:spPr>
        <p:txBody>
          <a:bodyPr wrap="square" anchor="ctr" lIns="45720" rIns="45720">
            <a:spAutoFit/>
          </a:bodyPr>
          <a:lstStyle/>
          <a:p>
            <a:pPr algn="l">
              <a:spcAft>
                <a:spcPts val="400"/>
              </a:spcAft>
            </a:pPr>
            <a:r>
              <a:rPr sz="3400" b="1" i="0">
                <a:solidFill>
                  <a:srgbClr val="0F2A33"/>
                </a:solidFill>
                <a:latin typeface="Cambria"/>
              </a:rPr>
              <a:t>One LIF neuron in hardware</a:t>
            </a:r>
          </a:p>
        </p:txBody>
      </p:sp>
      <p:sp>
        <p:nvSpPr>
          <p:cNvPr id="5" name="Subtitle"/>
          <p:cNvSpPr txBox="1"/>
          <p:nvPr/>
        </p:nvSpPr>
        <p:spPr>
          <a:xfrm>
            <a:off x="548640" y="1051560"/>
            <a:ext cx="11064240" cy="411480"/>
          </a:xfrm>
          <a:prstGeom prst="rect">
            <a:avLst/>
          </a:prstGeom>
          <a:noFill/>
        </p:spPr>
        <p:txBody>
          <a:bodyPr wrap="square" anchor="t" lIns="45720" rIns="45720">
            <a:spAutoFit/>
          </a:bodyPr>
          <a:lstStyle/>
          <a:p>
            <a:pPr algn="l">
              <a:spcAft>
                <a:spcPts val="400"/>
              </a:spcAft>
            </a:pPr>
            <a:r>
              <a:rPr sz="1600" b="0" i="1">
                <a:solidFill>
                  <a:srgbClr val="5F6F78"/>
                </a:solidFill>
                <a:latin typeface="Calibri"/>
              </a:rPr>
              <a:t>v ← v − (v &gt;&gt;&gt; 2) + I ;  spike = (v ≥ TH1) ;  if spike: v ← 0</a:t>
            </a:r>
          </a:p>
        </p:txBody>
      </p:sp>
      <p:sp>
        <p:nvSpPr>
          <p:cNvPr id="6" name="Rounded Rectangle 5"/>
          <p:cNvSpPr/>
          <p:nvPr/>
        </p:nvSpPr>
        <p:spPr>
          <a:xfrm>
            <a:off x="640080" y="2743200"/>
            <a:ext cx="1645920" cy="1005840"/>
          </a:xfrm>
          <a:prstGeom prst="roundRect">
            <a:avLst>
              <a:gd name="adj" fmla="val 12000"/>
            </a:avLst>
          </a:prstGeom>
          <a:solidFill>
            <a:srgbClr val="7A5C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400" b="1" i="0">
                <a:solidFill>
                  <a:srgbClr val="FFFFFF"/>
                </a:solidFill>
                <a:latin typeface="Calibri"/>
              </a:rPr>
              <a:t>v register</a:t>
            </a:r>
          </a:p>
          <a:p>
            <a:pPr algn="ctr"/>
            <a:r>
              <a:rPr sz="1400" b="1" i="0">
                <a:solidFill>
                  <a:srgbClr val="FFFFFF"/>
                </a:solidFill>
                <a:latin typeface="Calibri"/>
              </a:rPr>
              <a:t>20 bit</a:t>
            </a:r>
          </a:p>
        </p:txBody>
      </p:sp>
      <p:sp>
        <p:nvSpPr>
          <p:cNvPr id="7" name="Rounded Rectangle 6"/>
          <p:cNvSpPr/>
          <p:nvPr/>
        </p:nvSpPr>
        <p:spPr>
          <a:xfrm>
            <a:off x="2834640" y="1737360"/>
            <a:ext cx="1645920" cy="914400"/>
          </a:xfrm>
          <a:prstGeom prst="roundRect">
            <a:avLst>
              <a:gd name="adj" fmla="val 12000"/>
            </a:avLst>
          </a:prstGeom>
          <a:solidFill>
            <a:srgbClr val="EAF2F3"/>
          </a:solidFill>
          <a:ln w="15875">
            <a:solidFill>
              <a:srgbClr val="C9D6D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400" b="1" i="0">
                <a:solidFill>
                  <a:srgbClr val="0F2A33"/>
                </a:solidFill>
                <a:latin typeface="Calibri"/>
              </a:rPr>
              <a:t>&gt;&gt;&gt; 2</a:t>
            </a:r>
          </a:p>
          <a:p>
            <a:pPr algn="ctr"/>
            <a:r>
              <a:rPr sz="1400" b="1" i="0">
                <a:solidFill>
                  <a:srgbClr val="0F2A33"/>
                </a:solidFill>
                <a:latin typeface="Calibri"/>
              </a:rPr>
              <a:t>(just wiring)</a:t>
            </a:r>
          </a:p>
        </p:txBody>
      </p:sp>
      <p:sp>
        <p:nvSpPr>
          <p:cNvPr id="8" name="Rounded Rectangle 7"/>
          <p:cNvSpPr/>
          <p:nvPr/>
        </p:nvSpPr>
        <p:spPr>
          <a:xfrm>
            <a:off x="2834640" y="2788920"/>
            <a:ext cx="1645920" cy="914400"/>
          </a:xfrm>
          <a:prstGeom prst="roundRect">
            <a:avLst>
              <a:gd name="adj" fmla="val 12000"/>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400" b="1" i="0">
                <a:solidFill>
                  <a:srgbClr val="FFFFFF"/>
                </a:solidFill>
                <a:latin typeface="Calibri"/>
              </a:rPr>
              <a:t>subtract</a:t>
            </a:r>
          </a:p>
          <a:p>
            <a:pPr algn="ctr"/>
            <a:r>
              <a:rPr sz="1400" b="1" i="0">
                <a:solidFill>
                  <a:srgbClr val="FFFFFF"/>
                </a:solidFill>
                <a:latin typeface="Calibri"/>
              </a:rPr>
              <a:t>v − v/4</a:t>
            </a:r>
          </a:p>
        </p:txBody>
      </p:sp>
      <p:sp>
        <p:nvSpPr>
          <p:cNvPr id="9" name="Rounded Rectangle 8"/>
          <p:cNvSpPr/>
          <p:nvPr/>
        </p:nvSpPr>
        <p:spPr>
          <a:xfrm>
            <a:off x="5029200" y="2788920"/>
            <a:ext cx="1645920" cy="914400"/>
          </a:xfrm>
          <a:prstGeom prst="roundRect">
            <a:avLst>
              <a:gd name="adj" fmla="val 12000"/>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400" b="1" i="0">
                <a:solidFill>
                  <a:srgbClr val="FFFFFF"/>
                </a:solidFill>
                <a:latin typeface="Calibri"/>
              </a:rPr>
              <a:t>add</a:t>
            </a:r>
          </a:p>
          <a:p>
            <a:pPr algn="ctr"/>
            <a:r>
              <a:rPr sz="1400" b="1" i="0">
                <a:solidFill>
                  <a:srgbClr val="FFFFFF"/>
                </a:solidFill>
                <a:latin typeface="Calibri"/>
              </a:rPr>
              <a:t>+ I (acc)</a:t>
            </a:r>
          </a:p>
        </p:txBody>
      </p:sp>
      <p:sp>
        <p:nvSpPr>
          <p:cNvPr id="10" name="Rounded Rectangle 9"/>
          <p:cNvSpPr/>
          <p:nvPr/>
        </p:nvSpPr>
        <p:spPr>
          <a:xfrm>
            <a:off x="7223760" y="2788920"/>
            <a:ext cx="1645920" cy="914400"/>
          </a:xfrm>
          <a:prstGeom prst="roundRect">
            <a:avLst>
              <a:gd name="adj" fmla="val 12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400" b="1" i="0">
                <a:solidFill>
                  <a:srgbClr val="0F2A33"/>
                </a:solidFill>
                <a:latin typeface="Calibri"/>
              </a:rPr>
              <a:t>compare</a:t>
            </a:r>
          </a:p>
          <a:p>
            <a:pPr algn="ctr"/>
            <a:r>
              <a:rPr sz="1400" b="1" i="0">
                <a:solidFill>
                  <a:srgbClr val="0F2A33"/>
                </a:solidFill>
                <a:latin typeface="Calibri"/>
              </a:rPr>
              <a:t>≥ TH1</a:t>
            </a:r>
          </a:p>
        </p:txBody>
      </p:sp>
      <p:sp>
        <p:nvSpPr>
          <p:cNvPr id="11" name="Rounded Rectangle 10"/>
          <p:cNvSpPr/>
          <p:nvPr/>
        </p:nvSpPr>
        <p:spPr>
          <a:xfrm>
            <a:off x="7223760" y="4206240"/>
            <a:ext cx="1645920" cy="914400"/>
          </a:xfrm>
          <a:prstGeom prst="roundRect">
            <a:avLst>
              <a:gd name="adj" fmla="val 12000"/>
            </a:avLst>
          </a:prstGeom>
          <a:solidFill>
            <a:srgbClr val="EAF2F3"/>
          </a:solidFill>
          <a:ln w="15875">
            <a:solidFill>
              <a:srgbClr val="C9D6D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400" b="1" i="0">
                <a:solidFill>
                  <a:srgbClr val="0F2A33"/>
                </a:solidFill>
                <a:latin typeface="Calibri"/>
              </a:rPr>
              <a:t>mux</a:t>
            </a:r>
          </a:p>
          <a:p>
            <a:pPr algn="ctr"/>
            <a:r>
              <a:rPr sz="1400" b="1" i="0">
                <a:solidFill>
                  <a:srgbClr val="0F2A33"/>
                </a:solidFill>
                <a:latin typeface="Calibri"/>
              </a:rPr>
              <a:t>spike ? 0 : v</a:t>
            </a:r>
          </a:p>
        </p:txBody>
      </p:sp>
      <p:sp>
        <p:nvSpPr>
          <p:cNvPr id="12" name="Rounded Rectangle 11"/>
          <p:cNvSpPr/>
          <p:nvPr/>
        </p:nvSpPr>
        <p:spPr>
          <a:xfrm>
            <a:off x="9509760" y="2788920"/>
            <a:ext cx="1645920" cy="914400"/>
          </a:xfrm>
          <a:prstGeom prst="roundRect">
            <a:avLst>
              <a:gd name="adj" fmla="val 12000"/>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400" b="1" i="0">
                <a:solidFill>
                  <a:srgbClr val="FFFFFF"/>
                </a:solidFill>
                <a:latin typeface="Calibri"/>
              </a:rPr>
              <a:t>spike</a:t>
            </a:r>
          </a:p>
          <a:p>
            <a:pPr algn="ctr"/>
            <a:r>
              <a:rPr sz="1400" b="1" i="0">
                <a:solidFill>
                  <a:srgbClr val="FFFFFF"/>
                </a:solidFill>
                <a:latin typeface="Calibri"/>
              </a:rPr>
              <a:t>(1 bit, registered)</a:t>
            </a:r>
          </a:p>
        </p:txBody>
      </p:sp>
      <p:cxnSp>
        <p:nvCxnSpPr>
          <p:cNvPr id="13" name="Connector 12"/>
          <p:cNvCxnSpPr/>
          <p:nvPr/>
        </p:nvCxnSpPr>
        <p:spPr>
          <a:xfrm flipV="1">
            <a:off x="2286000" y="2194560"/>
            <a:ext cx="548640" cy="914400"/>
          </a:xfrm>
          <a:prstGeom prst="line">
            <a:avLst/>
          </a:prstGeom>
          <a:ln w="28575">
            <a:solidFill>
              <a:srgbClr val="1B4D5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286000" y="3246120"/>
            <a:ext cx="548640" cy="0"/>
          </a:xfrm>
          <a:prstGeom prst="line">
            <a:avLst/>
          </a:prstGeom>
          <a:ln w="28575">
            <a:solidFill>
              <a:srgbClr val="1B4D5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3657600" y="2651760"/>
            <a:ext cx="0" cy="137160"/>
          </a:xfrm>
          <a:prstGeom prst="line">
            <a:avLst/>
          </a:prstGeom>
          <a:ln w="28575">
            <a:solidFill>
              <a:srgbClr val="1B4D5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480560" y="3246120"/>
            <a:ext cx="548640" cy="0"/>
          </a:xfrm>
          <a:prstGeom prst="line">
            <a:avLst/>
          </a:prstGeom>
          <a:ln w="28575">
            <a:solidFill>
              <a:srgbClr val="1B4D5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675120" y="3246120"/>
            <a:ext cx="548640" cy="0"/>
          </a:xfrm>
          <a:prstGeom prst="line">
            <a:avLst/>
          </a:prstGeom>
          <a:ln w="28575">
            <a:solidFill>
              <a:srgbClr val="1B4D5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8869680" y="3246120"/>
            <a:ext cx="640080" cy="0"/>
          </a:xfrm>
          <a:prstGeom prst="line">
            <a:avLst/>
          </a:prstGeom>
          <a:ln w="28575">
            <a:solidFill>
              <a:srgbClr val="1B4D5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046720" y="3703320"/>
            <a:ext cx="0" cy="502920"/>
          </a:xfrm>
          <a:prstGeom prst="line">
            <a:avLst/>
          </a:prstGeom>
          <a:ln w="28575">
            <a:solidFill>
              <a:srgbClr val="1B4D5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1463040" y="4663440"/>
            <a:ext cx="5760720" cy="0"/>
          </a:xfrm>
          <a:prstGeom prst="line">
            <a:avLst/>
          </a:prstGeom>
          <a:ln w="28575">
            <a:solidFill>
              <a:srgbClr val="5F6F7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1463040" y="3749039"/>
            <a:ext cx="0" cy="914401"/>
          </a:xfrm>
          <a:prstGeom prst="line">
            <a:avLst/>
          </a:prstGeom>
          <a:ln w="28575">
            <a:solidFill>
              <a:srgbClr val="5F6F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2194560" y="4709160"/>
            <a:ext cx="4572000" cy="365760"/>
          </a:xfrm>
          <a:prstGeom prst="rect">
            <a:avLst/>
          </a:prstGeom>
          <a:noFill/>
        </p:spPr>
        <p:txBody>
          <a:bodyPr wrap="square" anchor="t" lIns="45720" rIns="45720">
            <a:spAutoFit/>
          </a:bodyPr>
          <a:lstStyle/>
          <a:p>
            <a:pPr algn="l">
              <a:spcAft>
                <a:spcPts val="400"/>
              </a:spcAft>
            </a:pPr>
            <a:r>
              <a:rPr sz="1300" b="0" i="0">
                <a:solidFill>
                  <a:srgbClr val="5F6F78"/>
                </a:solidFill>
                <a:latin typeface="Calibri"/>
              </a:rPr>
              <a:t>new charge, written back every time step</a:t>
            </a:r>
          </a:p>
        </p:txBody>
      </p:sp>
      <p:sp>
        <p:nvSpPr>
          <p:cNvPr id="23" name="Rounded Rectangle 22"/>
          <p:cNvSpPr/>
          <p:nvPr/>
        </p:nvSpPr>
        <p:spPr>
          <a:xfrm>
            <a:off x="548640" y="5349240"/>
            <a:ext cx="11109960" cy="73152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r>
              <a:rPr sz="1500" b="1" i="0">
                <a:solidFill>
                  <a:srgbClr val="0F2A33"/>
                </a:solidFill>
                <a:latin typeface="Calibri"/>
              </a:rPr>
              <a:t>Cost of one neuron:  </a:t>
            </a:r>
            <a:r>
              <a:rPr sz="1500" b="0" i="0">
                <a:solidFill>
                  <a:srgbClr val="0F2A33"/>
                </a:solidFill>
                <a:latin typeface="Calibri"/>
              </a:rPr>
              <a:t>one 20-bit register + 2 adders + 1 comparator + 1 multiplexer · no multiplier · 16 copies run in parallel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02975" y="6400800"/>
            <a:ext cx="822960" cy="274320"/>
          </a:xfrm>
          <a:prstGeom prst="rect">
            <a:avLst/>
          </a:prstGeom>
          <a:noFill/>
        </p:spPr>
        <p:txBody>
          <a:bodyPr wrap="square" anchor="t" lIns="45720" rIns="45720">
            <a:spAutoFit/>
          </a:bodyPr>
          <a:lstStyle/>
          <a:p>
            <a:pPr algn="r">
              <a:spcAft>
                <a:spcPts val="400"/>
              </a:spcAft>
            </a:pPr>
            <a:r>
              <a:rPr sz="1100" b="0" i="0">
                <a:solidFill>
                  <a:srgbClr val="5F6F78"/>
                </a:solidFill>
                <a:latin typeface="Calibri"/>
              </a:rPr>
              <a:t>18</a:t>
            </a:r>
          </a:p>
        </p:txBody>
      </p:sp>
      <p:sp>
        <p:nvSpPr>
          <p:cNvPr id="3" name="TextBox 2"/>
          <p:cNvSpPr txBox="1"/>
          <p:nvPr/>
        </p:nvSpPr>
        <p:spPr>
          <a:xfrm>
            <a:off x="548640" y="6400800"/>
            <a:ext cx="7315200" cy="274320"/>
          </a:xfrm>
          <a:prstGeom prst="rect">
            <a:avLst/>
          </a:prstGeom>
          <a:noFill/>
        </p:spPr>
        <p:txBody>
          <a:bodyPr wrap="square" anchor="t" lIns="45720" rIns="45720">
            <a:spAutoFit/>
          </a:bodyPr>
          <a:lstStyle/>
          <a:p>
            <a:pPr algn="l">
              <a:spcAft>
                <a:spcPts val="400"/>
              </a:spcAft>
            </a:pPr>
            <a:r>
              <a:rPr sz="1100" b="0" i="0">
                <a:solidFill>
                  <a:srgbClr val="5F6F78"/>
                </a:solidFill>
                <a:latin typeface="Calibri"/>
              </a:rPr>
              <a:t>2  Our design</a:t>
            </a:r>
          </a:p>
        </p:txBody>
      </p:sp>
      <p:sp>
        <p:nvSpPr>
          <p:cNvPr id="4" name="Title"/>
          <p:cNvSpPr txBox="1"/>
          <p:nvPr/>
        </p:nvSpPr>
        <p:spPr>
          <a:xfrm>
            <a:off x="548640" y="320040"/>
            <a:ext cx="11064240" cy="777240"/>
          </a:xfrm>
          <a:prstGeom prst="rect">
            <a:avLst/>
          </a:prstGeom>
          <a:noFill/>
        </p:spPr>
        <p:txBody>
          <a:bodyPr wrap="square" anchor="ctr" lIns="45720" rIns="45720">
            <a:spAutoFit/>
          </a:bodyPr>
          <a:lstStyle/>
          <a:p>
            <a:pPr algn="l">
              <a:spcAft>
                <a:spcPts val="400"/>
              </a:spcAft>
            </a:pPr>
            <a:r>
              <a:rPr sz="3400" b="1" i="0">
                <a:solidFill>
                  <a:srgbClr val="0F2A33"/>
                </a:solidFill>
                <a:latin typeface="Cambria"/>
              </a:rPr>
              <a:t>Life of one frame, clock by clock</a:t>
            </a:r>
          </a:p>
        </p:txBody>
      </p:sp>
      <p:sp>
        <p:nvSpPr>
          <p:cNvPr id="5" name="Rounded Rectangle 4"/>
          <p:cNvSpPr/>
          <p:nvPr/>
        </p:nvSpPr>
        <p:spPr>
          <a:xfrm>
            <a:off x="548640" y="1325880"/>
            <a:ext cx="1737360" cy="621792"/>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600" b="1" i="0">
                <a:solidFill>
                  <a:srgbClr val="0F2A33"/>
                </a:solidFill>
                <a:latin typeface="Calibri"/>
              </a:rPr>
              <a:t>0 … L−1</a:t>
            </a:r>
          </a:p>
        </p:txBody>
      </p:sp>
      <p:sp>
        <p:nvSpPr>
          <p:cNvPr id="6" name="TextBox 5"/>
          <p:cNvSpPr txBox="1"/>
          <p:nvPr/>
        </p:nvSpPr>
        <p:spPr>
          <a:xfrm>
            <a:off x="2514600" y="1325880"/>
            <a:ext cx="9144000" cy="621792"/>
          </a:xfrm>
          <a:prstGeom prst="rect">
            <a:avLst/>
          </a:prstGeom>
          <a:noFill/>
        </p:spPr>
        <p:txBody>
          <a:bodyPr wrap="square" anchor="ctr" lIns="45720" rIns="45720">
            <a:spAutoFit/>
          </a:bodyPr>
          <a:lstStyle/>
          <a:p>
            <a:pPr algn="l">
              <a:spcAft>
                <a:spcPts val="400"/>
              </a:spcAft>
            </a:pPr>
            <a:r>
              <a:rPr sz="1700" b="0" i="0">
                <a:solidFill>
                  <a:srgbClr val="0F2A33"/>
                </a:solidFill>
                <a:latin typeface="Calibri"/>
              </a:rPr>
              <a:t>bytes arrive, 1 per clock; stored and read at the same time</a:t>
            </a:r>
          </a:p>
        </p:txBody>
      </p:sp>
      <p:sp>
        <p:nvSpPr>
          <p:cNvPr id="7" name="Rounded Rectangle 6"/>
          <p:cNvSpPr/>
          <p:nvPr/>
        </p:nvSpPr>
        <p:spPr>
          <a:xfrm>
            <a:off x="548640" y="2057400"/>
            <a:ext cx="1737360" cy="621792"/>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600" b="1" i="0">
                <a:solidFill>
                  <a:srgbClr val="0F2A33"/>
                </a:solidFill>
                <a:latin typeface="Calibri"/>
              </a:rPr>
              <a:t>L</a:t>
            </a:r>
          </a:p>
        </p:txBody>
      </p:sp>
      <p:sp>
        <p:nvSpPr>
          <p:cNvPr id="8" name="TextBox 7"/>
          <p:cNvSpPr txBox="1"/>
          <p:nvPr/>
        </p:nvSpPr>
        <p:spPr>
          <a:xfrm>
            <a:off x="2514600" y="2057400"/>
            <a:ext cx="9144000" cy="621792"/>
          </a:xfrm>
          <a:prstGeom prst="rect">
            <a:avLst/>
          </a:prstGeom>
          <a:noFill/>
        </p:spPr>
        <p:txBody>
          <a:bodyPr wrap="square" anchor="ctr" lIns="45720" rIns="45720">
            <a:spAutoFit/>
          </a:bodyPr>
          <a:lstStyle/>
          <a:p>
            <a:pPr algn="l">
              <a:spcAft>
                <a:spcPts val="400"/>
              </a:spcAft>
            </a:pPr>
            <a:r>
              <a:rPr sz="1700" b="0" i="0">
                <a:solidFill>
                  <a:srgbClr val="0F2A33"/>
                </a:solidFill>
                <a:latin typeface="Calibri"/>
              </a:rPr>
              <a:t>last byte: keep the frame (commit) or roll it back (bad checksum, no room)</a:t>
            </a:r>
          </a:p>
        </p:txBody>
      </p:sp>
      <p:sp>
        <p:nvSpPr>
          <p:cNvPr id="9" name="Rounded Rectangle 8"/>
          <p:cNvSpPr/>
          <p:nvPr/>
        </p:nvSpPr>
        <p:spPr>
          <a:xfrm>
            <a:off x="548640" y="2788920"/>
            <a:ext cx="1737360" cy="621792"/>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600" b="1" i="0">
                <a:solidFill>
                  <a:srgbClr val="0F2A33"/>
                </a:solidFill>
                <a:latin typeface="Calibri"/>
              </a:rPr>
              <a:t>L+1</a:t>
            </a:r>
          </a:p>
        </p:txBody>
      </p:sp>
      <p:sp>
        <p:nvSpPr>
          <p:cNvPr id="10" name="TextBox 9"/>
          <p:cNvSpPr txBox="1"/>
          <p:nvPr/>
        </p:nvSpPr>
        <p:spPr>
          <a:xfrm>
            <a:off x="2514600" y="2788920"/>
            <a:ext cx="9144000" cy="621792"/>
          </a:xfrm>
          <a:prstGeom prst="rect">
            <a:avLst/>
          </a:prstGeom>
          <a:noFill/>
        </p:spPr>
        <p:txBody>
          <a:bodyPr wrap="square" anchor="ctr" lIns="45720" rIns="45720">
            <a:spAutoFit/>
          </a:bodyPr>
          <a:lstStyle/>
          <a:p>
            <a:pPr algn="l">
              <a:spcAft>
                <a:spcPts val="400"/>
              </a:spcAft>
            </a:pPr>
            <a:r>
              <a:rPr sz="1700" b="0" i="0">
                <a:solidFill>
                  <a:srgbClr val="0F2A33"/>
                </a:solidFill>
                <a:latin typeface="Calibri"/>
              </a:rPr>
              <a:t>header fields ready (pkt_parser)</a:t>
            </a:r>
          </a:p>
        </p:txBody>
      </p:sp>
      <p:sp>
        <p:nvSpPr>
          <p:cNvPr id="11" name="Rounded Rectangle 10"/>
          <p:cNvSpPr/>
          <p:nvPr/>
        </p:nvSpPr>
        <p:spPr>
          <a:xfrm>
            <a:off x="548640" y="3520440"/>
            <a:ext cx="1737360" cy="621792"/>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600" b="1" i="0">
                <a:solidFill>
                  <a:srgbClr val="0F2A33"/>
                </a:solidFill>
                <a:latin typeface="Calibri"/>
              </a:rPr>
              <a:t>L+2</a:t>
            </a:r>
          </a:p>
        </p:txBody>
      </p:sp>
      <p:sp>
        <p:nvSpPr>
          <p:cNvPr id="12" name="TextBox 11"/>
          <p:cNvSpPr txBox="1"/>
          <p:nvPr/>
        </p:nvSpPr>
        <p:spPr>
          <a:xfrm>
            <a:off x="2514600" y="3520440"/>
            <a:ext cx="9144000" cy="621792"/>
          </a:xfrm>
          <a:prstGeom prst="rect">
            <a:avLst/>
          </a:prstGeom>
          <a:noFill/>
        </p:spPr>
        <p:txBody>
          <a:bodyPr wrap="square" anchor="ctr" lIns="45720" rIns="45720">
            <a:spAutoFit/>
          </a:bodyPr>
          <a:lstStyle/>
          <a:p>
            <a:pPr algn="l">
              <a:spcAft>
                <a:spcPts val="400"/>
              </a:spcAft>
            </a:pPr>
            <a:r>
              <a:rPr sz="1700" b="0" i="0">
                <a:solidFill>
                  <a:srgbClr val="0F2A33"/>
                </a:solidFill>
                <a:latin typeface="Calibri"/>
              </a:rPr>
              <a:t>64 spikes ready (spike_encoder)</a:t>
            </a:r>
          </a:p>
        </p:txBody>
      </p:sp>
      <p:sp>
        <p:nvSpPr>
          <p:cNvPr id="13" name="Rounded Rectangle 12"/>
          <p:cNvSpPr/>
          <p:nvPr/>
        </p:nvSpPr>
        <p:spPr>
          <a:xfrm>
            <a:off x="548640" y="4251960"/>
            <a:ext cx="1737360" cy="621792"/>
          </a:xfrm>
          <a:prstGeom prst="roundRect">
            <a:avLst>
              <a:gd name="adj" fmla="val 12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600" b="1" i="0">
                <a:solidFill>
                  <a:srgbClr val="0F2A33"/>
                </a:solidFill>
                <a:latin typeface="Calibri"/>
              </a:rPr>
              <a:t>+ ~28</a:t>
            </a:r>
          </a:p>
        </p:txBody>
      </p:sp>
      <p:sp>
        <p:nvSpPr>
          <p:cNvPr id="14" name="TextBox 13"/>
          <p:cNvSpPr txBox="1"/>
          <p:nvPr/>
        </p:nvSpPr>
        <p:spPr>
          <a:xfrm>
            <a:off x="2514600" y="4251960"/>
            <a:ext cx="9144000" cy="621792"/>
          </a:xfrm>
          <a:prstGeom prst="rect">
            <a:avLst/>
          </a:prstGeom>
          <a:noFill/>
        </p:spPr>
        <p:txBody>
          <a:bodyPr wrap="square" anchor="ctr" lIns="45720" rIns="45720">
            <a:spAutoFit/>
          </a:bodyPr>
          <a:lstStyle/>
          <a:p>
            <a:pPr algn="l">
              <a:spcAft>
                <a:spcPts val="400"/>
              </a:spcAft>
            </a:pPr>
            <a:r>
              <a:rPr sz="1700" b="0" i="0">
                <a:solidFill>
                  <a:srgbClr val="0F2A33"/>
                </a:solidFill>
                <a:latin typeface="Calibri"/>
              </a:rPr>
              <a:t>SNN verdict (snn_core)</a:t>
            </a:r>
          </a:p>
        </p:txBody>
      </p:sp>
      <p:sp>
        <p:nvSpPr>
          <p:cNvPr id="15" name="Rounded Rectangle 14"/>
          <p:cNvSpPr/>
          <p:nvPr/>
        </p:nvSpPr>
        <p:spPr>
          <a:xfrm>
            <a:off x="548640" y="4983480"/>
            <a:ext cx="1737360" cy="621792"/>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600" b="1" i="0">
                <a:solidFill>
                  <a:srgbClr val="0F2A33"/>
                </a:solidFill>
                <a:latin typeface="Calibri"/>
              </a:rPr>
              <a:t>then</a:t>
            </a:r>
          </a:p>
        </p:txBody>
      </p:sp>
      <p:sp>
        <p:nvSpPr>
          <p:cNvPr id="16" name="TextBox 15"/>
          <p:cNvSpPr txBox="1"/>
          <p:nvPr/>
        </p:nvSpPr>
        <p:spPr>
          <a:xfrm>
            <a:off x="2514600" y="4983480"/>
            <a:ext cx="9144000" cy="621792"/>
          </a:xfrm>
          <a:prstGeom prst="rect">
            <a:avLst/>
          </a:prstGeom>
          <a:noFill/>
        </p:spPr>
        <p:txBody>
          <a:bodyPr wrap="square" anchor="ctr" lIns="45720" rIns="45720">
            <a:spAutoFit/>
          </a:bodyPr>
          <a:lstStyle/>
          <a:p>
            <a:pPr algn="l">
              <a:spcAft>
                <a:spcPts val="400"/>
              </a:spcAft>
            </a:pPr>
            <a:r>
              <a:rPr sz="1700" b="0" i="0">
                <a:solidFill>
                  <a:srgbClr val="0F2A33"/>
                </a:solidFill>
                <a:latin typeface="Calibri"/>
              </a:rPr>
              <a:t>benign: stream the stored bytes out · malicious: skip them</a:t>
            </a:r>
          </a:p>
        </p:txBody>
      </p:sp>
      <p:sp>
        <p:nvSpPr>
          <p:cNvPr id="17" name="TextBox 16"/>
          <p:cNvSpPr txBox="1"/>
          <p:nvPr/>
        </p:nvSpPr>
        <p:spPr>
          <a:xfrm>
            <a:off x="548640" y="5852160"/>
            <a:ext cx="10972800" cy="365760"/>
          </a:xfrm>
          <a:prstGeom prst="rect">
            <a:avLst/>
          </a:prstGeom>
          <a:noFill/>
        </p:spPr>
        <p:txBody>
          <a:bodyPr wrap="square" anchor="t" lIns="45720" rIns="45720">
            <a:spAutoFit/>
          </a:bodyPr>
          <a:lstStyle/>
          <a:p>
            <a:pPr algn="l">
              <a:spcAft>
                <a:spcPts val="400"/>
              </a:spcAft>
            </a:pPr>
            <a:r>
              <a:rPr sz="1500" b="0" i="1">
                <a:solidFill>
                  <a:srgbClr val="5F6F78"/>
                </a:solidFill>
                <a:latin typeface="Calibri"/>
              </a:rPr>
              <a:t>Smallest frame on the wire = 84 byte-times; a decision needs ~28: the classifier keeps up with 1 Gb/s.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F2A33"/>
        </a:solidFill>
        <a:effectLst/>
      </p:bgPr>
    </p:bg>
    <p:spTree>
      <p:nvGrpSpPr>
        <p:cNvPr id="1" name=""/>
        <p:cNvGrpSpPr/>
        <p:nvPr/>
      </p:nvGrpSpPr>
      <p:grpSpPr/>
      <p:sp>
        <p:nvSpPr>
          <p:cNvPr id="2" name="TextBox 1"/>
          <p:cNvSpPr txBox="1"/>
          <p:nvPr/>
        </p:nvSpPr>
        <p:spPr>
          <a:xfrm>
            <a:off x="11002975" y="6400800"/>
            <a:ext cx="822960" cy="274320"/>
          </a:xfrm>
          <a:prstGeom prst="rect">
            <a:avLst/>
          </a:prstGeom>
          <a:noFill/>
        </p:spPr>
        <p:txBody>
          <a:bodyPr wrap="square" anchor="t" lIns="45720" rIns="45720">
            <a:spAutoFit/>
          </a:bodyPr>
          <a:lstStyle/>
          <a:p>
            <a:pPr algn="r">
              <a:spcAft>
                <a:spcPts val="400"/>
              </a:spcAft>
            </a:pPr>
            <a:r>
              <a:rPr sz="1100" b="0" i="0">
                <a:solidFill>
                  <a:srgbClr val="9FB3BA"/>
                </a:solidFill>
                <a:latin typeface="Calibri"/>
              </a:rPr>
              <a:t>19</a:t>
            </a:r>
          </a:p>
        </p:txBody>
      </p:sp>
      <p:sp>
        <p:nvSpPr>
          <p:cNvPr id="3" name="Oval 2"/>
          <p:cNvSpPr/>
          <p:nvPr/>
        </p:nvSpPr>
        <p:spPr>
          <a:xfrm>
            <a:off x="548640" y="2148840"/>
            <a:ext cx="914400" cy="9144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3400" b="1" i="0">
                <a:solidFill>
                  <a:srgbClr val="0F2A33"/>
                </a:solidFill>
                <a:latin typeface="Calibri"/>
              </a:rPr>
              <a:t>3</a:t>
            </a:r>
          </a:p>
        </p:txBody>
      </p:sp>
      <p:sp>
        <p:nvSpPr>
          <p:cNvPr id="4" name="TextBox 3"/>
          <p:cNvSpPr txBox="1"/>
          <p:nvPr/>
        </p:nvSpPr>
        <p:spPr>
          <a:xfrm>
            <a:off x="1737360" y="2057400"/>
            <a:ext cx="9601200" cy="1097280"/>
          </a:xfrm>
          <a:prstGeom prst="rect">
            <a:avLst/>
          </a:prstGeom>
          <a:noFill/>
        </p:spPr>
        <p:txBody>
          <a:bodyPr wrap="square" anchor="ctr" lIns="45720" rIns="45720">
            <a:spAutoFit/>
          </a:bodyPr>
          <a:lstStyle/>
          <a:p>
            <a:pPr algn="l">
              <a:spcAft>
                <a:spcPts val="400"/>
              </a:spcAft>
            </a:pPr>
            <a:r>
              <a:rPr sz="4000" b="1" i="0">
                <a:solidFill>
                  <a:srgbClr val="FFFFFF"/>
                </a:solidFill>
                <a:latin typeface="Cambria"/>
              </a:rPr>
              <a:t>Verification</a:t>
            </a:r>
          </a:p>
        </p:txBody>
      </p:sp>
      <p:sp>
        <p:nvSpPr>
          <p:cNvPr id="5" name="TextBox 4"/>
          <p:cNvSpPr txBox="1"/>
          <p:nvPr/>
        </p:nvSpPr>
        <p:spPr>
          <a:xfrm>
            <a:off x="1737360" y="3200400"/>
            <a:ext cx="9144000" cy="1280160"/>
          </a:xfrm>
          <a:prstGeom prst="rect">
            <a:avLst/>
          </a:prstGeom>
          <a:noFill/>
        </p:spPr>
        <p:txBody>
          <a:bodyPr wrap="square" anchor="t" lIns="45720" rIns="45720">
            <a:spAutoFit/>
          </a:bodyPr>
          <a:lstStyle/>
          <a:p>
            <a:pPr algn="l">
              <a:spcAft>
                <a:spcPts val="400"/>
              </a:spcAft>
            </a:pPr>
            <a:r>
              <a:rPr sz="1800" b="0" i="0">
                <a:solidFill>
                  <a:srgbClr val="B9CBD0"/>
                </a:solidFill>
                <a:latin typeface="Calibri"/>
              </a:rPr>
              <a:t>What a testbench is, what the test vectors are, what each test proves, and what all those xrun signals mean.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02975" y="6400800"/>
            <a:ext cx="822960" cy="274320"/>
          </a:xfrm>
          <a:prstGeom prst="rect">
            <a:avLst/>
          </a:prstGeom>
          <a:noFill/>
        </p:spPr>
        <p:txBody>
          <a:bodyPr wrap="square" anchor="t" lIns="45720" rIns="45720">
            <a:spAutoFit/>
          </a:bodyPr>
          <a:lstStyle/>
          <a:p>
            <a:pPr algn="r">
              <a:spcAft>
                <a:spcPts val="400"/>
              </a:spcAft>
            </a:pPr>
            <a:r>
              <a:rPr sz="1100" b="0" i="0">
                <a:solidFill>
                  <a:srgbClr val="5F6F78"/>
                </a:solidFill>
                <a:latin typeface="Calibri"/>
              </a:rPr>
              <a:t>20</a:t>
            </a:r>
          </a:p>
        </p:txBody>
      </p:sp>
      <p:sp>
        <p:nvSpPr>
          <p:cNvPr id="3" name="TextBox 2"/>
          <p:cNvSpPr txBox="1"/>
          <p:nvPr/>
        </p:nvSpPr>
        <p:spPr>
          <a:xfrm>
            <a:off x="548640" y="6400800"/>
            <a:ext cx="7315200" cy="274320"/>
          </a:xfrm>
          <a:prstGeom prst="rect">
            <a:avLst/>
          </a:prstGeom>
          <a:noFill/>
        </p:spPr>
        <p:txBody>
          <a:bodyPr wrap="square" anchor="t" lIns="45720" rIns="45720">
            <a:spAutoFit/>
          </a:bodyPr>
          <a:lstStyle/>
          <a:p>
            <a:pPr algn="l">
              <a:spcAft>
                <a:spcPts val="400"/>
              </a:spcAft>
            </a:pPr>
            <a:r>
              <a:rPr sz="1100" b="0" i="0">
                <a:solidFill>
                  <a:srgbClr val="5F6F78"/>
                </a:solidFill>
                <a:latin typeface="Calibri"/>
              </a:rPr>
              <a:t>3  Verification</a:t>
            </a:r>
          </a:p>
        </p:txBody>
      </p:sp>
      <p:sp>
        <p:nvSpPr>
          <p:cNvPr id="4" name="Title"/>
          <p:cNvSpPr txBox="1"/>
          <p:nvPr/>
        </p:nvSpPr>
        <p:spPr>
          <a:xfrm>
            <a:off x="548640" y="320040"/>
            <a:ext cx="11064240" cy="777240"/>
          </a:xfrm>
          <a:prstGeom prst="rect">
            <a:avLst/>
          </a:prstGeom>
          <a:noFill/>
        </p:spPr>
        <p:txBody>
          <a:bodyPr wrap="square" anchor="ctr" lIns="45720" rIns="45720">
            <a:spAutoFit/>
          </a:bodyPr>
          <a:lstStyle/>
          <a:p>
            <a:pPr algn="l">
              <a:spcAft>
                <a:spcPts val="400"/>
              </a:spcAft>
            </a:pPr>
            <a:r>
              <a:rPr sz="3400" b="1" i="0">
                <a:solidFill>
                  <a:srgbClr val="0F2A33"/>
                </a:solidFill>
                <a:latin typeface="Cambria"/>
              </a:rPr>
              <a:t>What is a testbench?</a:t>
            </a:r>
          </a:p>
        </p:txBody>
      </p:sp>
      <p:sp>
        <p:nvSpPr>
          <p:cNvPr id="5" name="Subtitle"/>
          <p:cNvSpPr txBox="1"/>
          <p:nvPr/>
        </p:nvSpPr>
        <p:spPr>
          <a:xfrm>
            <a:off x="548640" y="1051560"/>
            <a:ext cx="11064240" cy="411480"/>
          </a:xfrm>
          <a:prstGeom prst="rect">
            <a:avLst/>
          </a:prstGeom>
          <a:noFill/>
        </p:spPr>
        <p:txBody>
          <a:bodyPr wrap="square" anchor="t" lIns="45720" rIns="45720">
            <a:spAutoFit/>
          </a:bodyPr>
          <a:lstStyle/>
          <a:p>
            <a:pPr algn="l">
              <a:spcAft>
                <a:spcPts val="400"/>
              </a:spcAft>
            </a:pPr>
            <a:r>
              <a:rPr sz="1600" b="0" i="1">
                <a:solidFill>
                  <a:srgbClr val="5F6F78"/>
                </a:solidFill>
                <a:latin typeface="Calibri"/>
              </a:rPr>
              <a:t>sim/asic/tb_snn_asic.sv: a simulated world around the design</a:t>
            </a:r>
          </a:p>
        </p:txBody>
      </p:sp>
      <p:sp>
        <p:nvSpPr>
          <p:cNvPr id="6" name="Rounded Rectangle 5"/>
          <p:cNvSpPr/>
          <p:nvPr/>
        </p:nvSpPr>
        <p:spPr>
          <a:xfrm>
            <a:off x="4206240" y="2651760"/>
            <a:ext cx="3749039" cy="1554480"/>
          </a:xfrm>
          <a:prstGeom prst="roundRect">
            <a:avLst>
              <a:gd name="adj" fmla="val 12000"/>
            </a:avLst>
          </a:prstGeom>
          <a:solidFill>
            <a:srgbClr val="1B4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400" b="0" i="0">
                <a:solidFill>
                  <a:srgbClr val="FFFFFF"/>
                </a:solidFill>
                <a:latin typeface="Calibri"/>
              </a:rPr>
              <a:t>design under test</a:t>
            </a:r>
          </a:p>
          <a:p>
            <a:pPr algn="ctr"/>
            <a:r>
              <a:rPr sz="1800" b="1" i="0">
                <a:solidFill>
                  <a:srgbClr val="FFFFFF"/>
                </a:solidFill>
                <a:latin typeface="Calibri"/>
              </a:rPr>
              <a:t>snn_pkt_filter_asic</a:t>
            </a:r>
          </a:p>
        </p:txBody>
      </p:sp>
      <p:sp>
        <p:nvSpPr>
          <p:cNvPr id="7" name="Rounded Rectangle 6"/>
          <p:cNvSpPr/>
          <p:nvPr/>
        </p:nvSpPr>
        <p:spPr>
          <a:xfrm>
            <a:off x="548640" y="1645920"/>
            <a:ext cx="3063240" cy="155448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 name="TextBox 7"/>
          <p:cNvSpPr txBox="1"/>
          <p:nvPr/>
        </p:nvSpPr>
        <p:spPr>
          <a:xfrm>
            <a:off x="731520" y="1783080"/>
            <a:ext cx="2743200" cy="457200"/>
          </a:xfrm>
          <a:prstGeom prst="rect">
            <a:avLst/>
          </a:prstGeom>
          <a:noFill/>
        </p:spPr>
        <p:txBody>
          <a:bodyPr wrap="square" anchor="t" lIns="45720" rIns="45720">
            <a:spAutoFit/>
          </a:bodyPr>
          <a:lstStyle/>
          <a:p>
            <a:pPr algn="l">
              <a:spcAft>
                <a:spcPts val="400"/>
              </a:spcAft>
            </a:pPr>
            <a:r>
              <a:rPr sz="1700" b="1" i="0">
                <a:solidFill>
                  <a:srgbClr val="2E86AB"/>
                </a:solidFill>
                <a:latin typeface="Calibri"/>
              </a:rPr>
              <a:t>plays the NETWORK</a:t>
            </a:r>
          </a:p>
        </p:txBody>
      </p:sp>
      <p:sp>
        <p:nvSpPr>
          <p:cNvPr id="9" name="TextBox 8"/>
          <p:cNvSpPr txBox="1"/>
          <p:nvPr/>
        </p:nvSpPr>
        <p:spPr>
          <a:xfrm>
            <a:off x="731520" y="2286000"/>
            <a:ext cx="2743200" cy="868680"/>
          </a:xfrm>
          <a:prstGeom prst="rect">
            <a:avLst/>
          </a:prstGeom>
          <a:noFill/>
        </p:spPr>
        <p:txBody>
          <a:bodyPr wrap="square" anchor="t" lIns="45720" rIns="45720">
            <a:spAutoFit/>
          </a:bodyPr>
          <a:lstStyle/>
          <a:p>
            <a:pPr algn="l">
              <a:spcAft>
                <a:spcPts val="400"/>
              </a:spcAft>
            </a:pPr>
            <a:r>
              <a:rPr sz="1500" b="0" i="0">
                <a:solidFill>
                  <a:srgbClr val="0F2A33"/>
                </a:solidFill>
                <a:latin typeface="Calibri"/>
              </a:rPr>
              <a:t>sends 600 frames byte by byte (s_axis_*)</a:t>
            </a:r>
          </a:p>
        </p:txBody>
      </p:sp>
      <p:sp>
        <p:nvSpPr>
          <p:cNvPr id="10" name="Rounded Rectangle 9"/>
          <p:cNvSpPr/>
          <p:nvPr/>
        </p:nvSpPr>
        <p:spPr>
          <a:xfrm>
            <a:off x="548640" y="3931920"/>
            <a:ext cx="3063240" cy="155448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1" name="TextBox 10"/>
          <p:cNvSpPr txBox="1"/>
          <p:nvPr/>
        </p:nvSpPr>
        <p:spPr>
          <a:xfrm>
            <a:off x="731520" y="4069080"/>
            <a:ext cx="2743200" cy="457200"/>
          </a:xfrm>
          <a:prstGeom prst="rect">
            <a:avLst/>
          </a:prstGeom>
          <a:noFill/>
        </p:spPr>
        <p:txBody>
          <a:bodyPr wrap="square" anchor="t" lIns="45720" rIns="45720">
            <a:spAutoFit/>
          </a:bodyPr>
          <a:lstStyle/>
          <a:p>
            <a:pPr algn="l">
              <a:spcAft>
                <a:spcPts val="400"/>
              </a:spcAft>
            </a:pPr>
            <a:r>
              <a:rPr sz="1700" b="1" i="0">
                <a:solidFill>
                  <a:srgbClr val="7A5C99"/>
                </a:solidFill>
                <a:latin typeface="Calibri"/>
              </a:rPr>
              <a:t>plays the CPU</a:t>
            </a:r>
          </a:p>
        </p:txBody>
      </p:sp>
      <p:sp>
        <p:nvSpPr>
          <p:cNvPr id="12" name="TextBox 11"/>
          <p:cNvSpPr txBox="1"/>
          <p:nvPr/>
        </p:nvSpPr>
        <p:spPr>
          <a:xfrm>
            <a:off x="731520" y="4572000"/>
            <a:ext cx="2743200" cy="868680"/>
          </a:xfrm>
          <a:prstGeom prst="rect">
            <a:avLst/>
          </a:prstGeom>
          <a:noFill/>
        </p:spPr>
        <p:txBody>
          <a:bodyPr wrap="square" anchor="t" lIns="45720" rIns="45720">
            <a:spAutoFit/>
          </a:bodyPr>
          <a:lstStyle/>
          <a:p>
            <a:pPr algn="l">
              <a:spcAft>
                <a:spcPts val="400"/>
              </a:spcAft>
            </a:pPr>
            <a:r>
              <a:rPr sz="1500" b="0" i="0">
                <a:solidFill>
                  <a:srgbClr val="0F2A33"/>
                </a:solidFill>
                <a:latin typeface="Calibri"/>
              </a:rPr>
              <a:t>loads weights, sets modes, reads counters (cfg_*)</a:t>
            </a:r>
          </a:p>
        </p:txBody>
      </p:sp>
      <p:sp>
        <p:nvSpPr>
          <p:cNvPr id="13" name="Rounded Rectangle 12"/>
          <p:cNvSpPr/>
          <p:nvPr/>
        </p:nvSpPr>
        <p:spPr>
          <a:xfrm>
            <a:off x="8595360" y="1645920"/>
            <a:ext cx="3063240" cy="155448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4" name="TextBox 13"/>
          <p:cNvSpPr txBox="1"/>
          <p:nvPr/>
        </p:nvSpPr>
        <p:spPr>
          <a:xfrm>
            <a:off x="8778240" y="1783080"/>
            <a:ext cx="2743200" cy="457200"/>
          </a:xfrm>
          <a:prstGeom prst="rect">
            <a:avLst/>
          </a:prstGeom>
          <a:noFill/>
        </p:spPr>
        <p:txBody>
          <a:bodyPr wrap="square" anchor="t" lIns="45720" rIns="45720">
            <a:spAutoFit/>
          </a:bodyPr>
          <a:lstStyle/>
          <a:p>
            <a:pPr algn="l">
              <a:spcAft>
                <a:spcPts val="400"/>
              </a:spcAft>
            </a:pPr>
            <a:r>
              <a:rPr sz="1700" b="1" i="0">
                <a:solidFill>
                  <a:srgbClr val="1B998B"/>
                </a:solidFill>
                <a:latin typeface="Calibri"/>
              </a:rPr>
              <a:t>plays the COMPUTER</a:t>
            </a:r>
          </a:p>
        </p:txBody>
      </p:sp>
      <p:sp>
        <p:nvSpPr>
          <p:cNvPr id="15" name="TextBox 14"/>
          <p:cNvSpPr txBox="1"/>
          <p:nvPr/>
        </p:nvSpPr>
        <p:spPr>
          <a:xfrm>
            <a:off x="8778240" y="2286000"/>
            <a:ext cx="2743200" cy="868680"/>
          </a:xfrm>
          <a:prstGeom prst="rect">
            <a:avLst/>
          </a:prstGeom>
          <a:noFill/>
        </p:spPr>
        <p:txBody>
          <a:bodyPr wrap="square" anchor="t" lIns="45720" rIns="45720">
            <a:spAutoFit/>
          </a:bodyPr>
          <a:lstStyle/>
          <a:p>
            <a:pPr algn="l">
              <a:spcAft>
                <a:spcPts val="400"/>
              </a:spcAft>
            </a:pPr>
            <a:r>
              <a:rPr sz="1500" b="0" i="0">
                <a:solidFill>
                  <a:srgbClr val="0F2A33"/>
                </a:solidFill>
                <a:latin typeface="Calibri"/>
              </a:rPr>
              <a:t>receives frames, sometimes busy (m_axis_*)</a:t>
            </a:r>
          </a:p>
        </p:txBody>
      </p:sp>
      <p:sp>
        <p:nvSpPr>
          <p:cNvPr id="16" name="Rounded Rectangle 15"/>
          <p:cNvSpPr/>
          <p:nvPr/>
        </p:nvSpPr>
        <p:spPr>
          <a:xfrm>
            <a:off x="8595360" y="3931920"/>
            <a:ext cx="3063240" cy="155448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7" name="TextBox 16"/>
          <p:cNvSpPr txBox="1"/>
          <p:nvPr/>
        </p:nvSpPr>
        <p:spPr>
          <a:xfrm>
            <a:off x="8778240" y="4069080"/>
            <a:ext cx="2743200" cy="457200"/>
          </a:xfrm>
          <a:prstGeom prst="rect">
            <a:avLst/>
          </a:prstGeom>
          <a:noFill/>
        </p:spPr>
        <p:txBody>
          <a:bodyPr wrap="square" anchor="t" lIns="45720" rIns="45720">
            <a:spAutoFit/>
          </a:bodyPr>
          <a:lstStyle/>
          <a:p>
            <a:pPr algn="l">
              <a:spcAft>
                <a:spcPts val="400"/>
              </a:spcAft>
            </a:pPr>
            <a:r>
              <a:rPr sz="1700" b="1" i="0">
                <a:solidFill>
                  <a:srgbClr val="D1495B"/>
                </a:solidFill>
                <a:latin typeface="Calibri"/>
              </a:rPr>
              <a:t>CHECKS everything</a:t>
            </a:r>
          </a:p>
        </p:txBody>
      </p:sp>
      <p:sp>
        <p:nvSpPr>
          <p:cNvPr id="18" name="TextBox 17"/>
          <p:cNvSpPr txBox="1"/>
          <p:nvPr/>
        </p:nvSpPr>
        <p:spPr>
          <a:xfrm>
            <a:off x="8778240" y="4572000"/>
            <a:ext cx="2743200" cy="868680"/>
          </a:xfrm>
          <a:prstGeom prst="rect">
            <a:avLst/>
          </a:prstGeom>
          <a:noFill/>
        </p:spPr>
        <p:txBody>
          <a:bodyPr wrap="square" anchor="t" lIns="45720" rIns="45720">
            <a:spAutoFit/>
          </a:bodyPr>
          <a:lstStyle/>
          <a:p>
            <a:pPr algn="l">
              <a:spcAft>
                <a:spcPts val="400"/>
              </a:spcAft>
            </a:pPr>
            <a:r>
              <a:rPr sz="1500" b="0" i="0">
                <a:solidFill>
                  <a:srgbClr val="0F2A33"/>
                </a:solidFill>
                <a:latin typeface="Calibri"/>
              </a:rPr>
              <a:t>verdicts, every byte, counters vs golden model</a:t>
            </a:r>
          </a:p>
        </p:txBody>
      </p:sp>
      <p:cxnSp>
        <p:nvCxnSpPr>
          <p:cNvPr id="19" name="Connector 18"/>
          <p:cNvCxnSpPr/>
          <p:nvPr/>
        </p:nvCxnSpPr>
        <p:spPr>
          <a:xfrm>
            <a:off x="3611880" y="2423160"/>
            <a:ext cx="594360" cy="594360"/>
          </a:xfrm>
          <a:prstGeom prst="line">
            <a:avLst/>
          </a:prstGeom>
          <a:ln w="28575">
            <a:solidFill>
              <a:srgbClr val="1B4D5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3611880" y="3931920"/>
            <a:ext cx="594360" cy="777240"/>
          </a:xfrm>
          <a:prstGeom prst="line">
            <a:avLst/>
          </a:prstGeom>
          <a:ln w="28575">
            <a:solidFill>
              <a:srgbClr val="1B4D5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7955279" y="2423160"/>
            <a:ext cx="640081" cy="594360"/>
          </a:xfrm>
          <a:prstGeom prst="line">
            <a:avLst/>
          </a:prstGeom>
          <a:ln w="28575">
            <a:solidFill>
              <a:srgbClr val="1B4D5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955279" y="3931920"/>
            <a:ext cx="640081" cy="777240"/>
          </a:xfrm>
          <a:prstGeom prst="line">
            <a:avLst/>
          </a:prstGeom>
          <a:ln w="28575">
            <a:solidFill>
              <a:srgbClr val="1B4D5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548640" y="5715000"/>
            <a:ext cx="11109960" cy="54864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500" b="0" i="0">
                <a:solidFill>
                  <a:srgbClr val="0F2A33"/>
                </a:solidFill>
                <a:latin typeface="Calibri"/>
              </a:rPr>
              <a:t>Any difference prints [ERR] …; every test ends PASS or FAIL; the run ends with RESULT: PASS (10 tests)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02975" y="6400800"/>
            <a:ext cx="822960" cy="274320"/>
          </a:xfrm>
          <a:prstGeom prst="rect">
            <a:avLst/>
          </a:prstGeom>
          <a:noFill/>
        </p:spPr>
        <p:txBody>
          <a:bodyPr wrap="square" anchor="t" lIns="45720" rIns="45720">
            <a:spAutoFit/>
          </a:bodyPr>
          <a:lstStyle/>
          <a:p>
            <a:pPr algn="r">
              <a:spcAft>
                <a:spcPts val="400"/>
              </a:spcAft>
            </a:pPr>
            <a:r>
              <a:rPr sz="1100" b="0" i="0">
                <a:solidFill>
                  <a:srgbClr val="5F6F78"/>
                </a:solidFill>
                <a:latin typeface="Calibri"/>
              </a:rPr>
              <a:t>21</a:t>
            </a:r>
          </a:p>
        </p:txBody>
      </p:sp>
      <p:sp>
        <p:nvSpPr>
          <p:cNvPr id="3" name="TextBox 2"/>
          <p:cNvSpPr txBox="1"/>
          <p:nvPr/>
        </p:nvSpPr>
        <p:spPr>
          <a:xfrm>
            <a:off x="548640" y="6400800"/>
            <a:ext cx="7315200" cy="274320"/>
          </a:xfrm>
          <a:prstGeom prst="rect">
            <a:avLst/>
          </a:prstGeom>
          <a:noFill/>
        </p:spPr>
        <p:txBody>
          <a:bodyPr wrap="square" anchor="t" lIns="45720" rIns="45720">
            <a:spAutoFit/>
          </a:bodyPr>
          <a:lstStyle/>
          <a:p>
            <a:pPr algn="l">
              <a:spcAft>
                <a:spcPts val="400"/>
              </a:spcAft>
            </a:pPr>
            <a:r>
              <a:rPr sz="1100" b="0" i="0">
                <a:solidFill>
                  <a:srgbClr val="5F6F78"/>
                </a:solidFill>
                <a:latin typeface="Calibri"/>
              </a:rPr>
              <a:t>3  Verification</a:t>
            </a:r>
          </a:p>
        </p:txBody>
      </p:sp>
      <p:sp>
        <p:nvSpPr>
          <p:cNvPr id="4" name="Title"/>
          <p:cNvSpPr txBox="1"/>
          <p:nvPr/>
        </p:nvSpPr>
        <p:spPr>
          <a:xfrm>
            <a:off x="548640" y="320040"/>
            <a:ext cx="11064240" cy="777240"/>
          </a:xfrm>
          <a:prstGeom prst="rect">
            <a:avLst/>
          </a:prstGeom>
          <a:noFill/>
        </p:spPr>
        <p:txBody>
          <a:bodyPr wrap="square" anchor="ctr" lIns="45720" rIns="45720">
            <a:spAutoFit/>
          </a:bodyPr>
          <a:lstStyle/>
          <a:p>
            <a:pPr algn="l">
              <a:spcAft>
                <a:spcPts val="400"/>
              </a:spcAft>
            </a:pPr>
            <a:r>
              <a:rPr sz="3400" b="1" i="0">
                <a:solidFill>
                  <a:srgbClr val="0F2A33"/>
                </a:solidFill>
                <a:latin typeface="Cambria"/>
              </a:rPr>
              <a:t>The test vectors: three files</a:t>
            </a:r>
          </a:p>
        </p:txBody>
      </p:sp>
      <p:sp>
        <p:nvSpPr>
          <p:cNvPr id="5" name="Subtitle"/>
          <p:cNvSpPr txBox="1"/>
          <p:nvPr/>
        </p:nvSpPr>
        <p:spPr>
          <a:xfrm>
            <a:off x="548640" y="1051560"/>
            <a:ext cx="11064240" cy="411480"/>
          </a:xfrm>
          <a:prstGeom prst="rect">
            <a:avLst/>
          </a:prstGeom>
          <a:noFill/>
        </p:spPr>
        <p:txBody>
          <a:bodyPr wrap="square" anchor="t" lIns="45720" rIns="45720">
            <a:spAutoFit/>
          </a:bodyPr>
          <a:lstStyle/>
          <a:p>
            <a:pPr algn="l">
              <a:spcAft>
                <a:spcPts val="400"/>
              </a:spcAft>
            </a:pPr>
            <a:r>
              <a:rPr sz="1600" b="0" i="1">
                <a:solidFill>
                  <a:srgbClr val="5F6F78"/>
                </a:solidFill>
                <a:latin typeface="Calibri"/>
              </a:rPr>
              <a:t>written by model/export.py into sim/vectors/</a:t>
            </a:r>
          </a:p>
        </p:txBody>
      </p:sp>
      <p:sp>
        <p:nvSpPr>
          <p:cNvPr id="6" name="Rounded Rectangle 5"/>
          <p:cNvSpPr/>
          <p:nvPr/>
        </p:nvSpPr>
        <p:spPr>
          <a:xfrm>
            <a:off x="548640" y="1737360"/>
            <a:ext cx="3566160" cy="274320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 name="Rounded Rectangle 6"/>
          <p:cNvSpPr/>
          <p:nvPr/>
        </p:nvSpPr>
        <p:spPr>
          <a:xfrm>
            <a:off x="777240" y="1920240"/>
            <a:ext cx="3108960" cy="548640"/>
          </a:xfrm>
          <a:prstGeom prst="roundRect">
            <a:avLst>
              <a:gd name="adj" fmla="val 12000"/>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700" b="1" i="0">
                <a:solidFill>
                  <a:srgbClr val="FFFFFF"/>
                </a:solidFill>
                <a:latin typeface="Courier New"/>
              </a:rPr>
              <a:t>frames.txt</a:t>
            </a:r>
          </a:p>
        </p:txBody>
      </p:sp>
      <p:sp>
        <p:nvSpPr>
          <p:cNvPr id="8" name="TextBox 7"/>
          <p:cNvSpPr txBox="1"/>
          <p:nvPr/>
        </p:nvSpPr>
        <p:spPr>
          <a:xfrm>
            <a:off x="777240" y="2606040"/>
            <a:ext cx="3108960" cy="457200"/>
          </a:xfrm>
          <a:prstGeom prst="rect">
            <a:avLst/>
          </a:prstGeom>
          <a:noFill/>
        </p:spPr>
        <p:txBody>
          <a:bodyPr wrap="square" anchor="t" lIns="45720" rIns="45720">
            <a:spAutoFit/>
          </a:bodyPr>
          <a:lstStyle/>
          <a:p>
            <a:pPr algn="l">
              <a:spcAft>
                <a:spcPts val="400"/>
              </a:spcAft>
            </a:pPr>
            <a:r>
              <a:rPr sz="1800" b="1" i="0">
                <a:solidFill>
                  <a:srgbClr val="0F2A33"/>
                </a:solidFill>
                <a:latin typeface="Calibri"/>
              </a:rPr>
              <a:t>600 network frames</a:t>
            </a:r>
          </a:p>
        </p:txBody>
      </p:sp>
      <p:sp>
        <p:nvSpPr>
          <p:cNvPr id="9" name="TextBox 8"/>
          <p:cNvSpPr txBox="1"/>
          <p:nvPr/>
        </p:nvSpPr>
        <p:spPr>
          <a:xfrm>
            <a:off x="777240" y="3108960"/>
            <a:ext cx="3108960" cy="1280160"/>
          </a:xfrm>
          <a:prstGeom prst="rect">
            <a:avLst/>
          </a:prstGeom>
          <a:noFill/>
        </p:spPr>
        <p:txBody>
          <a:bodyPr wrap="square" anchor="t" lIns="45720" rIns="45720">
            <a:spAutoFit/>
          </a:bodyPr>
          <a:lstStyle/>
          <a:p>
            <a:pPr algn="l">
              <a:spcAft>
                <a:spcPts val="400"/>
              </a:spcAft>
            </a:pPr>
            <a:r>
              <a:rPr sz="1500" b="0" i="0">
                <a:solidFill>
                  <a:srgbClr val="0F2A33"/>
                </a:solidFill>
                <a:latin typeface="Calibri"/>
              </a:rPr>
              <a:t>one frame per line as hex bytes, in time order, like a recording of real traffic</a:t>
            </a:r>
          </a:p>
        </p:txBody>
      </p:sp>
      <p:sp>
        <p:nvSpPr>
          <p:cNvPr id="10" name="Rounded Rectangle 9"/>
          <p:cNvSpPr/>
          <p:nvPr/>
        </p:nvSpPr>
        <p:spPr>
          <a:xfrm>
            <a:off x="4297679" y="1737360"/>
            <a:ext cx="3566160" cy="274320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1" name="Rounded Rectangle 10"/>
          <p:cNvSpPr/>
          <p:nvPr/>
        </p:nvSpPr>
        <p:spPr>
          <a:xfrm>
            <a:off x="4526279" y="1920240"/>
            <a:ext cx="3108960" cy="548640"/>
          </a:xfrm>
          <a:prstGeom prst="roundRect">
            <a:avLst>
              <a:gd name="adj" fmla="val 12000"/>
            </a:avLst>
          </a:prstGeom>
          <a:solidFill>
            <a:srgbClr val="7A5C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700" b="1" i="0">
                <a:solidFill>
                  <a:srgbClr val="FFFFFF"/>
                </a:solidFill>
                <a:latin typeface="Courier New"/>
              </a:rPr>
              <a:t>cfg.txt</a:t>
            </a:r>
          </a:p>
        </p:txBody>
      </p:sp>
      <p:sp>
        <p:nvSpPr>
          <p:cNvPr id="12" name="TextBox 11"/>
          <p:cNvSpPr txBox="1"/>
          <p:nvPr/>
        </p:nvSpPr>
        <p:spPr>
          <a:xfrm>
            <a:off x="4526279" y="2606040"/>
            <a:ext cx="3108960" cy="457200"/>
          </a:xfrm>
          <a:prstGeom prst="rect">
            <a:avLst/>
          </a:prstGeom>
          <a:noFill/>
        </p:spPr>
        <p:txBody>
          <a:bodyPr wrap="square" anchor="t" lIns="45720" rIns="45720">
            <a:spAutoFit/>
          </a:bodyPr>
          <a:lstStyle/>
          <a:p>
            <a:pPr algn="l">
              <a:spcAft>
                <a:spcPts val="400"/>
              </a:spcAft>
            </a:pPr>
            <a:r>
              <a:rPr sz="1800" b="1" i="0">
                <a:solidFill>
                  <a:srgbClr val="0F2A33"/>
                </a:solidFill>
                <a:latin typeface="Calibri"/>
              </a:rPr>
              <a:t>the trained brain</a:t>
            </a:r>
          </a:p>
        </p:txBody>
      </p:sp>
      <p:sp>
        <p:nvSpPr>
          <p:cNvPr id="13" name="TextBox 12"/>
          <p:cNvSpPr txBox="1"/>
          <p:nvPr/>
        </p:nvSpPr>
        <p:spPr>
          <a:xfrm>
            <a:off x="4526279" y="3108960"/>
            <a:ext cx="3108960" cy="1280160"/>
          </a:xfrm>
          <a:prstGeom prst="rect">
            <a:avLst/>
          </a:prstGeom>
          <a:noFill/>
        </p:spPr>
        <p:txBody>
          <a:bodyPr wrap="square" anchor="t" lIns="45720" rIns="45720">
            <a:spAutoFit/>
          </a:bodyPr>
          <a:lstStyle/>
          <a:p>
            <a:pPr algn="l">
              <a:spcAft>
                <a:spcPts val="400"/>
              </a:spcAft>
            </a:pPr>
            <a:r>
              <a:rPr sz="1500" b="0" i="0">
                <a:solidFill>
                  <a:srgbClr val="0F2A33"/>
                </a:solidFill>
                <a:latin typeface="Calibri"/>
              </a:rPr>
              <a:t>276 register writes: thresholds, time steps, leak, output biases, all weights</a:t>
            </a:r>
          </a:p>
        </p:txBody>
      </p:sp>
      <p:sp>
        <p:nvSpPr>
          <p:cNvPr id="14" name="Rounded Rectangle 13"/>
          <p:cNvSpPr/>
          <p:nvPr/>
        </p:nvSpPr>
        <p:spPr>
          <a:xfrm>
            <a:off x="8046719" y="1737360"/>
            <a:ext cx="3566160" cy="274320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5" name="Rounded Rectangle 14"/>
          <p:cNvSpPr/>
          <p:nvPr/>
        </p:nvSpPr>
        <p:spPr>
          <a:xfrm>
            <a:off x="8275319" y="1920240"/>
            <a:ext cx="3108960" cy="548640"/>
          </a:xfrm>
          <a:prstGeom prst="roundRect">
            <a:avLst>
              <a:gd name="adj" fmla="val 12000"/>
            </a:avLst>
          </a:prstGeom>
          <a:solidFill>
            <a:srgbClr val="1B99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700" b="1" i="0">
                <a:solidFill>
                  <a:srgbClr val="FFFFFF"/>
                </a:solidFill>
                <a:latin typeface="Courier New"/>
              </a:rPr>
              <a:t>expected.txt</a:t>
            </a:r>
          </a:p>
        </p:txBody>
      </p:sp>
      <p:sp>
        <p:nvSpPr>
          <p:cNvPr id="16" name="TextBox 15"/>
          <p:cNvSpPr txBox="1"/>
          <p:nvPr/>
        </p:nvSpPr>
        <p:spPr>
          <a:xfrm>
            <a:off x="8275319" y="2606040"/>
            <a:ext cx="3108960" cy="457200"/>
          </a:xfrm>
          <a:prstGeom prst="rect">
            <a:avLst/>
          </a:prstGeom>
          <a:noFill/>
        </p:spPr>
        <p:txBody>
          <a:bodyPr wrap="square" anchor="t" lIns="45720" rIns="45720">
            <a:spAutoFit/>
          </a:bodyPr>
          <a:lstStyle/>
          <a:p>
            <a:pPr algn="l">
              <a:spcAft>
                <a:spcPts val="400"/>
              </a:spcAft>
            </a:pPr>
            <a:r>
              <a:rPr sz="1800" b="1" i="0">
                <a:solidFill>
                  <a:srgbClr val="0F2A33"/>
                </a:solidFill>
                <a:latin typeface="Calibri"/>
              </a:rPr>
              <a:t>the answer sheet</a:t>
            </a:r>
          </a:p>
        </p:txBody>
      </p:sp>
      <p:sp>
        <p:nvSpPr>
          <p:cNvPr id="17" name="TextBox 16"/>
          <p:cNvSpPr txBox="1"/>
          <p:nvPr/>
        </p:nvSpPr>
        <p:spPr>
          <a:xfrm>
            <a:off x="8275319" y="3108960"/>
            <a:ext cx="3108960" cy="1280160"/>
          </a:xfrm>
          <a:prstGeom prst="rect">
            <a:avLst/>
          </a:prstGeom>
          <a:noFill/>
        </p:spPr>
        <p:txBody>
          <a:bodyPr wrap="square" anchor="t" lIns="45720" rIns="45720">
            <a:spAutoFit/>
          </a:bodyPr>
          <a:lstStyle/>
          <a:p>
            <a:pPr algn="l">
              <a:spcAft>
                <a:spcPts val="400"/>
              </a:spcAft>
            </a:pPr>
            <a:r>
              <a:rPr sz="1500" b="0" i="0">
                <a:solidFill>
                  <a:srgbClr val="0F2A33"/>
                </a:solidFill>
                <a:latin typeface="Calibri"/>
              </a:rPr>
              <a:t>per frame: the 64 spikes, spikes of each output neuron, verdict, true label, attack kind</a:t>
            </a:r>
          </a:p>
        </p:txBody>
      </p:sp>
      <p:sp>
        <p:nvSpPr>
          <p:cNvPr id="18" name="Rounded Rectangle 17"/>
          <p:cNvSpPr/>
          <p:nvPr/>
        </p:nvSpPr>
        <p:spPr>
          <a:xfrm>
            <a:off x="548640" y="4800600"/>
            <a:ext cx="11109960" cy="1325880"/>
          </a:xfrm>
          <a:prstGeom prst="roundRect">
            <a:avLst>
              <a:gd name="adj" fmla="val 12000"/>
            </a:avLst>
          </a:prstGeom>
          <a:solidFill>
            <a:srgbClr val="FFFFFF"/>
          </a:solidFill>
          <a:ln w="15875">
            <a:solidFill>
              <a:srgbClr val="C9D6D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r>
              <a:rPr sz="1500" b="1" i="0">
                <a:solidFill>
                  <a:srgbClr val="0F2A33"/>
                </a:solidFill>
                <a:latin typeface="Calibri"/>
              </a:rPr>
              <a:t>expected.txt line 1:  </a:t>
            </a:r>
            <a:r>
              <a:rPr sz="1500" b="0" i="0">
                <a:solidFill>
                  <a:srgbClr val="0F2A33"/>
                </a:solidFill>
                <a:latin typeface="Calibri"/>
              </a:rPr>
              <a:t>0022000000111283   4   0   0   0   benign</a:t>
            </a:r>
          </a:p>
          <a:p>
            <a:pPr algn="l"/>
            <a:r>
              <a:rPr sz="1500" b="0" i="0">
                <a:solidFill>
                  <a:srgbClr val="0F2A33"/>
                </a:solidFill>
                <a:latin typeface="Calibri"/>
              </a:rPr>
              <a:t>spikes (hex)  ·  benign-neuron spikes  ·  malicious-neuron spikes  ·  verdict (0 = benign)  ·  true label  ·  kind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02975" y="6400800"/>
            <a:ext cx="822960" cy="274320"/>
          </a:xfrm>
          <a:prstGeom prst="rect">
            <a:avLst/>
          </a:prstGeom>
          <a:noFill/>
        </p:spPr>
        <p:txBody>
          <a:bodyPr wrap="square" anchor="t" lIns="45720" rIns="45720">
            <a:spAutoFit/>
          </a:bodyPr>
          <a:lstStyle/>
          <a:p>
            <a:pPr algn="r">
              <a:spcAft>
                <a:spcPts val="400"/>
              </a:spcAft>
            </a:pPr>
            <a:r>
              <a:rPr sz="1100" b="0" i="0">
                <a:solidFill>
                  <a:srgbClr val="5F6F78"/>
                </a:solidFill>
                <a:latin typeface="Calibri"/>
              </a:rPr>
              <a:t>22</a:t>
            </a:r>
          </a:p>
        </p:txBody>
      </p:sp>
      <p:sp>
        <p:nvSpPr>
          <p:cNvPr id="3" name="TextBox 2"/>
          <p:cNvSpPr txBox="1"/>
          <p:nvPr/>
        </p:nvSpPr>
        <p:spPr>
          <a:xfrm>
            <a:off x="548640" y="6400800"/>
            <a:ext cx="7315200" cy="274320"/>
          </a:xfrm>
          <a:prstGeom prst="rect">
            <a:avLst/>
          </a:prstGeom>
          <a:noFill/>
        </p:spPr>
        <p:txBody>
          <a:bodyPr wrap="square" anchor="t" lIns="45720" rIns="45720">
            <a:spAutoFit/>
          </a:bodyPr>
          <a:lstStyle/>
          <a:p>
            <a:pPr algn="l">
              <a:spcAft>
                <a:spcPts val="400"/>
              </a:spcAft>
            </a:pPr>
            <a:r>
              <a:rPr sz="1100" b="0" i="0">
                <a:solidFill>
                  <a:srgbClr val="5F6F78"/>
                </a:solidFill>
                <a:latin typeface="Calibri"/>
              </a:rPr>
              <a:t>3  Verification</a:t>
            </a:r>
          </a:p>
        </p:txBody>
      </p:sp>
      <p:sp>
        <p:nvSpPr>
          <p:cNvPr id="4" name="Title"/>
          <p:cNvSpPr txBox="1"/>
          <p:nvPr/>
        </p:nvSpPr>
        <p:spPr>
          <a:xfrm>
            <a:off x="548640" y="320040"/>
            <a:ext cx="11064240" cy="777240"/>
          </a:xfrm>
          <a:prstGeom prst="rect">
            <a:avLst/>
          </a:prstGeom>
          <a:noFill/>
        </p:spPr>
        <p:txBody>
          <a:bodyPr wrap="square" anchor="ctr" lIns="45720" rIns="45720">
            <a:spAutoFit/>
          </a:bodyPr>
          <a:lstStyle/>
          <a:p>
            <a:pPr algn="l">
              <a:spcAft>
                <a:spcPts val="400"/>
              </a:spcAft>
            </a:pPr>
            <a:r>
              <a:rPr sz="3400" b="1" i="0">
                <a:solidFill>
                  <a:srgbClr val="0F2A33"/>
                </a:solidFill>
                <a:latin typeface="Cambria"/>
              </a:rPr>
              <a:t>The story told by the 600 frames</a:t>
            </a:r>
          </a:p>
        </p:txBody>
      </p:sp>
      <p:sp>
        <p:nvSpPr>
          <p:cNvPr id="5" name="Rectangle 4"/>
          <p:cNvSpPr/>
          <p:nvPr/>
        </p:nvSpPr>
        <p:spPr>
          <a:xfrm>
            <a:off x="548640" y="1737360"/>
            <a:ext cx="870280" cy="777240"/>
          </a:xfrm>
          <a:prstGeom prst="rect">
            <a:avLst/>
          </a:prstGeom>
          <a:solidFill>
            <a:srgbClr val="1B99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400" b="1" i="0">
                <a:solidFill>
                  <a:srgbClr val="FFFFFF"/>
                </a:solidFill>
                <a:latin typeface="Calibri"/>
              </a:rPr>
              <a:t>normal</a:t>
            </a:r>
          </a:p>
        </p:txBody>
      </p:sp>
      <p:sp>
        <p:nvSpPr>
          <p:cNvPr id="6" name="Rectangle 5"/>
          <p:cNvSpPr/>
          <p:nvPr/>
        </p:nvSpPr>
        <p:spPr>
          <a:xfrm>
            <a:off x="1418920" y="1737360"/>
            <a:ext cx="3721836" cy="777240"/>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400" b="1" i="0">
                <a:solidFill>
                  <a:srgbClr val="FFFFFF"/>
                </a:solidFill>
                <a:latin typeface="Calibri"/>
              </a:rPr>
              <a:t>SYN flood</a:t>
            </a:r>
          </a:p>
        </p:txBody>
      </p:sp>
      <p:sp>
        <p:nvSpPr>
          <p:cNvPr id="7" name="Rectangle 6"/>
          <p:cNvSpPr/>
          <p:nvPr/>
        </p:nvSpPr>
        <p:spPr>
          <a:xfrm>
            <a:off x="5140756" y="1737360"/>
            <a:ext cx="222199" cy="777240"/>
          </a:xfrm>
          <a:prstGeom prst="rect">
            <a:avLst/>
          </a:prstGeom>
          <a:solidFill>
            <a:srgbClr val="1B99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400" b="1" i="0">
                <a:solidFill>
                  <a:srgbClr val="FFFFFF"/>
                </a:solidFill>
                <a:latin typeface="Calibri"/>
              </a:rPr>
              <a:t/>
            </a:r>
          </a:p>
        </p:txBody>
      </p:sp>
      <p:sp>
        <p:nvSpPr>
          <p:cNvPr id="8" name="Rectangle 7"/>
          <p:cNvSpPr/>
          <p:nvPr/>
        </p:nvSpPr>
        <p:spPr>
          <a:xfrm>
            <a:off x="5362955" y="1737360"/>
            <a:ext cx="314782" cy="777240"/>
          </a:xfrm>
          <a:prstGeom prst="rect">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400" b="1" i="0">
                <a:solidFill>
                  <a:srgbClr val="0F2A33"/>
                </a:solidFill>
                <a:latin typeface="Calibri"/>
              </a:rPr>
              <a:t/>
            </a:r>
          </a:p>
        </p:txBody>
      </p:sp>
      <p:sp>
        <p:nvSpPr>
          <p:cNvPr id="9" name="Rectangle 8"/>
          <p:cNvSpPr/>
          <p:nvPr/>
        </p:nvSpPr>
        <p:spPr>
          <a:xfrm>
            <a:off x="5677738" y="1737360"/>
            <a:ext cx="1185062" cy="777240"/>
          </a:xfrm>
          <a:prstGeom prst="rect">
            <a:avLst/>
          </a:prstGeom>
          <a:solidFill>
            <a:srgbClr val="1B99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400" b="1" i="0">
                <a:solidFill>
                  <a:srgbClr val="FFFFFF"/>
                </a:solidFill>
                <a:latin typeface="Calibri"/>
              </a:rPr>
              <a:t>normal</a:t>
            </a:r>
          </a:p>
        </p:txBody>
      </p:sp>
      <p:sp>
        <p:nvSpPr>
          <p:cNvPr id="10" name="Rectangle 9"/>
          <p:cNvSpPr/>
          <p:nvPr/>
        </p:nvSpPr>
        <p:spPr>
          <a:xfrm>
            <a:off x="6862800" y="1737360"/>
            <a:ext cx="4610633" cy="777240"/>
          </a:xfrm>
          <a:prstGeom prst="rect">
            <a:avLst/>
          </a:prstGeom>
          <a:solidFill>
            <a:srgbClr val="7A5C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400" b="1" i="0">
                <a:solidFill>
                  <a:srgbClr val="FFFFFF"/>
                </a:solidFill>
                <a:latin typeface="Calibri"/>
              </a:rPr>
              <a:t>ACK scan (mixed)</a:t>
            </a:r>
          </a:p>
        </p:txBody>
      </p:sp>
      <p:sp>
        <p:nvSpPr>
          <p:cNvPr id="11" name="Rectangle 10"/>
          <p:cNvSpPr/>
          <p:nvPr/>
        </p:nvSpPr>
        <p:spPr>
          <a:xfrm>
            <a:off x="11473434" y="1737360"/>
            <a:ext cx="185166" cy="777240"/>
          </a:xfrm>
          <a:prstGeom prst="rect">
            <a:avLst/>
          </a:prstGeom>
          <a:solidFill>
            <a:srgbClr val="1B99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400" b="1" i="0">
                <a:solidFill>
                  <a:srgbClr val="FFFFFF"/>
                </a:solidFill>
                <a:latin typeface="Calibri"/>
              </a:rPr>
              <a:t/>
            </a:r>
          </a:p>
        </p:txBody>
      </p:sp>
      <p:sp>
        <p:nvSpPr>
          <p:cNvPr id="12" name="TextBox 11"/>
          <p:cNvSpPr txBox="1"/>
          <p:nvPr/>
        </p:nvSpPr>
        <p:spPr>
          <a:xfrm>
            <a:off x="4962448" y="1371600"/>
            <a:ext cx="1097280" cy="320040"/>
          </a:xfrm>
          <a:prstGeom prst="rect">
            <a:avLst/>
          </a:prstGeom>
          <a:noFill/>
        </p:spPr>
        <p:txBody>
          <a:bodyPr wrap="square" anchor="t" lIns="45720" rIns="45720">
            <a:spAutoFit/>
          </a:bodyPr>
          <a:lstStyle/>
          <a:p>
            <a:pPr algn="ctr">
              <a:spcAft>
                <a:spcPts val="400"/>
              </a:spcAft>
            </a:pPr>
            <a:r>
              <a:rPr sz="1300" b="1" i="0">
                <a:solidFill>
                  <a:srgbClr val="B5761A"/>
                </a:solidFill>
                <a:latin typeface="Calibri"/>
              </a:rPr>
              <a:t>port 0 ↓</a:t>
            </a:r>
          </a:p>
        </p:txBody>
      </p:sp>
      <p:sp>
        <p:nvSpPr>
          <p:cNvPr id="13" name="TextBox 12"/>
          <p:cNvSpPr txBox="1"/>
          <p:nvPr/>
        </p:nvSpPr>
        <p:spPr>
          <a:xfrm>
            <a:off x="182879" y="2560320"/>
            <a:ext cx="731520" cy="274320"/>
          </a:xfrm>
          <a:prstGeom prst="rect">
            <a:avLst/>
          </a:prstGeom>
          <a:noFill/>
        </p:spPr>
        <p:txBody>
          <a:bodyPr wrap="square" anchor="t" lIns="45720" rIns="45720">
            <a:spAutoFit/>
          </a:bodyPr>
          <a:lstStyle/>
          <a:p>
            <a:pPr algn="ctr">
              <a:spcAft>
                <a:spcPts val="400"/>
              </a:spcAft>
            </a:pPr>
            <a:r>
              <a:rPr sz="1200" b="0" i="0">
                <a:solidFill>
                  <a:srgbClr val="5F6F78"/>
                </a:solidFill>
                <a:latin typeface="Calibri"/>
              </a:rPr>
              <a:t>0</a:t>
            </a:r>
          </a:p>
        </p:txBody>
      </p:sp>
      <p:sp>
        <p:nvSpPr>
          <p:cNvPr id="14" name="TextBox 13"/>
          <p:cNvSpPr txBox="1"/>
          <p:nvPr/>
        </p:nvSpPr>
        <p:spPr>
          <a:xfrm>
            <a:off x="2034540" y="2560320"/>
            <a:ext cx="731520" cy="274320"/>
          </a:xfrm>
          <a:prstGeom prst="rect">
            <a:avLst/>
          </a:prstGeom>
          <a:noFill/>
        </p:spPr>
        <p:txBody>
          <a:bodyPr wrap="square" anchor="t" lIns="45720" rIns="45720">
            <a:spAutoFit/>
          </a:bodyPr>
          <a:lstStyle/>
          <a:p>
            <a:pPr algn="ctr">
              <a:spcAft>
                <a:spcPts val="400"/>
              </a:spcAft>
            </a:pPr>
            <a:r>
              <a:rPr sz="1200" b="0" i="0">
                <a:solidFill>
                  <a:srgbClr val="5F6F78"/>
                </a:solidFill>
                <a:latin typeface="Calibri"/>
              </a:rPr>
              <a:t>100</a:t>
            </a:r>
          </a:p>
        </p:txBody>
      </p:sp>
      <p:sp>
        <p:nvSpPr>
          <p:cNvPr id="15" name="TextBox 14"/>
          <p:cNvSpPr txBox="1"/>
          <p:nvPr/>
        </p:nvSpPr>
        <p:spPr>
          <a:xfrm>
            <a:off x="3886199" y="2560320"/>
            <a:ext cx="731520" cy="274320"/>
          </a:xfrm>
          <a:prstGeom prst="rect">
            <a:avLst/>
          </a:prstGeom>
          <a:noFill/>
        </p:spPr>
        <p:txBody>
          <a:bodyPr wrap="square" anchor="t" lIns="45720" rIns="45720">
            <a:spAutoFit/>
          </a:bodyPr>
          <a:lstStyle/>
          <a:p>
            <a:pPr algn="ctr">
              <a:spcAft>
                <a:spcPts val="400"/>
              </a:spcAft>
            </a:pPr>
            <a:r>
              <a:rPr sz="1200" b="0" i="0">
                <a:solidFill>
                  <a:srgbClr val="5F6F78"/>
                </a:solidFill>
                <a:latin typeface="Calibri"/>
              </a:rPr>
              <a:t>200</a:t>
            </a:r>
          </a:p>
        </p:txBody>
      </p:sp>
      <p:sp>
        <p:nvSpPr>
          <p:cNvPr id="16" name="TextBox 15"/>
          <p:cNvSpPr txBox="1"/>
          <p:nvPr/>
        </p:nvSpPr>
        <p:spPr>
          <a:xfrm>
            <a:off x="5737859" y="2560320"/>
            <a:ext cx="731520" cy="274320"/>
          </a:xfrm>
          <a:prstGeom prst="rect">
            <a:avLst/>
          </a:prstGeom>
          <a:noFill/>
        </p:spPr>
        <p:txBody>
          <a:bodyPr wrap="square" anchor="t" lIns="45720" rIns="45720">
            <a:spAutoFit/>
          </a:bodyPr>
          <a:lstStyle/>
          <a:p>
            <a:pPr algn="ctr">
              <a:spcAft>
                <a:spcPts val="400"/>
              </a:spcAft>
            </a:pPr>
            <a:r>
              <a:rPr sz="1200" b="0" i="0">
                <a:solidFill>
                  <a:srgbClr val="5F6F78"/>
                </a:solidFill>
                <a:latin typeface="Calibri"/>
              </a:rPr>
              <a:t>300</a:t>
            </a:r>
          </a:p>
        </p:txBody>
      </p:sp>
      <p:sp>
        <p:nvSpPr>
          <p:cNvPr id="17" name="TextBox 16"/>
          <p:cNvSpPr txBox="1"/>
          <p:nvPr/>
        </p:nvSpPr>
        <p:spPr>
          <a:xfrm>
            <a:off x="7589519" y="2560320"/>
            <a:ext cx="731520" cy="274320"/>
          </a:xfrm>
          <a:prstGeom prst="rect">
            <a:avLst/>
          </a:prstGeom>
          <a:noFill/>
        </p:spPr>
        <p:txBody>
          <a:bodyPr wrap="square" anchor="t" lIns="45720" rIns="45720">
            <a:spAutoFit/>
          </a:bodyPr>
          <a:lstStyle/>
          <a:p>
            <a:pPr algn="ctr">
              <a:spcAft>
                <a:spcPts val="400"/>
              </a:spcAft>
            </a:pPr>
            <a:r>
              <a:rPr sz="1200" b="0" i="0">
                <a:solidFill>
                  <a:srgbClr val="5F6F78"/>
                </a:solidFill>
                <a:latin typeface="Calibri"/>
              </a:rPr>
              <a:t>400</a:t>
            </a:r>
          </a:p>
        </p:txBody>
      </p:sp>
      <p:sp>
        <p:nvSpPr>
          <p:cNvPr id="18" name="TextBox 17"/>
          <p:cNvSpPr txBox="1"/>
          <p:nvPr/>
        </p:nvSpPr>
        <p:spPr>
          <a:xfrm>
            <a:off x="9441180" y="2560320"/>
            <a:ext cx="731520" cy="274320"/>
          </a:xfrm>
          <a:prstGeom prst="rect">
            <a:avLst/>
          </a:prstGeom>
          <a:noFill/>
        </p:spPr>
        <p:txBody>
          <a:bodyPr wrap="square" anchor="t" lIns="45720" rIns="45720">
            <a:spAutoFit/>
          </a:bodyPr>
          <a:lstStyle/>
          <a:p>
            <a:pPr algn="ctr">
              <a:spcAft>
                <a:spcPts val="400"/>
              </a:spcAft>
            </a:pPr>
            <a:r>
              <a:rPr sz="1200" b="0" i="0">
                <a:solidFill>
                  <a:srgbClr val="5F6F78"/>
                </a:solidFill>
                <a:latin typeface="Calibri"/>
              </a:rPr>
              <a:t>500</a:t>
            </a:r>
          </a:p>
        </p:txBody>
      </p:sp>
      <p:sp>
        <p:nvSpPr>
          <p:cNvPr id="19" name="TextBox 18"/>
          <p:cNvSpPr txBox="1"/>
          <p:nvPr/>
        </p:nvSpPr>
        <p:spPr>
          <a:xfrm>
            <a:off x="11292840" y="2560320"/>
            <a:ext cx="731520" cy="274320"/>
          </a:xfrm>
          <a:prstGeom prst="rect">
            <a:avLst/>
          </a:prstGeom>
          <a:noFill/>
        </p:spPr>
        <p:txBody>
          <a:bodyPr wrap="square" anchor="t" lIns="45720" rIns="45720">
            <a:spAutoFit/>
          </a:bodyPr>
          <a:lstStyle/>
          <a:p>
            <a:pPr algn="ctr">
              <a:spcAft>
                <a:spcPts val="400"/>
              </a:spcAft>
            </a:pPr>
            <a:r>
              <a:rPr sz="1200" b="0" i="0">
                <a:solidFill>
                  <a:srgbClr val="5F6F78"/>
                </a:solidFill>
                <a:latin typeface="Calibri"/>
              </a:rPr>
              <a:t>600</a:t>
            </a:r>
          </a:p>
        </p:txBody>
      </p:sp>
      <p:sp>
        <p:nvSpPr>
          <p:cNvPr id="20" name="Rounded Rectangle 19"/>
          <p:cNvSpPr/>
          <p:nvPr/>
        </p:nvSpPr>
        <p:spPr>
          <a:xfrm>
            <a:off x="548640" y="3154680"/>
            <a:ext cx="3566160" cy="233172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1" name="TextBox 20"/>
          <p:cNvSpPr txBox="1"/>
          <p:nvPr/>
        </p:nvSpPr>
        <p:spPr>
          <a:xfrm>
            <a:off x="777240" y="3337560"/>
            <a:ext cx="3154679" cy="502920"/>
          </a:xfrm>
          <a:prstGeom prst="rect">
            <a:avLst/>
          </a:prstGeom>
          <a:noFill/>
        </p:spPr>
        <p:txBody>
          <a:bodyPr wrap="square" anchor="ctr" lIns="45720" rIns="45720">
            <a:spAutoFit/>
          </a:bodyPr>
          <a:lstStyle/>
          <a:p>
            <a:pPr algn="l">
              <a:spcAft>
                <a:spcPts val="400"/>
              </a:spcAft>
            </a:pPr>
            <a:r>
              <a:rPr sz="1700" b="1" i="0">
                <a:solidFill>
                  <a:srgbClr val="D1495B"/>
                </a:solidFill>
                <a:latin typeface="Calibri"/>
              </a:rPr>
              <a:t>SYN flood (153 frames)</a:t>
            </a:r>
          </a:p>
        </p:txBody>
      </p:sp>
      <p:sp>
        <p:nvSpPr>
          <p:cNvPr id="22" name="TextBox 21"/>
          <p:cNvSpPr txBox="1"/>
          <p:nvPr/>
        </p:nvSpPr>
        <p:spPr>
          <a:xfrm>
            <a:off x="777240" y="3931920"/>
            <a:ext cx="3154679" cy="1417319"/>
          </a:xfrm>
          <a:prstGeom prst="rect">
            <a:avLst/>
          </a:prstGeom>
          <a:noFill/>
        </p:spPr>
        <p:txBody>
          <a:bodyPr wrap="square" anchor="t" lIns="45720" rIns="45720">
            <a:spAutoFit/>
          </a:bodyPr>
          <a:lstStyle/>
          <a:p>
            <a:pPr algn="l">
              <a:spcAft>
                <a:spcPts val="400"/>
              </a:spcAft>
            </a:pPr>
            <a:r>
              <a:rPr sz="1500" b="0" i="0">
                <a:solidFill>
                  <a:srgbClr val="0F2A33"/>
                </a:solidFill>
                <a:latin typeface="Calibri"/>
              </a:rPr>
              <a:t>fake 'let's connect' requests to exhaust a server. One SYN looks normal; many in a row turn on the rate questions.</a:t>
            </a:r>
          </a:p>
        </p:txBody>
      </p:sp>
      <p:sp>
        <p:nvSpPr>
          <p:cNvPr id="23" name="Rounded Rectangle 22"/>
          <p:cNvSpPr/>
          <p:nvPr/>
        </p:nvSpPr>
        <p:spPr>
          <a:xfrm>
            <a:off x="4297679" y="3154680"/>
            <a:ext cx="3566160" cy="233172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4" name="TextBox 23"/>
          <p:cNvSpPr txBox="1"/>
          <p:nvPr/>
        </p:nvSpPr>
        <p:spPr>
          <a:xfrm>
            <a:off x="4526279" y="3337560"/>
            <a:ext cx="3154679" cy="502920"/>
          </a:xfrm>
          <a:prstGeom prst="rect">
            <a:avLst/>
          </a:prstGeom>
          <a:noFill/>
        </p:spPr>
        <p:txBody>
          <a:bodyPr wrap="square" anchor="ctr" lIns="45720" rIns="45720">
            <a:spAutoFit/>
          </a:bodyPr>
          <a:lstStyle/>
          <a:p>
            <a:pPr algn="l">
              <a:spcAft>
                <a:spcPts val="400"/>
              </a:spcAft>
            </a:pPr>
            <a:r>
              <a:rPr sz="1700" b="1" i="0">
                <a:solidFill>
                  <a:srgbClr val="7A5C99"/>
                </a:solidFill>
                <a:latin typeface="Calibri"/>
              </a:rPr>
              <a:t>ACK scan (41 frames)</a:t>
            </a:r>
          </a:p>
        </p:txBody>
      </p:sp>
      <p:sp>
        <p:nvSpPr>
          <p:cNvPr id="25" name="TextBox 24"/>
          <p:cNvSpPr txBox="1"/>
          <p:nvPr/>
        </p:nvSpPr>
        <p:spPr>
          <a:xfrm>
            <a:off x="4526279" y="3931920"/>
            <a:ext cx="3154679" cy="1417319"/>
          </a:xfrm>
          <a:prstGeom prst="rect">
            <a:avLst/>
          </a:prstGeom>
          <a:noFill/>
        </p:spPr>
        <p:txBody>
          <a:bodyPr wrap="square" anchor="t" lIns="45720" rIns="45720">
            <a:spAutoFit/>
          </a:bodyPr>
          <a:lstStyle/>
          <a:p>
            <a:pPr algn="l">
              <a:spcAft>
                <a:spcPts val="400"/>
              </a:spcAft>
            </a:pPr>
            <a:r>
              <a:rPr sz="1500" b="0" i="0">
                <a:solidFill>
                  <a:srgbClr val="0F2A33"/>
                </a:solidFill>
                <a:latin typeface="Calibri"/>
              </a:rPr>
              <a:t>ACK packets that belong to no connection, used to map which ports a firewall filters.</a:t>
            </a:r>
          </a:p>
        </p:txBody>
      </p:sp>
      <p:sp>
        <p:nvSpPr>
          <p:cNvPr id="26" name="Rounded Rectangle 25"/>
          <p:cNvSpPr/>
          <p:nvPr/>
        </p:nvSpPr>
        <p:spPr>
          <a:xfrm>
            <a:off x="8046719" y="3154680"/>
            <a:ext cx="3566160" cy="233172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7" name="TextBox 26"/>
          <p:cNvSpPr txBox="1"/>
          <p:nvPr/>
        </p:nvSpPr>
        <p:spPr>
          <a:xfrm>
            <a:off x="8275319" y="3337560"/>
            <a:ext cx="3154679" cy="502920"/>
          </a:xfrm>
          <a:prstGeom prst="rect">
            <a:avLst/>
          </a:prstGeom>
          <a:noFill/>
        </p:spPr>
        <p:txBody>
          <a:bodyPr wrap="square" anchor="ctr" lIns="45720" rIns="45720">
            <a:spAutoFit/>
          </a:bodyPr>
          <a:lstStyle/>
          <a:p>
            <a:pPr algn="l">
              <a:spcAft>
                <a:spcPts val="400"/>
              </a:spcAft>
            </a:pPr>
            <a:r>
              <a:rPr sz="1700" b="1" i="0">
                <a:solidFill>
                  <a:srgbClr val="B5761A"/>
                </a:solidFill>
                <a:latin typeface="Calibri"/>
              </a:rPr>
              <a:t>Port 0 (4 frames)</a:t>
            </a:r>
          </a:p>
        </p:txBody>
      </p:sp>
      <p:sp>
        <p:nvSpPr>
          <p:cNvPr id="28" name="TextBox 27"/>
          <p:cNvSpPr txBox="1"/>
          <p:nvPr/>
        </p:nvSpPr>
        <p:spPr>
          <a:xfrm>
            <a:off x="8275319" y="3931920"/>
            <a:ext cx="3154679" cy="1417319"/>
          </a:xfrm>
          <a:prstGeom prst="rect">
            <a:avLst/>
          </a:prstGeom>
          <a:noFill/>
        </p:spPr>
        <p:txBody>
          <a:bodyPr wrap="square" anchor="t" lIns="45720" rIns="45720">
            <a:spAutoFit/>
          </a:bodyPr>
          <a:lstStyle/>
          <a:p>
            <a:pPr algn="l">
              <a:spcAft>
                <a:spcPts val="400"/>
              </a:spcAft>
            </a:pPr>
            <a:r>
              <a:rPr sz="1500" b="0" i="0">
                <a:solidFill>
                  <a:srgbClr val="0F2A33"/>
                </a:solidFill>
                <a:latin typeface="Calibri"/>
              </a:rPr>
              <a:t>traffic to port 0, which no real service uses: probing or fingerprinting.</a:t>
            </a:r>
          </a:p>
        </p:txBody>
      </p:sp>
      <p:sp>
        <p:nvSpPr>
          <p:cNvPr id="29" name="TextBox 28"/>
          <p:cNvSpPr txBox="1"/>
          <p:nvPr/>
        </p:nvSpPr>
        <p:spPr>
          <a:xfrm>
            <a:off x="548640" y="5669280"/>
            <a:ext cx="11109960" cy="548640"/>
          </a:xfrm>
          <a:prstGeom prst="rect">
            <a:avLst/>
          </a:prstGeom>
          <a:noFill/>
        </p:spPr>
        <p:txBody>
          <a:bodyPr wrap="square" anchor="t" lIns="45720" rIns="45720">
            <a:spAutoFit/>
          </a:bodyPr>
          <a:lstStyle/>
          <a:p>
            <a:pPr algn="l">
              <a:spcAft>
                <a:spcPts val="400"/>
              </a:spcAft>
            </a:pPr>
            <a:r>
              <a:rPr sz="1500" b="0" i="0">
                <a:solidFill>
                  <a:srgbClr val="0F2A33"/>
                </a:solidFill>
                <a:latin typeface="Calibri"/>
              </a:rPr>
              <a:t>402 benign + 198 malicious. The design flags 197, with 0 false alarms; the one miss (frame 128) is missed by the Python model too.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02975" y="6400800"/>
            <a:ext cx="822960" cy="274320"/>
          </a:xfrm>
          <a:prstGeom prst="rect">
            <a:avLst/>
          </a:prstGeom>
          <a:noFill/>
        </p:spPr>
        <p:txBody>
          <a:bodyPr wrap="square" anchor="t" lIns="45720" rIns="45720">
            <a:spAutoFit/>
          </a:bodyPr>
          <a:lstStyle/>
          <a:p>
            <a:pPr algn="r">
              <a:spcAft>
                <a:spcPts val="400"/>
              </a:spcAft>
            </a:pPr>
            <a:r>
              <a:rPr sz="1100" b="0" i="0">
                <a:solidFill>
                  <a:srgbClr val="5F6F78"/>
                </a:solidFill>
                <a:latin typeface="Calibri"/>
              </a:rPr>
              <a:t>23</a:t>
            </a:r>
          </a:p>
        </p:txBody>
      </p:sp>
      <p:sp>
        <p:nvSpPr>
          <p:cNvPr id="3" name="TextBox 2"/>
          <p:cNvSpPr txBox="1"/>
          <p:nvPr/>
        </p:nvSpPr>
        <p:spPr>
          <a:xfrm>
            <a:off x="548640" y="6400800"/>
            <a:ext cx="7315200" cy="274320"/>
          </a:xfrm>
          <a:prstGeom prst="rect">
            <a:avLst/>
          </a:prstGeom>
          <a:noFill/>
        </p:spPr>
        <p:txBody>
          <a:bodyPr wrap="square" anchor="t" lIns="45720" rIns="45720">
            <a:spAutoFit/>
          </a:bodyPr>
          <a:lstStyle/>
          <a:p>
            <a:pPr algn="l">
              <a:spcAft>
                <a:spcPts val="400"/>
              </a:spcAft>
            </a:pPr>
            <a:r>
              <a:rPr sz="1100" b="0" i="0">
                <a:solidFill>
                  <a:srgbClr val="5F6F78"/>
                </a:solidFill>
                <a:latin typeface="Calibri"/>
              </a:rPr>
              <a:t>3  Verification</a:t>
            </a:r>
          </a:p>
        </p:txBody>
      </p:sp>
      <p:sp>
        <p:nvSpPr>
          <p:cNvPr id="4" name="Title"/>
          <p:cNvSpPr txBox="1"/>
          <p:nvPr/>
        </p:nvSpPr>
        <p:spPr>
          <a:xfrm>
            <a:off x="548640" y="320040"/>
            <a:ext cx="11064240" cy="777240"/>
          </a:xfrm>
          <a:prstGeom prst="rect">
            <a:avLst/>
          </a:prstGeom>
          <a:noFill/>
        </p:spPr>
        <p:txBody>
          <a:bodyPr wrap="square" anchor="ctr" lIns="45720" rIns="45720">
            <a:spAutoFit/>
          </a:bodyPr>
          <a:lstStyle/>
          <a:p>
            <a:pPr algn="l">
              <a:spcAft>
                <a:spcPts val="400"/>
              </a:spcAft>
            </a:pPr>
            <a:r>
              <a:rPr sz="3400" b="1" i="0">
                <a:solidFill>
                  <a:srgbClr val="0F2A33"/>
                </a:solidFill>
                <a:latin typeface="Cambria"/>
              </a:rPr>
              <a:t>What is inside the 600 frames</a:t>
            </a:r>
          </a:p>
        </p:txBody>
      </p:sp>
      <p:graphicFrame>
        <p:nvGraphicFramePr>
          <p:cNvPr id="5" name="Chart 4"/>
          <p:cNvGraphicFramePr>
            <a:graphicFrameLocks noGrp="1"/>
          </p:cNvGraphicFramePr>
          <p:nvPr/>
        </p:nvGraphicFramePr>
        <p:xfrm>
          <a:off x="548640" y="1371600"/>
          <a:ext cx="11109960" cy="4846320"/>
        </p:xfrm>
        <a:graphic>
          <a:graphicData uri="http://schemas.openxmlformats.org/drawingml/2006/chart">
            <c:chart xmlns:c="http://schemas.openxmlformats.org/drawingml/2006/chart" r:id="rId3"/>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02975" y="6400800"/>
            <a:ext cx="822960" cy="274320"/>
          </a:xfrm>
          <a:prstGeom prst="rect">
            <a:avLst/>
          </a:prstGeom>
          <a:noFill/>
        </p:spPr>
        <p:txBody>
          <a:bodyPr wrap="square" anchor="t" lIns="45720" rIns="45720">
            <a:spAutoFit/>
          </a:bodyPr>
          <a:lstStyle/>
          <a:p>
            <a:pPr algn="r">
              <a:spcAft>
                <a:spcPts val="400"/>
              </a:spcAft>
            </a:pPr>
            <a:r>
              <a:rPr sz="1100" b="0" i="0">
                <a:solidFill>
                  <a:srgbClr val="5F6F78"/>
                </a:solidFill>
                <a:latin typeface="Calibri"/>
              </a:rPr>
              <a:t>24</a:t>
            </a:r>
          </a:p>
        </p:txBody>
      </p:sp>
      <p:sp>
        <p:nvSpPr>
          <p:cNvPr id="3" name="TextBox 2"/>
          <p:cNvSpPr txBox="1"/>
          <p:nvPr/>
        </p:nvSpPr>
        <p:spPr>
          <a:xfrm>
            <a:off x="548640" y="6400800"/>
            <a:ext cx="7315200" cy="274320"/>
          </a:xfrm>
          <a:prstGeom prst="rect">
            <a:avLst/>
          </a:prstGeom>
          <a:noFill/>
        </p:spPr>
        <p:txBody>
          <a:bodyPr wrap="square" anchor="t" lIns="45720" rIns="45720">
            <a:spAutoFit/>
          </a:bodyPr>
          <a:lstStyle/>
          <a:p>
            <a:pPr algn="l">
              <a:spcAft>
                <a:spcPts val="400"/>
              </a:spcAft>
            </a:pPr>
            <a:r>
              <a:rPr sz="1100" b="0" i="0">
                <a:solidFill>
                  <a:srgbClr val="5F6F78"/>
                </a:solidFill>
                <a:latin typeface="Calibri"/>
              </a:rPr>
              <a:t>3  Verification</a:t>
            </a:r>
          </a:p>
        </p:txBody>
      </p:sp>
      <p:sp>
        <p:nvSpPr>
          <p:cNvPr id="4" name="Title"/>
          <p:cNvSpPr txBox="1"/>
          <p:nvPr/>
        </p:nvSpPr>
        <p:spPr>
          <a:xfrm>
            <a:off x="548640" y="320040"/>
            <a:ext cx="11064240" cy="777240"/>
          </a:xfrm>
          <a:prstGeom prst="rect">
            <a:avLst/>
          </a:prstGeom>
          <a:noFill/>
        </p:spPr>
        <p:txBody>
          <a:bodyPr wrap="square" anchor="ctr" lIns="45720" rIns="45720">
            <a:spAutoFit/>
          </a:bodyPr>
          <a:lstStyle/>
          <a:p>
            <a:pPr algn="l">
              <a:spcAft>
                <a:spcPts val="400"/>
              </a:spcAft>
            </a:pPr>
            <a:r>
              <a:rPr sz="3400" b="1" i="0">
                <a:solidFill>
                  <a:srgbClr val="0F2A33"/>
                </a:solidFill>
                <a:latin typeface="Cambria"/>
              </a:rPr>
              <a:t>Functional verification table (1/3)</a:t>
            </a:r>
          </a:p>
        </p:txBody>
      </p:sp>
      <p:sp>
        <p:nvSpPr>
          <p:cNvPr id="5" name="Subtitle"/>
          <p:cNvSpPr txBox="1"/>
          <p:nvPr/>
        </p:nvSpPr>
        <p:spPr>
          <a:xfrm>
            <a:off x="548640" y="1051560"/>
            <a:ext cx="11064240" cy="411480"/>
          </a:xfrm>
          <a:prstGeom prst="rect">
            <a:avLst/>
          </a:prstGeom>
          <a:noFill/>
        </p:spPr>
        <p:txBody>
          <a:bodyPr wrap="square" anchor="t" lIns="45720" rIns="45720">
            <a:spAutoFit/>
          </a:bodyPr>
          <a:lstStyle/>
          <a:p>
            <a:pPr algn="l">
              <a:spcAft>
                <a:spcPts val="400"/>
              </a:spcAft>
            </a:pPr>
            <a:r>
              <a:rPr sz="1600" b="0" i="1">
                <a:solidFill>
                  <a:srgbClr val="5F6F78"/>
                </a:solidFill>
                <a:latin typeface="Calibri"/>
              </a:rPr>
              <a:t>10 tests, all PASS in xrun (RTL), Questa (RTL) and on the gate-level netlist</a:t>
            </a:r>
          </a:p>
        </p:txBody>
      </p:sp>
      <p:graphicFrame>
        <p:nvGraphicFramePr>
          <p:cNvPr id="6" name="Table 5"/>
          <p:cNvGraphicFramePr>
            <a:graphicFrameLocks noGrp="1"/>
          </p:cNvGraphicFramePr>
          <p:nvPr/>
        </p:nvGraphicFramePr>
        <p:xfrm>
          <a:off x="548640" y="1645920"/>
          <a:ext cx="11109959" cy="4114800"/>
        </p:xfrm>
        <a:graphic>
          <a:graphicData uri="http://schemas.openxmlformats.org/drawingml/2006/table">
            <a:tbl>
              <a:tblPr firstRow="1" bandRow="1">
                <a:tableStyleId>{5C22544A-7EE6-4342-B048-85BDC9FD1C3A}</a:tableStyleId>
              </a:tblPr>
              <a:tblGrid>
                <a:gridCol w="640079"/>
                <a:gridCol w="1554480"/>
                <a:gridCol w="2743200"/>
                <a:gridCol w="3291840"/>
                <a:gridCol w="2880360"/>
              </a:tblGrid>
              <a:tr h="822960">
                <a:tc>
                  <a:txBody>
                    <a:bodyPr wrap="square"/>
                    <a:lstStyle/>
                    <a:p>
                      <a:r>
                        <a:rPr sz="1400" b="1">
                          <a:solidFill>
                            <a:srgbClr val="FFFFFF"/>
                          </a:solidFill>
                          <a:latin typeface="Calibri"/>
                        </a:rPr>
                        <a:t>test</a:t>
                      </a:r>
                    </a:p>
                  </a:txBody>
                  <a:tcPr marL="73152" marR="73152" marT="36576" marB="36576" anchor="ctr">
                    <a:solidFill>
                      <a:srgbClr val="1B4D5C"/>
                    </a:solidFill>
                  </a:tcPr>
                </a:tc>
                <a:tc>
                  <a:txBody>
                    <a:bodyPr wrap="square"/>
                    <a:lstStyle/>
                    <a:p>
                      <a:r>
                        <a:rPr sz="1400" b="1">
                          <a:solidFill>
                            <a:srgbClr val="FFFFFF"/>
                          </a:solidFill>
                          <a:latin typeface="Calibri"/>
                        </a:rPr>
                        <a:t>situation</a:t>
                      </a:r>
                    </a:p>
                  </a:txBody>
                  <a:tcPr marL="73152" marR="73152" marT="36576" marB="36576" anchor="ctr">
                    <a:solidFill>
                      <a:srgbClr val="1B4D5C"/>
                    </a:solidFill>
                  </a:tcPr>
                </a:tc>
                <a:tc>
                  <a:txBody>
                    <a:bodyPr wrap="square"/>
                    <a:lstStyle/>
                    <a:p>
                      <a:r>
                        <a:rPr sz="1400" b="1">
                          <a:solidFill>
                            <a:srgbClr val="FFFFFF"/>
                          </a:solidFill>
                          <a:latin typeface="Calibri"/>
                        </a:rPr>
                        <a:t>what the testbench does</a:t>
                      </a:r>
                    </a:p>
                  </a:txBody>
                  <a:tcPr marL="73152" marR="73152" marT="36576" marB="36576" anchor="ctr">
                    <a:solidFill>
                      <a:srgbClr val="1B4D5C"/>
                    </a:solidFill>
                  </a:tcPr>
                </a:tc>
                <a:tc>
                  <a:txBody>
                    <a:bodyPr wrap="square"/>
                    <a:lstStyle/>
                    <a:p>
                      <a:r>
                        <a:rPr sz="1400" b="1">
                          <a:solidFill>
                            <a:srgbClr val="FFFFFF"/>
                          </a:solidFill>
                          <a:latin typeface="Calibri"/>
                        </a:rPr>
                        <a:t>expected behaviour (PASS)</a:t>
                      </a:r>
                    </a:p>
                  </a:txBody>
                  <a:tcPr marL="73152" marR="73152" marT="36576" marB="36576" anchor="ctr">
                    <a:solidFill>
                      <a:srgbClr val="1B4D5C"/>
                    </a:solidFill>
                  </a:tcPr>
                </a:tc>
                <a:tc>
                  <a:txBody>
                    <a:bodyPr wrap="square"/>
                    <a:lstStyle/>
                    <a:p>
                      <a:r>
                        <a:rPr sz="1400" b="1">
                          <a:solidFill>
                            <a:srgbClr val="FFFFFF"/>
                          </a:solidFill>
                          <a:latin typeface="Calibri"/>
                        </a:rPr>
                        <a:t>what you see in the waveform</a:t>
                      </a:r>
                    </a:p>
                  </a:txBody>
                  <a:tcPr marL="73152" marR="73152" marT="36576" marB="36576" anchor="ctr">
                    <a:solidFill>
                      <a:srgbClr val="1B4D5C"/>
                    </a:solidFill>
                  </a:tcPr>
                </a:tc>
              </a:tr>
              <a:tr h="822960">
                <a:tc>
                  <a:txBody>
                    <a:bodyPr wrap="square"/>
                    <a:lstStyle/>
                    <a:p>
                      <a:r>
                        <a:rPr sz="1400" b="1">
                          <a:solidFill>
                            <a:srgbClr val="0F2A33"/>
                          </a:solidFill>
                          <a:latin typeface="Calibri"/>
                        </a:rPr>
                        <a:t>T1</a:t>
                      </a:r>
                    </a:p>
                  </a:txBody>
                  <a:tcPr marL="73152" marR="73152" marT="36576" marB="36576" anchor="ctr">
                    <a:solidFill>
                      <a:srgbClr val="FFFFFF"/>
                    </a:solidFill>
                  </a:tcPr>
                </a:tc>
                <a:tc>
                  <a:txBody>
                    <a:bodyPr wrap="square"/>
                    <a:lstStyle/>
                    <a:p>
                      <a:r>
                        <a:rPr sz="1400" b="0">
                          <a:solidFill>
                            <a:srgbClr val="0F2A33"/>
                          </a:solidFill>
                          <a:latin typeface="Calibri"/>
                        </a:rPr>
                        <a:t>Reset</a:t>
                      </a:r>
                    </a:p>
                  </a:txBody>
                  <a:tcPr marL="73152" marR="73152" marT="36576" marB="36576" anchor="ctr">
                    <a:solidFill>
                      <a:srgbClr val="FFFFFF"/>
                    </a:solidFill>
                  </a:tcPr>
                </a:tc>
                <a:tc>
                  <a:txBody>
                    <a:bodyPr wrap="square"/>
                    <a:lstStyle/>
                    <a:p>
                      <a:r>
                        <a:rPr sz="1400" b="0">
                          <a:solidFill>
                            <a:srgbClr val="0F2A33"/>
                          </a:solidFill>
                          <a:latin typeface="Calibri"/>
                        </a:rPr>
                        <a:t>reset, read every register</a:t>
                      </a:r>
                    </a:p>
                  </a:txBody>
                  <a:tcPr marL="73152" marR="73152" marT="36576" marB="36576" anchor="ctr">
                    <a:solidFill>
                      <a:srgbClr val="FFFFFF"/>
                    </a:solidFill>
                  </a:tcPr>
                </a:tc>
                <a:tc>
                  <a:txBody>
                    <a:bodyPr wrap="square"/>
                    <a:lstStyle/>
                    <a:p>
                      <a:r>
                        <a:rPr sz="1400" b="0">
                          <a:solidFill>
                            <a:srgbClr val="0F2A33"/>
                          </a:solidFill>
                          <a:latin typeface="Calibri"/>
                        </a:rPr>
                        <a:t>safe start: blocking on, defaults, counters 0, never stalls the MAC</a:t>
                      </a:r>
                    </a:p>
                  </a:txBody>
                  <a:tcPr marL="73152" marR="73152" marT="36576" marB="36576" anchor="ctr">
                    <a:solidFill>
                      <a:srgbClr val="FFFFFF"/>
                    </a:solidFill>
                  </a:tcPr>
                </a:tc>
                <a:tc>
                  <a:txBody>
                    <a:bodyPr wrap="square"/>
                    <a:lstStyle/>
                    <a:p>
                      <a:r>
                        <a:rPr sz="1400" b="0">
                          <a:solidFill>
                            <a:srgbClr val="0F2A33"/>
                          </a:solidFill>
                          <a:latin typeface="Calibri"/>
                        </a:rPr>
                        <a:t>cfg_rdata, s_axis_tready = 1</a:t>
                      </a:r>
                    </a:p>
                  </a:txBody>
                  <a:tcPr marL="73152" marR="73152" marT="36576" marB="36576" anchor="ctr">
                    <a:solidFill>
                      <a:srgbClr val="FFFFFF"/>
                    </a:solidFill>
                  </a:tcPr>
                </a:tc>
              </a:tr>
              <a:tr h="822960">
                <a:tc>
                  <a:txBody>
                    <a:bodyPr wrap="square"/>
                    <a:lstStyle/>
                    <a:p>
                      <a:r>
                        <a:rPr sz="1400" b="1">
                          <a:solidFill>
                            <a:srgbClr val="0F2A33"/>
                          </a:solidFill>
                          <a:latin typeface="Calibri"/>
                        </a:rPr>
                        <a:t>T2</a:t>
                      </a:r>
                    </a:p>
                  </a:txBody>
                  <a:tcPr marL="73152" marR="73152" marT="36576" marB="36576" anchor="ctr">
                    <a:solidFill>
                      <a:srgbClr val="EAF2F3"/>
                    </a:solidFill>
                  </a:tcPr>
                </a:tc>
                <a:tc>
                  <a:txBody>
                    <a:bodyPr wrap="square"/>
                    <a:lstStyle/>
                    <a:p>
                      <a:r>
                        <a:rPr sz="1400" b="0">
                          <a:solidFill>
                            <a:srgbClr val="0F2A33"/>
                          </a:solidFill>
                          <a:latin typeface="Calibri"/>
                        </a:rPr>
                        <a:t>Load the brain</a:t>
                      </a:r>
                    </a:p>
                  </a:txBody>
                  <a:tcPr marL="73152" marR="73152" marT="36576" marB="36576" anchor="ctr">
                    <a:solidFill>
                      <a:srgbClr val="EAF2F3"/>
                    </a:solidFill>
                  </a:tcPr>
                </a:tc>
                <a:tc>
                  <a:txBody>
                    <a:bodyPr wrap="square"/>
                    <a:lstStyle/>
                    <a:p>
                      <a:r>
                        <a:rPr sz="1400" b="0">
                          <a:solidFill>
                            <a:srgbClr val="0F2A33"/>
                          </a:solidFill>
                          <a:latin typeface="Calibri"/>
                        </a:rPr>
                        <a:t>write 276 weights, read back</a:t>
                      </a:r>
                    </a:p>
                  </a:txBody>
                  <a:tcPr marL="73152" marR="73152" marT="36576" marB="36576" anchor="ctr">
                    <a:solidFill>
                      <a:srgbClr val="EAF2F3"/>
                    </a:solidFill>
                  </a:tcPr>
                </a:tc>
                <a:tc>
                  <a:txBody>
                    <a:bodyPr wrap="square"/>
                    <a:lstStyle/>
                    <a:p>
                      <a:r>
                        <a:rPr sz="1400" b="0">
                          <a:solidFill>
                            <a:srgbClr val="0F2A33"/>
                          </a:solidFill>
                          <a:latin typeface="Calibri"/>
                        </a:rPr>
                        <a:t>registers hold what was written</a:t>
                      </a:r>
                    </a:p>
                  </a:txBody>
                  <a:tcPr marL="73152" marR="73152" marT="36576" marB="36576" anchor="ctr">
                    <a:solidFill>
                      <a:srgbClr val="EAF2F3"/>
                    </a:solidFill>
                  </a:tcPr>
                </a:tc>
                <a:tc>
                  <a:txBody>
                    <a:bodyPr wrap="square"/>
                    <a:lstStyle/>
                    <a:p>
                      <a:r>
                        <a:rPr sz="1400" b="0">
                          <a:solidFill>
                            <a:srgbClr val="0F2A33"/>
                          </a:solidFill>
                          <a:latin typeface="Calibri"/>
                        </a:rPr>
                        <a:t>cfg_wr, cfg_addr, cfg_rdata</a:t>
                      </a:r>
                    </a:p>
                  </a:txBody>
                  <a:tcPr marL="73152" marR="73152" marT="36576" marB="36576" anchor="ctr">
                    <a:solidFill>
                      <a:srgbClr val="EAF2F3"/>
                    </a:solidFill>
                  </a:tcPr>
                </a:tc>
              </a:tr>
              <a:tr h="822960">
                <a:tc>
                  <a:txBody>
                    <a:bodyPr wrap="square"/>
                    <a:lstStyle/>
                    <a:p>
                      <a:r>
                        <a:rPr sz="1400" b="1">
                          <a:solidFill>
                            <a:srgbClr val="0F2A33"/>
                          </a:solidFill>
                          <a:latin typeface="Calibri"/>
                        </a:rPr>
                        <a:t>T3</a:t>
                      </a:r>
                    </a:p>
                  </a:txBody>
                  <a:tcPr marL="73152" marR="73152" marT="36576" marB="36576" anchor="ctr">
                    <a:solidFill>
                      <a:srgbClr val="FFFFFF"/>
                    </a:solidFill>
                  </a:tcPr>
                </a:tc>
                <a:tc>
                  <a:txBody>
                    <a:bodyPr wrap="square"/>
                    <a:lstStyle/>
                    <a:p>
                      <a:r>
                        <a:rPr sz="1400" b="0">
                          <a:solidFill>
                            <a:srgbClr val="0F2A33"/>
                          </a:solidFill>
                          <a:latin typeface="Calibri"/>
                        </a:rPr>
                        <a:t>Normal operation</a:t>
                      </a:r>
                    </a:p>
                  </a:txBody>
                  <a:tcPr marL="73152" marR="73152" marT="36576" marB="36576" anchor="ctr">
                    <a:solidFill>
                      <a:srgbClr val="FFFFFF"/>
                    </a:solidFill>
                  </a:tcPr>
                </a:tc>
                <a:tc>
                  <a:txBody>
                    <a:bodyPr wrap="square"/>
                    <a:lstStyle/>
                    <a:p>
                      <a:r>
                        <a:rPr sz="1400" b="0">
                          <a:solidFill>
                            <a:srgbClr val="0F2A33"/>
                          </a:solidFill>
                          <a:latin typeface="Calibri"/>
                        </a:rPr>
                        <a:t>all 600 frames, gaps 12–40, host 90 % ready</a:t>
                      </a:r>
                    </a:p>
                  </a:txBody>
                  <a:tcPr marL="73152" marR="73152" marT="36576" marB="36576" anchor="ctr">
                    <a:solidFill>
                      <a:srgbClr val="FFFFFF"/>
                    </a:solidFill>
                  </a:tcPr>
                </a:tc>
                <a:tc>
                  <a:txBody>
                    <a:bodyPr wrap="square"/>
                    <a:lstStyle/>
                    <a:p>
                      <a:r>
                        <a:rPr sz="1400" b="0">
                          <a:solidFill>
                            <a:srgbClr val="0F2A33"/>
                          </a:solidFill>
                          <a:latin typeface="Calibri"/>
                        </a:rPr>
                        <a:t>every verdict = Python model; only benign frames out, byte-exact</a:t>
                      </a:r>
                    </a:p>
                  </a:txBody>
                  <a:tcPr marL="73152" marR="73152" marT="36576" marB="36576" anchor="ctr">
                    <a:solidFill>
                      <a:srgbClr val="FFFFFF"/>
                    </a:solidFill>
                  </a:tcPr>
                </a:tc>
                <a:tc>
                  <a:txBody>
                    <a:bodyPr wrap="square"/>
                    <a:lstStyle/>
                    <a:p>
                      <a:r>
                        <a:rPr sz="1400" b="0">
                          <a:solidFill>
                            <a:srgbClr val="0F2A33"/>
                          </a:solidFill>
                          <a:latin typeface="Calibri"/>
                        </a:rPr>
                        <a:t>s_axis_*, m_axis_*, verdict_*</a:t>
                      </a:r>
                    </a:p>
                  </a:txBody>
                  <a:tcPr marL="73152" marR="73152" marT="36576" marB="36576" anchor="ctr">
                    <a:solidFill>
                      <a:srgbClr val="FFFFFF"/>
                    </a:solidFill>
                  </a:tcPr>
                </a:tc>
              </a:tr>
              <a:tr h="822960">
                <a:tc>
                  <a:txBody>
                    <a:bodyPr wrap="square"/>
                    <a:lstStyle/>
                    <a:p>
                      <a:r>
                        <a:rPr sz="1400" b="1">
                          <a:solidFill>
                            <a:srgbClr val="0F2A33"/>
                          </a:solidFill>
                          <a:latin typeface="Calibri"/>
                        </a:rPr>
                        <a:t>T4</a:t>
                      </a:r>
                    </a:p>
                  </a:txBody>
                  <a:tcPr marL="73152" marR="73152" marT="36576" marB="36576" anchor="ctr">
                    <a:solidFill>
                      <a:srgbClr val="EAF2F3"/>
                    </a:solidFill>
                  </a:tcPr>
                </a:tc>
                <a:tc>
                  <a:txBody>
                    <a:bodyPr wrap="square"/>
                    <a:lstStyle/>
                    <a:p>
                      <a:r>
                        <a:rPr sz="1400" b="0">
                          <a:solidFill>
                            <a:srgbClr val="0F2A33"/>
                          </a:solidFill>
                          <a:latin typeface="Calibri"/>
                        </a:rPr>
                        <a:t>Monitor mode</a:t>
                      </a:r>
                    </a:p>
                  </a:txBody>
                  <a:tcPr marL="73152" marR="73152" marT="36576" marB="36576" anchor="ctr">
                    <a:solidFill>
                      <a:srgbClr val="EAF2F3"/>
                    </a:solidFill>
                  </a:tcPr>
                </a:tc>
                <a:tc>
                  <a:txBody>
                    <a:bodyPr wrap="square"/>
                    <a:lstStyle/>
                    <a:p>
                      <a:r>
                        <a:rPr sz="1400" b="0">
                          <a:solidFill>
                            <a:srgbClr val="0F2A33"/>
                          </a:solidFill>
                          <a:latin typeface="Calibri"/>
                        </a:rPr>
                        <a:t>CTRL = 0, frames 0–149</a:t>
                      </a:r>
                    </a:p>
                  </a:txBody>
                  <a:tcPr marL="73152" marR="73152" marT="36576" marB="36576" anchor="ctr">
                    <a:solidFill>
                      <a:srgbClr val="EAF2F3"/>
                    </a:solidFill>
                  </a:tcPr>
                </a:tc>
                <a:tc>
                  <a:txBody>
                    <a:bodyPr wrap="square"/>
                    <a:lstStyle/>
                    <a:p>
                      <a:r>
                        <a:rPr sz="1400" b="0">
                          <a:solidFill>
                            <a:srgbClr val="0F2A33"/>
                          </a:solidFill>
                          <a:latin typeface="Calibri"/>
                        </a:rPr>
                        <a:t>still judges and counts, forwards all 150</a:t>
                      </a:r>
                    </a:p>
                  </a:txBody>
                  <a:tcPr marL="73152" marR="73152" marT="36576" marB="36576" anchor="ctr">
                    <a:solidFill>
                      <a:srgbClr val="EAF2F3"/>
                    </a:solidFill>
                  </a:tcPr>
                </a:tc>
                <a:tc>
                  <a:txBody>
                    <a:bodyPr wrap="square"/>
                    <a:lstStyle/>
                    <a:p>
                      <a:r>
                        <a:rPr sz="1400" b="0">
                          <a:solidFill>
                            <a:srgbClr val="0F2A33"/>
                          </a:solidFill>
                          <a:latin typeface="Calibri"/>
                        </a:rPr>
                        <a:t>verdict_mal pulses but m_axis shows all frames</a:t>
                      </a:r>
                    </a:p>
                  </a:txBody>
                  <a:tcPr marL="73152" marR="73152" marT="36576" marB="36576" anchor="ctr">
                    <a:solidFill>
                      <a:srgbClr val="EAF2F3"/>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02975" y="6400800"/>
            <a:ext cx="822960" cy="274320"/>
          </a:xfrm>
          <a:prstGeom prst="rect">
            <a:avLst/>
          </a:prstGeom>
          <a:noFill/>
        </p:spPr>
        <p:txBody>
          <a:bodyPr wrap="square" anchor="t" lIns="45720" rIns="45720">
            <a:spAutoFit/>
          </a:bodyPr>
          <a:lstStyle/>
          <a:p>
            <a:pPr algn="r">
              <a:spcAft>
                <a:spcPts val="400"/>
              </a:spcAft>
            </a:pPr>
            <a:r>
              <a:rPr sz="1100" b="0" i="0">
                <a:solidFill>
                  <a:srgbClr val="5F6F78"/>
                </a:solidFill>
                <a:latin typeface="Calibri"/>
              </a:rPr>
              <a:t>25</a:t>
            </a:r>
          </a:p>
        </p:txBody>
      </p:sp>
      <p:sp>
        <p:nvSpPr>
          <p:cNvPr id="3" name="TextBox 2"/>
          <p:cNvSpPr txBox="1"/>
          <p:nvPr/>
        </p:nvSpPr>
        <p:spPr>
          <a:xfrm>
            <a:off x="548640" y="6400800"/>
            <a:ext cx="7315200" cy="274320"/>
          </a:xfrm>
          <a:prstGeom prst="rect">
            <a:avLst/>
          </a:prstGeom>
          <a:noFill/>
        </p:spPr>
        <p:txBody>
          <a:bodyPr wrap="square" anchor="t" lIns="45720" rIns="45720">
            <a:spAutoFit/>
          </a:bodyPr>
          <a:lstStyle/>
          <a:p>
            <a:pPr algn="l">
              <a:spcAft>
                <a:spcPts val="400"/>
              </a:spcAft>
            </a:pPr>
            <a:r>
              <a:rPr sz="1100" b="0" i="0">
                <a:solidFill>
                  <a:srgbClr val="5F6F78"/>
                </a:solidFill>
                <a:latin typeface="Calibri"/>
              </a:rPr>
              <a:t>3  Verification</a:t>
            </a:r>
          </a:p>
        </p:txBody>
      </p:sp>
      <p:sp>
        <p:nvSpPr>
          <p:cNvPr id="4" name="Title"/>
          <p:cNvSpPr txBox="1"/>
          <p:nvPr/>
        </p:nvSpPr>
        <p:spPr>
          <a:xfrm>
            <a:off x="548640" y="320040"/>
            <a:ext cx="11064240" cy="777240"/>
          </a:xfrm>
          <a:prstGeom prst="rect">
            <a:avLst/>
          </a:prstGeom>
          <a:noFill/>
        </p:spPr>
        <p:txBody>
          <a:bodyPr wrap="square" anchor="ctr" lIns="45720" rIns="45720">
            <a:spAutoFit/>
          </a:bodyPr>
          <a:lstStyle/>
          <a:p>
            <a:pPr algn="l">
              <a:spcAft>
                <a:spcPts val="400"/>
              </a:spcAft>
            </a:pPr>
            <a:r>
              <a:rPr sz="3400" b="1" i="0">
                <a:solidFill>
                  <a:srgbClr val="0F2A33"/>
                </a:solidFill>
                <a:latin typeface="Cambria"/>
              </a:rPr>
              <a:t>Functional verification table (2/3)</a:t>
            </a:r>
          </a:p>
        </p:txBody>
      </p:sp>
      <p:sp>
        <p:nvSpPr>
          <p:cNvPr id="5" name="Subtitle"/>
          <p:cNvSpPr txBox="1"/>
          <p:nvPr/>
        </p:nvSpPr>
        <p:spPr>
          <a:xfrm>
            <a:off x="548640" y="1051560"/>
            <a:ext cx="11064240" cy="411480"/>
          </a:xfrm>
          <a:prstGeom prst="rect">
            <a:avLst/>
          </a:prstGeom>
          <a:noFill/>
        </p:spPr>
        <p:txBody>
          <a:bodyPr wrap="square" anchor="t" lIns="45720" rIns="45720">
            <a:spAutoFit/>
          </a:bodyPr>
          <a:lstStyle/>
          <a:p>
            <a:pPr algn="l">
              <a:spcAft>
                <a:spcPts val="400"/>
              </a:spcAft>
            </a:pPr>
            <a:r>
              <a:rPr sz="1600" b="0" i="1">
                <a:solidFill>
                  <a:srgbClr val="5F6F78"/>
                </a:solidFill>
                <a:latin typeface="Calibri"/>
              </a:rPr>
              <a:t>10 tests, all PASS in xrun (RTL), Questa (RTL) and on the gate-level netlist</a:t>
            </a:r>
          </a:p>
        </p:txBody>
      </p:sp>
      <p:graphicFrame>
        <p:nvGraphicFramePr>
          <p:cNvPr id="6" name="Table 5"/>
          <p:cNvGraphicFramePr>
            <a:graphicFrameLocks noGrp="1"/>
          </p:cNvGraphicFramePr>
          <p:nvPr/>
        </p:nvGraphicFramePr>
        <p:xfrm>
          <a:off x="548640" y="1645920"/>
          <a:ext cx="11109959" cy="3657600"/>
        </p:xfrm>
        <a:graphic>
          <a:graphicData uri="http://schemas.openxmlformats.org/drawingml/2006/table">
            <a:tbl>
              <a:tblPr firstRow="1" bandRow="1">
                <a:tableStyleId>{5C22544A-7EE6-4342-B048-85BDC9FD1C3A}</a:tableStyleId>
              </a:tblPr>
              <a:tblGrid>
                <a:gridCol w="640079"/>
                <a:gridCol w="1554480"/>
                <a:gridCol w="2743200"/>
                <a:gridCol w="3291840"/>
                <a:gridCol w="2880360"/>
              </a:tblGrid>
              <a:tr h="914400">
                <a:tc>
                  <a:txBody>
                    <a:bodyPr wrap="square"/>
                    <a:lstStyle/>
                    <a:p>
                      <a:r>
                        <a:rPr sz="1400" b="1">
                          <a:solidFill>
                            <a:srgbClr val="FFFFFF"/>
                          </a:solidFill>
                          <a:latin typeface="Calibri"/>
                        </a:rPr>
                        <a:t>test</a:t>
                      </a:r>
                    </a:p>
                  </a:txBody>
                  <a:tcPr marL="73152" marR="73152" marT="36576" marB="36576" anchor="ctr">
                    <a:solidFill>
                      <a:srgbClr val="1B4D5C"/>
                    </a:solidFill>
                  </a:tcPr>
                </a:tc>
                <a:tc>
                  <a:txBody>
                    <a:bodyPr wrap="square"/>
                    <a:lstStyle/>
                    <a:p>
                      <a:r>
                        <a:rPr sz="1400" b="1">
                          <a:solidFill>
                            <a:srgbClr val="FFFFFF"/>
                          </a:solidFill>
                          <a:latin typeface="Calibri"/>
                        </a:rPr>
                        <a:t>situation</a:t>
                      </a:r>
                    </a:p>
                  </a:txBody>
                  <a:tcPr marL="73152" marR="73152" marT="36576" marB="36576" anchor="ctr">
                    <a:solidFill>
                      <a:srgbClr val="1B4D5C"/>
                    </a:solidFill>
                  </a:tcPr>
                </a:tc>
                <a:tc>
                  <a:txBody>
                    <a:bodyPr wrap="square"/>
                    <a:lstStyle/>
                    <a:p>
                      <a:r>
                        <a:rPr sz="1400" b="1">
                          <a:solidFill>
                            <a:srgbClr val="FFFFFF"/>
                          </a:solidFill>
                          <a:latin typeface="Calibri"/>
                        </a:rPr>
                        <a:t>what the testbench does</a:t>
                      </a:r>
                    </a:p>
                  </a:txBody>
                  <a:tcPr marL="73152" marR="73152" marT="36576" marB="36576" anchor="ctr">
                    <a:solidFill>
                      <a:srgbClr val="1B4D5C"/>
                    </a:solidFill>
                  </a:tcPr>
                </a:tc>
                <a:tc>
                  <a:txBody>
                    <a:bodyPr wrap="square"/>
                    <a:lstStyle/>
                    <a:p>
                      <a:r>
                        <a:rPr sz="1400" b="1">
                          <a:solidFill>
                            <a:srgbClr val="FFFFFF"/>
                          </a:solidFill>
                          <a:latin typeface="Calibri"/>
                        </a:rPr>
                        <a:t>expected behaviour (PASS)</a:t>
                      </a:r>
                    </a:p>
                  </a:txBody>
                  <a:tcPr marL="73152" marR="73152" marT="36576" marB="36576" anchor="ctr">
                    <a:solidFill>
                      <a:srgbClr val="1B4D5C"/>
                    </a:solidFill>
                  </a:tcPr>
                </a:tc>
                <a:tc>
                  <a:txBody>
                    <a:bodyPr wrap="square"/>
                    <a:lstStyle/>
                    <a:p>
                      <a:r>
                        <a:rPr sz="1400" b="1">
                          <a:solidFill>
                            <a:srgbClr val="FFFFFF"/>
                          </a:solidFill>
                          <a:latin typeface="Calibri"/>
                        </a:rPr>
                        <a:t>what you see in the waveform</a:t>
                      </a:r>
                    </a:p>
                  </a:txBody>
                  <a:tcPr marL="73152" marR="73152" marT="36576" marB="36576" anchor="ctr">
                    <a:solidFill>
                      <a:srgbClr val="1B4D5C"/>
                    </a:solidFill>
                  </a:tcPr>
                </a:tc>
              </a:tr>
              <a:tr h="914400">
                <a:tc>
                  <a:txBody>
                    <a:bodyPr wrap="square"/>
                    <a:lstStyle/>
                    <a:p>
                      <a:r>
                        <a:rPr sz="1400" b="1">
                          <a:solidFill>
                            <a:srgbClr val="0F2A33"/>
                          </a:solidFill>
                          <a:latin typeface="Calibri"/>
                        </a:rPr>
                        <a:t>T5</a:t>
                      </a:r>
                    </a:p>
                  </a:txBody>
                  <a:tcPr marL="73152" marR="73152" marT="36576" marB="36576" anchor="ctr">
                    <a:solidFill>
                      <a:srgbClr val="FFFFFF"/>
                    </a:solidFill>
                  </a:tcPr>
                </a:tc>
                <a:tc>
                  <a:txBody>
                    <a:bodyPr wrap="square"/>
                    <a:lstStyle/>
                    <a:p>
                      <a:r>
                        <a:rPr sz="1400" b="0">
                          <a:solidFill>
                            <a:srgbClr val="0F2A33"/>
                          </a:solidFill>
                          <a:latin typeface="Calibri"/>
                        </a:rPr>
                        <a:t>Bypass</a:t>
                      </a:r>
                    </a:p>
                  </a:txBody>
                  <a:tcPr marL="73152" marR="73152" marT="36576" marB="36576" anchor="ctr">
                    <a:solidFill>
                      <a:srgbClr val="FFFFFF"/>
                    </a:solidFill>
                  </a:tcPr>
                </a:tc>
                <a:tc>
                  <a:txBody>
                    <a:bodyPr wrap="square"/>
                    <a:lstStyle/>
                    <a:p>
                      <a:r>
                        <a:rPr sz="1400" b="0">
                          <a:solidFill>
                            <a:srgbClr val="0F2A33"/>
                          </a:solidFill>
                          <a:latin typeface="Calibri"/>
                        </a:rPr>
                        <a:t>CTRL.bypass = 1</a:t>
                      </a:r>
                    </a:p>
                  </a:txBody>
                  <a:tcPr marL="73152" marR="73152" marT="36576" marB="36576" anchor="ctr">
                    <a:solidFill>
                      <a:srgbClr val="FFFFFF"/>
                    </a:solidFill>
                  </a:tcPr>
                </a:tc>
                <a:tc>
                  <a:txBody>
                    <a:bodyPr wrap="square"/>
                    <a:lstStyle/>
                    <a:p>
                      <a:r>
                        <a:rPr sz="1400" b="0">
                          <a:solidFill>
                            <a:srgbClr val="0F2A33"/>
                          </a:solidFill>
                          <a:latin typeface="Calibri"/>
                        </a:rPr>
                        <a:t>forwards everything (off switch)</a:t>
                      </a:r>
                    </a:p>
                  </a:txBody>
                  <a:tcPr marL="73152" marR="73152" marT="36576" marB="36576" anchor="ctr">
                    <a:solidFill>
                      <a:srgbClr val="FFFFFF"/>
                    </a:solidFill>
                  </a:tcPr>
                </a:tc>
                <a:tc>
                  <a:txBody>
                    <a:bodyPr wrap="square"/>
                    <a:lstStyle/>
                    <a:p>
                      <a:r>
                        <a:rPr sz="1400" b="0">
                          <a:solidFill>
                            <a:srgbClr val="0F2A33"/>
                          </a:solidFill>
                          <a:latin typeface="Calibri"/>
                        </a:rPr>
                        <a:t>same as T4</a:t>
                      </a:r>
                    </a:p>
                  </a:txBody>
                  <a:tcPr marL="73152" marR="73152" marT="36576" marB="36576" anchor="ctr">
                    <a:solidFill>
                      <a:srgbClr val="FFFFFF"/>
                    </a:solidFill>
                  </a:tcPr>
                </a:tc>
              </a:tr>
              <a:tr h="914400">
                <a:tc>
                  <a:txBody>
                    <a:bodyPr wrap="square"/>
                    <a:lstStyle/>
                    <a:p>
                      <a:r>
                        <a:rPr sz="1400" b="1">
                          <a:solidFill>
                            <a:srgbClr val="0F2A33"/>
                          </a:solidFill>
                          <a:latin typeface="Calibri"/>
                        </a:rPr>
                        <a:t>T6</a:t>
                      </a:r>
                    </a:p>
                  </a:txBody>
                  <a:tcPr marL="73152" marR="73152" marT="36576" marB="36576" anchor="ctr">
                    <a:solidFill>
                      <a:srgbClr val="EAF2F3"/>
                    </a:solidFill>
                  </a:tcPr>
                </a:tc>
                <a:tc>
                  <a:txBody>
                    <a:bodyPr wrap="square"/>
                    <a:lstStyle/>
                    <a:p>
                      <a:r>
                        <a:rPr sz="1400" b="0">
                          <a:solidFill>
                            <a:srgbClr val="0F2A33"/>
                          </a:solidFill>
                          <a:latin typeface="Calibri"/>
                        </a:rPr>
                        <a:t>Corrupted frames</a:t>
                      </a:r>
                    </a:p>
                  </a:txBody>
                  <a:tcPr marL="73152" marR="73152" marT="36576" marB="36576" anchor="ctr">
                    <a:solidFill>
                      <a:srgbClr val="EAF2F3"/>
                    </a:solidFill>
                  </a:tcPr>
                </a:tc>
                <a:tc>
                  <a:txBody>
                    <a:bodyPr wrap="square"/>
                    <a:lstStyle/>
                    <a:p>
                      <a:r>
                        <a:rPr sz="1400" b="0">
                          <a:solidFill>
                            <a:srgbClr val="0F2A33"/>
                          </a:solidFill>
                          <a:latin typeface="Calibri"/>
                        </a:rPr>
                        <a:t>every 5th frame marked bad (tuser)</a:t>
                      </a:r>
                    </a:p>
                  </a:txBody>
                  <a:tcPr marL="73152" marR="73152" marT="36576" marB="36576" anchor="ctr">
                    <a:solidFill>
                      <a:srgbClr val="EAF2F3"/>
                    </a:solidFill>
                  </a:tcPr>
                </a:tc>
                <a:tc>
                  <a:txBody>
                    <a:bodyPr wrap="square"/>
                    <a:lstStyle/>
                    <a:p>
                      <a:r>
                        <a:rPr sz="1400" b="0">
                          <a:solidFill>
                            <a:srgbClr val="0F2A33"/>
                          </a:solidFill>
                          <a:latin typeface="Calibri"/>
                        </a:rPr>
                        <a:t>erased whole, no verdict, counted</a:t>
                      </a:r>
                    </a:p>
                  </a:txBody>
                  <a:tcPr marL="73152" marR="73152" marT="36576" marB="36576" anchor="ctr">
                    <a:solidFill>
                      <a:srgbClr val="EAF2F3"/>
                    </a:solidFill>
                  </a:tcPr>
                </a:tc>
                <a:tc>
                  <a:txBody>
                    <a:bodyPr wrap="square"/>
                    <a:lstStyle/>
                    <a:p>
                      <a:r>
                        <a:rPr sz="1400" b="0">
                          <a:solidFill>
                            <a:srgbClr val="0F2A33"/>
                          </a:solidFill>
                          <a:latin typeface="Calibri"/>
                        </a:rPr>
                        <a:t>s_axis_tuser pulses (only here)</a:t>
                      </a:r>
                    </a:p>
                  </a:txBody>
                  <a:tcPr marL="73152" marR="73152" marT="36576" marB="36576" anchor="ctr">
                    <a:solidFill>
                      <a:srgbClr val="EAF2F3"/>
                    </a:solidFill>
                  </a:tcPr>
                </a:tc>
              </a:tr>
              <a:tr h="914400">
                <a:tc>
                  <a:txBody>
                    <a:bodyPr wrap="square"/>
                    <a:lstStyle/>
                    <a:p>
                      <a:r>
                        <a:rPr sz="1400" b="1">
                          <a:solidFill>
                            <a:srgbClr val="0F2A33"/>
                          </a:solidFill>
                          <a:latin typeface="Calibri"/>
                        </a:rPr>
                        <a:t>T7</a:t>
                      </a:r>
                    </a:p>
                  </a:txBody>
                  <a:tcPr marL="73152" marR="73152" marT="36576" marB="36576" anchor="ctr">
                    <a:solidFill>
                      <a:srgbClr val="FFFFFF"/>
                    </a:solidFill>
                  </a:tcPr>
                </a:tc>
                <a:tc>
                  <a:txBody>
                    <a:bodyPr wrap="square"/>
                    <a:lstStyle/>
                    <a:p>
                      <a:r>
                        <a:rPr sz="1400" b="0">
                          <a:solidFill>
                            <a:srgbClr val="0F2A33"/>
                          </a:solidFill>
                          <a:latin typeface="Calibri"/>
                        </a:rPr>
                        <a:t>Size limits</a:t>
                      </a:r>
                    </a:p>
                  </a:txBody>
                  <a:tcPr marL="73152" marR="73152" marT="36576" marB="36576" anchor="ctr">
                    <a:solidFill>
                      <a:srgbClr val="FFFFFF"/>
                    </a:solidFill>
                  </a:tcPr>
                </a:tc>
                <a:tc>
                  <a:txBody>
                    <a:bodyPr wrap="square"/>
                    <a:lstStyle/>
                    <a:p>
                      <a:r>
                        <a:rPr sz="1400" b="0">
                          <a:solidFill>
                            <a:srgbClr val="0F2A33"/>
                          </a:solidFill>
                          <a:latin typeface="Calibri"/>
                        </a:rPr>
                        <a:t>2148 B, 8 B, 1518 B frames</a:t>
                      </a:r>
                    </a:p>
                  </a:txBody>
                  <a:tcPr marL="73152" marR="73152" marT="36576" marB="36576" anchor="ctr">
                    <a:solidFill>
                      <a:srgbClr val="FFFFFF"/>
                    </a:solidFill>
                  </a:tcPr>
                </a:tc>
                <a:tc>
                  <a:txBody>
                    <a:bodyPr wrap="square"/>
                    <a:lstStyle/>
                    <a:p>
                      <a:r>
                        <a:rPr sz="1400" b="0">
                          <a:solidFill>
                            <a:srgbClr val="0F2A33"/>
                          </a:solidFill>
                          <a:latin typeface="Calibri"/>
                        </a:rPr>
                        <a:t>too-big dropped whole; tiny and max-size pass intact</a:t>
                      </a:r>
                    </a:p>
                  </a:txBody>
                  <a:tcPr marL="73152" marR="73152" marT="36576" marB="36576" anchor="ctr">
                    <a:solidFill>
                      <a:srgbClr val="FFFFFF"/>
                    </a:solidFill>
                  </a:tcPr>
                </a:tc>
                <a:tc>
                  <a:txBody>
                    <a:bodyPr wrap="square"/>
                    <a:lstStyle/>
                    <a:p>
                      <a:r>
                        <a:rPr sz="1400" b="0">
                          <a:solidFill>
                            <a:srgbClr val="0F2A33"/>
                          </a:solidFill>
                          <a:latin typeface="Calibri"/>
                        </a:rPr>
                        <a:t>one very long input frame, no output for it</a:t>
                      </a:r>
                    </a:p>
                  </a:txBody>
                  <a:tcPr marL="73152" marR="73152" marT="36576" marB="36576" anchor="ctr">
                    <a:solidFill>
                      <a:srgbClr val="FFFFFF"/>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02975" y="6400800"/>
            <a:ext cx="822960" cy="274320"/>
          </a:xfrm>
          <a:prstGeom prst="rect">
            <a:avLst/>
          </a:prstGeom>
          <a:noFill/>
        </p:spPr>
        <p:txBody>
          <a:bodyPr wrap="square" anchor="t" lIns="45720" rIns="45720">
            <a:spAutoFit/>
          </a:bodyPr>
          <a:lstStyle/>
          <a:p>
            <a:pPr algn="r">
              <a:spcAft>
                <a:spcPts val="400"/>
              </a:spcAft>
            </a:pPr>
            <a:r>
              <a:rPr sz="1100" b="0" i="0">
                <a:solidFill>
                  <a:srgbClr val="5F6F78"/>
                </a:solidFill>
                <a:latin typeface="Calibri"/>
              </a:rPr>
              <a:t>26</a:t>
            </a:r>
          </a:p>
        </p:txBody>
      </p:sp>
      <p:sp>
        <p:nvSpPr>
          <p:cNvPr id="3" name="TextBox 2"/>
          <p:cNvSpPr txBox="1"/>
          <p:nvPr/>
        </p:nvSpPr>
        <p:spPr>
          <a:xfrm>
            <a:off x="548640" y="6400800"/>
            <a:ext cx="7315200" cy="274320"/>
          </a:xfrm>
          <a:prstGeom prst="rect">
            <a:avLst/>
          </a:prstGeom>
          <a:noFill/>
        </p:spPr>
        <p:txBody>
          <a:bodyPr wrap="square" anchor="t" lIns="45720" rIns="45720">
            <a:spAutoFit/>
          </a:bodyPr>
          <a:lstStyle/>
          <a:p>
            <a:pPr algn="l">
              <a:spcAft>
                <a:spcPts val="400"/>
              </a:spcAft>
            </a:pPr>
            <a:r>
              <a:rPr sz="1100" b="0" i="0">
                <a:solidFill>
                  <a:srgbClr val="5F6F78"/>
                </a:solidFill>
                <a:latin typeface="Calibri"/>
              </a:rPr>
              <a:t>3  Verification</a:t>
            </a:r>
          </a:p>
        </p:txBody>
      </p:sp>
      <p:sp>
        <p:nvSpPr>
          <p:cNvPr id="4" name="Title"/>
          <p:cNvSpPr txBox="1"/>
          <p:nvPr/>
        </p:nvSpPr>
        <p:spPr>
          <a:xfrm>
            <a:off x="548640" y="320040"/>
            <a:ext cx="11064240" cy="777240"/>
          </a:xfrm>
          <a:prstGeom prst="rect">
            <a:avLst/>
          </a:prstGeom>
          <a:noFill/>
        </p:spPr>
        <p:txBody>
          <a:bodyPr wrap="square" anchor="ctr" lIns="45720" rIns="45720">
            <a:spAutoFit/>
          </a:bodyPr>
          <a:lstStyle/>
          <a:p>
            <a:pPr algn="l">
              <a:spcAft>
                <a:spcPts val="400"/>
              </a:spcAft>
            </a:pPr>
            <a:r>
              <a:rPr sz="3400" b="1" i="0">
                <a:solidFill>
                  <a:srgbClr val="0F2A33"/>
                </a:solidFill>
                <a:latin typeface="Cambria"/>
              </a:rPr>
              <a:t>Functional verification table (3/3)</a:t>
            </a:r>
          </a:p>
        </p:txBody>
      </p:sp>
      <p:sp>
        <p:nvSpPr>
          <p:cNvPr id="5" name="Subtitle"/>
          <p:cNvSpPr txBox="1"/>
          <p:nvPr/>
        </p:nvSpPr>
        <p:spPr>
          <a:xfrm>
            <a:off x="548640" y="1051560"/>
            <a:ext cx="11064240" cy="411480"/>
          </a:xfrm>
          <a:prstGeom prst="rect">
            <a:avLst/>
          </a:prstGeom>
          <a:noFill/>
        </p:spPr>
        <p:txBody>
          <a:bodyPr wrap="square" anchor="t" lIns="45720" rIns="45720">
            <a:spAutoFit/>
          </a:bodyPr>
          <a:lstStyle/>
          <a:p>
            <a:pPr algn="l">
              <a:spcAft>
                <a:spcPts val="400"/>
              </a:spcAft>
            </a:pPr>
            <a:r>
              <a:rPr sz="1600" b="0" i="1">
                <a:solidFill>
                  <a:srgbClr val="5F6F78"/>
                </a:solidFill>
                <a:latin typeface="Calibri"/>
              </a:rPr>
              <a:t>10 tests, all PASS in xrun (RTL), Questa (RTL) and on the gate-level netlist</a:t>
            </a:r>
          </a:p>
        </p:txBody>
      </p:sp>
      <p:graphicFrame>
        <p:nvGraphicFramePr>
          <p:cNvPr id="6" name="Table 5"/>
          <p:cNvGraphicFramePr>
            <a:graphicFrameLocks noGrp="1"/>
          </p:cNvGraphicFramePr>
          <p:nvPr/>
        </p:nvGraphicFramePr>
        <p:xfrm>
          <a:off x="548640" y="1645920"/>
          <a:ext cx="11109959" cy="3657600"/>
        </p:xfrm>
        <a:graphic>
          <a:graphicData uri="http://schemas.openxmlformats.org/drawingml/2006/table">
            <a:tbl>
              <a:tblPr firstRow="1" bandRow="1">
                <a:tableStyleId>{5C22544A-7EE6-4342-B048-85BDC9FD1C3A}</a:tableStyleId>
              </a:tblPr>
              <a:tblGrid>
                <a:gridCol w="640079"/>
                <a:gridCol w="1554480"/>
                <a:gridCol w="2743200"/>
                <a:gridCol w="3291840"/>
                <a:gridCol w="2880360"/>
              </a:tblGrid>
              <a:tr h="914400">
                <a:tc>
                  <a:txBody>
                    <a:bodyPr wrap="square"/>
                    <a:lstStyle/>
                    <a:p>
                      <a:r>
                        <a:rPr sz="1400" b="1">
                          <a:solidFill>
                            <a:srgbClr val="FFFFFF"/>
                          </a:solidFill>
                          <a:latin typeface="Calibri"/>
                        </a:rPr>
                        <a:t>test</a:t>
                      </a:r>
                    </a:p>
                  </a:txBody>
                  <a:tcPr marL="73152" marR="73152" marT="36576" marB="36576" anchor="ctr">
                    <a:solidFill>
                      <a:srgbClr val="1B4D5C"/>
                    </a:solidFill>
                  </a:tcPr>
                </a:tc>
                <a:tc>
                  <a:txBody>
                    <a:bodyPr wrap="square"/>
                    <a:lstStyle/>
                    <a:p>
                      <a:r>
                        <a:rPr sz="1400" b="1">
                          <a:solidFill>
                            <a:srgbClr val="FFFFFF"/>
                          </a:solidFill>
                          <a:latin typeface="Calibri"/>
                        </a:rPr>
                        <a:t>situation</a:t>
                      </a:r>
                    </a:p>
                  </a:txBody>
                  <a:tcPr marL="73152" marR="73152" marT="36576" marB="36576" anchor="ctr">
                    <a:solidFill>
                      <a:srgbClr val="1B4D5C"/>
                    </a:solidFill>
                  </a:tcPr>
                </a:tc>
                <a:tc>
                  <a:txBody>
                    <a:bodyPr wrap="square"/>
                    <a:lstStyle/>
                    <a:p>
                      <a:r>
                        <a:rPr sz="1400" b="1">
                          <a:solidFill>
                            <a:srgbClr val="FFFFFF"/>
                          </a:solidFill>
                          <a:latin typeface="Calibri"/>
                        </a:rPr>
                        <a:t>what the testbench does</a:t>
                      </a:r>
                    </a:p>
                  </a:txBody>
                  <a:tcPr marL="73152" marR="73152" marT="36576" marB="36576" anchor="ctr">
                    <a:solidFill>
                      <a:srgbClr val="1B4D5C"/>
                    </a:solidFill>
                  </a:tcPr>
                </a:tc>
                <a:tc>
                  <a:txBody>
                    <a:bodyPr wrap="square"/>
                    <a:lstStyle/>
                    <a:p>
                      <a:r>
                        <a:rPr sz="1400" b="1">
                          <a:solidFill>
                            <a:srgbClr val="FFFFFF"/>
                          </a:solidFill>
                          <a:latin typeface="Calibri"/>
                        </a:rPr>
                        <a:t>expected behaviour (PASS)</a:t>
                      </a:r>
                    </a:p>
                  </a:txBody>
                  <a:tcPr marL="73152" marR="73152" marT="36576" marB="36576" anchor="ctr">
                    <a:solidFill>
                      <a:srgbClr val="1B4D5C"/>
                    </a:solidFill>
                  </a:tcPr>
                </a:tc>
                <a:tc>
                  <a:txBody>
                    <a:bodyPr wrap="square"/>
                    <a:lstStyle/>
                    <a:p>
                      <a:r>
                        <a:rPr sz="1400" b="1">
                          <a:solidFill>
                            <a:srgbClr val="FFFFFF"/>
                          </a:solidFill>
                          <a:latin typeface="Calibri"/>
                        </a:rPr>
                        <a:t>what you see in the waveform</a:t>
                      </a:r>
                    </a:p>
                  </a:txBody>
                  <a:tcPr marL="73152" marR="73152" marT="36576" marB="36576" anchor="ctr">
                    <a:solidFill>
                      <a:srgbClr val="1B4D5C"/>
                    </a:solidFill>
                  </a:tcPr>
                </a:tc>
              </a:tr>
              <a:tr h="914400">
                <a:tc>
                  <a:txBody>
                    <a:bodyPr wrap="square"/>
                    <a:lstStyle/>
                    <a:p>
                      <a:r>
                        <a:rPr sz="1400" b="1">
                          <a:solidFill>
                            <a:srgbClr val="0F2A33"/>
                          </a:solidFill>
                          <a:latin typeface="Calibri"/>
                        </a:rPr>
                        <a:t>T8</a:t>
                      </a:r>
                    </a:p>
                  </a:txBody>
                  <a:tcPr marL="73152" marR="73152" marT="36576" marB="36576" anchor="ctr">
                    <a:solidFill>
                      <a:srgbClr val="FFFFFF"/>
                    </a:solidFill>
                  </a:tcPr>
                </a:tc>
                <a:tc>
                  <a:txBody>
                    <a:bodyPr wrap="square"/>
                    <a:lstStyle/>
                    <a:p>
                      <a:r>
                        <a:rPr sz="1400" b="0">
                          <a:solidFill>
                            <a:srgbClr val="0F2A33"/>
                          </a:solidFill>
                          <a:latin typeface="Calibri"/>
                        </a:rPr>
                        <a:t>Full speed</a:t>
                      </a:r>
                    </a:p>
                  </a:txBody>
                  <a:tcPr marL="73152" marR="73152" marT="36576" marB="36576" anchor="ctr">
                    <a:solidFill>
                      <a:srgbClr val="FFFFFF"/>
                    </a:solidFill>
                  </a:tcPr>
                </a:tc>
                <a:tc>
                  <a:txBody>
                    <a:bodyPr wrap="square"/>
                    <a:lstStyle/>
                    <a:p>
                      <a:r>
                        <a:rPr sz="1400" b="0">
                          <a:solidFill>
                            <a:srgbClr val="0F2A33"/>
                          </a:solidFill>
                          <a:latin typeface="Calibri"/>
                        </a:rPr>
                        <a:t>250 frames, 20 idle cycles apart</a:t>
                      </a:r>
                    </a:p>
                  </a:txBody>
                  <a:tcPr marL="73152" marR="73152" marT="36576" marB="36576" anchor="ctr">
                    <a:solidFill>
                      <a:srgbClr val="FFFFFF"/>
                    </a:solidFill>
                  </a:tcPr>
                </a:tc>
                <a:tc>
                  <a:txBody>
                    <a:bodyPr wrap="square"/>
                    <a:lstStyle/>
                    <a:p>
                      <a:r>
                        <a:rPr sz="1400" b="0">
                          <a:solidFill>
                            <a:srgbClr val="0F2A33"/>
                          </a:solidFill>
                          <a:latin typeface="Calibri"/>
                        </a:rPr>
                        <a:t>keeps up with 1 Gb/s: 0 drops, bit-exact</a:t>
                      </a:r>
                    </a:p>
                  </a:txBody>
                  <a:tcPr marL="73152" marR="73152" marT="36576" marB="36576" anchor="ctr">
                    <a:solidFill>
                      <a:srgbClr val="FFFFFF"/>
                    </a:solidFill>
                  </a:tcPr>
                </a:tc>
                <a:tc>
                  <a:txBody>
                    <a:bodyPr wrap="square"/>
                    <a:lstStyle/>
                    <a:p>
                      <a:r>
                        <a:rPr sz="1400" b="0">
                          <a:solidFill>
                            <a:srgbClr val="0F2A33"/>
                          </a:solidFill>
                          <a:latin typeface="Calibri"/>
                        </a:rPr>
                        <a:t>regular frames, m_axis_tready flat</a:t>
                      </a:r>
                    </a:p>
                  </a:txBody>
                  <a:tcPr marL="73152" marR="73152" marT="36576" marB="36576" anchor="ctr">
                    <a:solidFill>
                      <a:srgbClr val="FFFFFF"/>
                    </a:solidFill>
                  </a:tcPr>
                </a:tc>
              </a:tr>
              <a:tr h="914400">
                <a:tc>
                  <a:txBody>
                    <a:bodyPr wrap="square"/>
                    <a:lstStyle/>
                    <a:p>
                      <a:r>
                        <a:rPr sz="1400" b="1">
                          <a:solidFill>
                            <a:srgbClr val="0F2A33"/>
                          </a:solidFill>
                          <a:latin typeface="Calibri"/>
                        </a:rPr>
                        <a:t>T9</a:t>
                      </a:r>
                    </a:p>
                  </a:txBody>
                  <a:tcPr marL="73152" marR="73152" marT="36576" marB="36576" anchor="ctr">
                    <a:solidFill>
                      <a:srgbClr val="EAF2F3"/>
                    </a:solidFill>
                  </a:tcPr>
                </a:tc>
                <a:tc>
                  <a:txBody>
                    <a:bodyPr wrap="square"/>
                    <a:lstStyle/>
                    <a:p>
                      <a:r>
                        <a:rPr sz="1400" b="0">
                          <a:solidFill>
                            <a:srgbClr val="0F2A33"/>
                          </a:solidFill>
                          <a:latin typeface="Calibri"/>
                        </a:rPr>
                        <a:t>Overload</a:t>
                      </a:r>
                    </a:p>
                  </a:txBody>
                  <a:tcPr marL="73152" marR="73152" marT="36576" marB="36576" anchor="ctr">
                    <a:solidFill>
                      <a:srgbClr val="EAF2F3"/>
                    </a:solidFill>
                  </a:tcPr>
                </a:tc>
                <a:tc>
                  <a:txBody>
                    <a:bodyPr wrap="square"/>
                    <a:lstStyle/>
                    <a:p>
                      <a:r>
                        <a:rPr sz="1400" b="0">
                          <a:solidFill>
                            <a:srgbClr val="0F2A33"/>
                          </a:solidFill>
                          <a:latin typeface="Calibri"/>
                        </a:rPr>
                        <a:t>gaps 1–3, host only 35 % ready</a:t>
                      </a:r>
                    </a:p>
                  </a:txBody>
                  <a:tcPr marL="73152" marR="73152" marT="36576" marB="36576" anchor="ctr">
                    <a:solidFill>
                      <a:srgbClr val="EAF2F3"/>
                    </a:solidFill>
                  </a:tcPr>
                </a:tc>
                <a:tc>
                  <a:txBody>
                    <a:bodyPr wrap="square"/>
                    <a:lstStyle/>
                    <a:p>
                      <a:r>
                        <a:rPr sz="1400" b="0">
                          <a:solidFill>
                            <a:srgbClr val="0F2A33"/>
                          </a:solidFill>
                          <a:latin typeface="Calibri"/>
                        </a:rPr>
                        <a:t>drops whole frames, none corrupted or reordered</a:t>
                      </a:r>
                    </a:p>
                  </a:txBody>
                  <a:tcPr marL="73152" marR="73152" marT="36576" marB="36576" anchor="ctr">
                    <a:solidFill>
                      <a:srgbClr val="EAF2F3"/>
                    </a:solidFill>
                  </a:tcPr>
                </a:tc>
                <a:tc>
                  <a:txBody>
                    <a:bodyPr wrap="square"/>
                    <a:lstStyle/>
                    <a:p>
                      <a:r>
                        <a:rPr sz="1400" b="0">
                          <a:solidFill>
                            <a:srgbClr val="0F2A33"/>
                          </a:solidFill>
                          <a:latin typeface="Calibri"/>
                        </a:rPr>
                        <a:t>input dense, output throttled</a:t>
                      </a:r>
                    </a:p>
                  </a:txBody>
                  <a:tcPr marL="73152" marR="73152" marT="36576" marB="36576" anchor="ctr">
                    <a:solidFill>
                      <a:srgbClr val="EAF2F3"/>
                    </a:solidFill>
                  </a:tcPr>
                </a:tc>
              </a:tr>
              <a:tr h="914400">
                <a:tc>
                  <a:txBody>
                    <a:bodyPr wrap="square"/>
                    <a:lstStyle/>
                    <a:p>
                      <a:r>
                        <a:rPr sz="1400" b="1">
                          <a:solidFill>
                            <a:srgbClr val="0F2A33"/>
                          </a:solidFill>
                          <a:latin typeface="Calibri"/>
                        </a:rPr>
                        <a:t>T10</a:t>
                      </a:r>
                    </a:p>
                  </a:txBody>
                  <a:tcPr marL="73152" marR="73152" marT="36576" marB="36576" anchor="ctr">
                    <a:solidFill>
                      <a:srgbClr val="FFFFFF"/>
                    </a:solidFill>
                  </a:tcPr>
                </a:tc>
                <a:tc>
                  <a:txBody>
                    <a:bodyPr wrap="square"/>
                    <a:lstStyle/>
                    <a:p>
                      <a:r>
                        <a:rPr sz="1400" b="0">
                          <a:solidFill>
                            <a:srgbClr val="0F2A33"/>
                          </a:solidFill>
                          <a:latin typeface="Calibri"/>
                        </a:rPr>
                        <a:t>Reset mid-traffic</a:t>
                      </a:r>
                    </a:p>
                  </a:txBody>
                  <a:tcPr marL="73152" marR="73152" marT="36576" marB="36576" anchor="ctr">
                    <a:solidFill>
                      <a:srgbClr val="FFFFFF"/>
                    </a:solidFill>
                  </a:tcPr>
                </a:tc>
                <a:tc>
                  <a:txBody>
                    <a:bodyPr wrap="square"/>
                    <a:lstStyle/>
                    <a:p>
                      <a:r>
                        <a:rPr sz="1400" b="0">
                          <a:solidFill>
                            <a:srgbClr val="0F2A33"/>
                          </a:solidFill>
                          <a:latin typeface="Calibri"/>
                        </a:rPr>
                        <a:t>reset during a half frame, then 60 frames</a:t>
                      </a:r>
                    </a:p>
                  </a:txBody>
                  <a:tcPr marL="73152" marR="73152" marT="36576" marB="36576" anchor="ctr">
                    <a:solidFill>
                      <a:srgbClr val="FFFFFF"/>
                    </a:solidFill>
                  </a:tcPr>
                </a:tc>
                <a:tc>
                  <a:txBody>
                    <a:bodyPr wrap="square"/>
                    <a:lstStyle/>
                    <a:p>
                      <a:r>
                        <a:rPr sz="1400" b="0">
                          <a:solidFill>
                            <a:srgbClr val="0F2A33"/>
                          </a:solidFill>
                          <a:latin typeface="Calibri"/>
                        </a:rPr>
                        <a:t>clean restart, then perfect again</a:t>
                      </a:r>
                    </a:p>
                  </a:txBody>
                  <a:tcPr marL="73152" marR="73152" marT="36576" marB="36576" anchor="ctr">
                    <a:solidFill>
                      <a:srgbClr val="FFFFFF"/>
                    </a:solidFill>
                  </a:tcPr>
                </a:tc>
                <a:tc>
                  <a:txBody>
                    <a:bodyPr wrap="square"/>
                    <a:lstStyle/>
                    <a:p>
                      <a:r>
                        <a:rPr sz="1400" b="0">
                          <a:solidFill>
                            <a:srgbClr val="0F2A33"/>
                          </a:solidFill>
                          <a:latin typeface="Calibri"/>
                        </a:rPr>
                        <a:t>rst pulse, counters read 0, weights reloaded</a:t>
                      </a:r>
                    </a:p>
                  </a:txBody>
                  <a:tcPr marL="73152" marR="73152" marT="36576" marB="36576" anchor="ctr">
                    <a:solidFill>
                      <a:srgbClr val="FFFFFF"/>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02975" y="6400800"/>
            <a:ext cx="822960" cy="274320"/>
          </a:xfrm>
          <a:prstGeom prst="rect">
            <a:avLst/>
          </a:prstGeom>
          <a:noFill/>
        </p:spPr>
        <p:txBody>
          <a:bodyPr wrap="square" anchor="t" lIns="45720" rIns="45720">
            <a:spAutoFit/>
          </a:bodyPr>
          <a:lstStyle/>
          <a:p>
            <a:pPr algn="r">
              <a:spcAft>
                <a:spcPts val="400"/>
              </a:spcAft>
            </a:pPr>
            <a:r>
              <a:rPr sz="1100" b="0" i="0">
                <a:solidFill>
                  <a:srgbClr val="5F6F78"/>
                </a:solidFill>
                <a:latin typeface="Calibri"/>
              </a:rPr>
              <a:t>27</a:t>
            </a:r>
          </a:p>
        </p:txBody>
      </p:sp>
      <p:sp>
        <p:nvSpPr>
          <p:cNvPr id="3" name="TextBox 2"/>
          <p:cNvSpPr txBox="1"/>
          <p:nvPr/>
        </p:nvSpPr>
        <p:spPr>
          <a:xfrm>
            <a:off x="548640" y="6400800"/>
            <a:ext cx="7315200" cy="274320"/>
          </a:xfrm>
          <a:prstGeom prst="rect">
            <a:avLst/>
          </a:prstGeom>
          <a:noFill/>
        </p:spPr>
        <p:txBody>
          <a:bodyPr wrap="square" anchor="t" lIns="45720" rIns="45720">
            <a:spAutoFit/>
          </a:bodyPr>
          <a:lstStyle/>
          <a:p>
            <a:pPr algn="l">
              <a:spcAft>
                <a:spcPts val="400"/>
              </a:spcAft>
            </a:pPr>
            <a:r>
              <a:rPr sz="1100" b="0" i="0">
                <a:solidFill>
                  <a:srgbClr val="5F6F78"/>
                </a:solidFill>
                <a:latin typeface="Calibri"/>
              </a:rPr>
              <a:t>3  Verification</a:t>
            </a:r>
          </a:p>
        </p:txBody>
      </p:sp>
      <p:sp>
        <p:nvSpPr>
          <p:cNvPr id="4" name="Title"/>
          <p:cNvSpPr txBox="1"/>
          <p:nvPr/>
        </p:nvSpPr>
        <p:spPr>
          <a:xfrm>
            <a:off x="548640" y="320040"/>
            <a:ext cx="11064240" cy="777240"/>
          </a:xfrm>
          <a:prstGeom prst="rect">
            <a:avLst/>
          </a:prstGeom>
          <a:noFill/>
        </p:spPr>
        <p:txBody>
          <a:bodyPr wrap="square" anchor="ctr" lIns="45720" rIns="45720">
            <a:spAutoFit/>
          </a:bodyPr>
          <a:lstStyle/>
          <a:p>
            <a:pPr algn="l">
              <a:spcAft>
                <a:spcPts val="400"/>
              </a:spcAft>
            </a:pPr>
            <a:r>
              <a:rPr sz="3400" b="1" i="0">
                <a:solidFill>
                  <a:srgbClr val="0F2A33"/>
                </a:solidFill>
                <a:latin typeface="Cambria"/>
              </a:rPr>
              <a:t>Reading your xrun waveform</a:t>
            </a:r>
          </a:p>
        </p:txBody>
      </p:sp>
      <p:pic>
        <p:nvPicPr>
          <p:cNvPr id="5" name="Picture 4" descr="SimVision waveform of the passing xrun run, 3.2 ms, all top-level ports"/>
          <p:cNvPicPr>
            <a:picLocks noChangeAspect="1"/>
          </p:cNvPicPr>
          <p:nvPr/>
        </p:nvPicPr>
        <p:blipFill>
          <a:blip r:embed="rId3"/>
          <a:stretch>
            <a:fillRect/>
          </a:stretch>
        </p:blipFill>
        <p:spPr>
          <a:xfrm>
            <a:off x="548640" y="1280160"/>
            <a:ext cx="7315200" cy="4114800"/>
          </a:xfrm>
          <a:prstGeom prst="rect">
            <a:avLst/>
          </a:prstGeom>
        </p:spPr>
      </p:pic>
      <p:sp>
        <p:nvSpPr>
          <p:cNvPr id="6" name="Rounded Rectangle 5"/>
          <p:cNvSpPr/>
          <p:nvPr/>
        </p:nvSpPr>
        <p:spPr>
          <a:xfrm>
            <a:off x="8092440" y="1325880"/>
            <a:ext cx="1463040" cy="512064"/>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300" b="1" i="0">
                <a:solidFill>
                  <a:srgbClr val="0F2A33"/>
                </a:solidFill>
                <a:latin typeface="Calibri"/>
              </a:rPr>
              <a:t>0 – 1.03 ms</a:t>
            </a:r>
          </a:p>
        </p:txBody>
      </p:sp>
      <p:sp>
        <p:nvSpPr>
          <p:cNvPr id="7" name="TextBox 6"/>
          <p:cNvSpPr txBox="1"/>
          <p:nvPr/>
        </p:nvSpPr>
        <p:spPr>
          <a:xfrm>
            <a:off x="9646920" y="1325880"/>
            <a:ext cx="2057400" cy="512064"/>
          </a:xfrm>
          <a:prstGeom prst="rect">
            <a:avLst/>
          </a:prstGeom>
          <a:noFill/>
        </p:spPr>
        <p:txBody>
          <a:bodyPr wrap="square" anchor="ctr" lIns="45720" rIns="45720">
            <a:spAutoFit/>
          </a:bodyPr>
          <a:lstStyle/>
          <a:p>
            <a:pPr algn="l">
              <a:spcAft>
                <a:spcPts val="400"/>
              </a:spcAft>
            </a:pPr>
            <a:r>
              <a:rPr sz="1300" b="0" i="0">
                <a:solidFill>
                  <a:srgbClr val="0F2A33"/>
                </a:solidFill>
                <a:latin typeface="Calibri"/>
              </a:rPr>
              <a:t>T1–T3: weights, 600 golden frames</a:t>
            </a:r>
          </a:p>
        </p:txBody>
      </p:sp>
      <p:sp>
        <p:nvSpPr>
          <p:cNvPr id="8" name="Rounded Rectangle 7"/>
          <p:cNvSpPr/>
          <p:nvPr/>
        </p:nvSpPr>
        <p:spPr>
          <a:xfrm>
            <a:off x="8092440" y="1929384"/>
            <a:ext cx="1463040" cy="512064"/>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300" b="1" i="0">
                <a:solidFill>
                  <a:srgbClr val="0F2A33"/>
                </a:solidFill>
                <a:latin typeface="Calibri"/>
              </a:rPr>
              <a:t>≈ 1.03 ms</a:t>
            </a:r>
          </a:p>
        </p:txBody>
      </p:sp>
      <p:sp>
        <p:nvSpPr>
          <p:cNvPr id="9" name="TextBox 8"/>
          <p:cNvSpPr txBox="1"/>
          <p:nvPr/>
        </p:nvSpPr>
        <p:spPr>
          <a:xfrm>
            <a:off x="9646920" y="1929384"/>
            <a:ext cx="2057400" cy="512064"/>
          </a:xfrm>
          <a:prstGeom prst="rect">
            <a:avLst/>
          </a:prstGeom>
          <a:noFill/>
        </p:spPr>
        <p:txBody>
          <a:bodyPr wrap="square" anchor="ctr" lIns="45720" rIns="45720">
            <a:spAutoFit/>
          </a:bodyPr>
          <a:lstStyle/>
          <a:p>
            <a:pPr algn="l">
              <a:spcAft>
                <a:spcPts val="400"/>
              </a:spcAft>
            </a:pPr>
            <a:r>
              <a:rPr sz="1300" b="0" i="0">
                <a:solidFill>
                  <a:srgbClr val="0F2A33"/>
                </a:solidFill>
                <a:latin typeface="Calibri"/>
              </a:rPr>
              <a:t>T4: CTRL = 0 (monitor)</a:t>
            </a:r>
          </a:p>
        </p:txBody>
      </p:sp>
      <p:sp>
        <p:nvSpPr>
          <p:cNvPr id="10" name="Rounded Rectangle 9"/>
          <p:cNvSpPr/>
          <p:nvPr/>
        </p:nvSpPr>
        <p:spPr>
          <a:xfrm>
            <a:off x="8092440" y="2532888"/>
            <a:ext cx="1463040" cy="512064"/>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300" b="1" i="0">
                <a:solidFill>
                  <a:srgbClr val="0F2A33"/>
                </a:solidFill>
                <a:latin typeface="Calibri"/>
              </a:rPr>
              <a:t>≈ 1.27 ms</a:t>
            </a:r>
          </a:p>
        </p:txBody>
      </p:sp>
      <p:sp>
        <p:nvSpPr>
          <p:cNvPr id="11" name="TextBox 10"/>
          <p:cNvSpPr txBox="1"/>
          <p:nvPr/>
        </p:nvSpPr>
        <p:spPr>
          <a:xfrm>
            <a:off x="9646920" y="2532888"/>
            <a:ext cx="2057400" cy="512064"/>
          </a:xfrm>
          <a:prstGeom prst="rect">
            <a:avLst/>
          </a:prstGeom>
          <a:noFill/>
        </p:spPr>
        <p:txBody>
          <a:bodyPr wrap="square" anchor="ctr" lIns="45720" rIns="45720">
            <a:spAutoFit/>
          </a:bodyPr>
          <a:lstStyle/>
          <a:p>
            <a:pPr algn="l">
              <a:spcAft>
                <a:spcPts val="400"/>
              </a:spcAft>
            </a:pPr>
            <a:r>
              <a:rPr sz="1300" b="0" i="0">
                <a:solidFill>
                  <a:srgbClr val="0F2A33"/>
                </a:solidFill>
                <a:latin typeface="Calibri"/>
              </a:rPr>
              <a:t>T5: CTRL = 3 (bypass)</a:t>
            </a:r>
          </a:p>
        </p:txBody>
      </p:sp>
      <p:sp>
        <p:nvSpPr>
          <p:cNvPr id="12" name="Rounded Rectangle 11"/>
          <p:cNvSpPr/>
          <p:nvPr/>
        </p:nvSpPr>
        <p:spPr>
          <a:xfrm>
            <a:off x="8092440" y="3136391"/>
            <a:ext cx="1463040" cy="512064"/>
          </a:xfrm>
          <a:prstGeom prst="roundRect">
            <a:avLst>
              <a:gd name="adj" fmla="val 12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300" b="1" i="0">
                <a:solidFill>
                  <a:srgbClr val="0F2A33"/>
                </a:solidFill>
                <a:latin typeface="Calibri"/>
              </a:rPr>
              <a:t>1.51 – 1.69</a:t>
            </a:r>
          </a:p>
        </p:txBody>
      </p:sp>
      <p:sp>
        <p:nvSpPr>
          <p:cNvPr id="13" name="TextBox 12"/>
          <p:cNvSpPr txBox="1"/>
          <p:nvPr/>
        </p:nvSpPr>
        <p:spPr>
          <a:xfrm>
            <a:off x="9646920" y="3136391"/>
            <a:ext cx="2057400" cy="512064"/>
          </a:xfrm>
          <a:prstGeom prst="rect">
            <a:avLst/>
          </a:prstGeom>
          <a:noFill/>
        </p:spPr>
        <p:txBody>
          <a:bodyPr wrap="square" anchor="ctr" lIns="45720" rIns="45720">
            <a:spAutoFit/>
          </a:bodyPr>
          <a:lstStyle/>
          <a:p>
            <a:pPr algn="l">
              <a:spcAft>
                <a:spcPts val="400"/>
              </a:spcAft>
            </a:pPr>
            <a:r>
              <a:rPr sz="1300" b="0" i="0">
                <a:solidFill>
                  <a:srgbClr val="0F2A33"/>
                </a:solidFill>
                <a:latin typeface="Calibri"/>
              </a:rPr>
              <a:t>T6: the only s_axis_tuser pulses</a:t>
            </a:r>
          </a:p>
        </p:txBody>
      </p:sp>
      <p:sp>
        <p:nvSpPr>
          <p:cNvPr id="14" name="Rounded Rectangle 13"/>
          <p:cNvSpPr/>
          <p:nvPr/>
        </p:nvSpPr>
        <p:spPr>
          <a:xfrm>
            <a:off x="8092440" y="3739896"/>
            <a:ext cx="1463040" cy="512064"/>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300" b="1" i="0">
                <a:solidFill>
                  <a:srgbClr val="0F2A33"/>
                </a:solidFill>
                <a:latin typeface="Calibri"/>
              </a:rPr>
              <a:t>≈ 1.7 – 1.8</a:t>
            </a:r>
          </a:p>
        </p:txBody>
      </p:sp>
      <p:sp>
        <p:nvSpPr>
          <p:cNvPr id="15" name="TextBox 14"/>
          <p:cNvSpPr txBox="1"/>
          <p:nvPr/>
        </p:nvSpPr>
        <p:spPr>
          <a:xfrm>
            <a:off x="9646920" y="3739896"/>
            <a:ext cx="2057400" cy="512064"/>
          </a:xfrm>
          <a:prstGeom prst="rect">
            <a:avLst/>
          </a:prstGeom>
          <a:noFill/>
        </p:spPr>
        <p:txBody>
          <a:bodyPr wrap="square" anchor="ctr" lIns="45720" rIns="45720">
            <a:spAutoFit/>
          </a:bodyPr>
          <a:lstStyle/>
          <a:p>
            <a:pPr algn="l">
              <a:spcAft>
                <a:spcPts val="400"/>
              </a:spcAft>
            </a:pPr>
            <a:r>
              <a:rPr sz="1300" b="0" i="0">
                <a:solidFill>
                  <a:srgbClr val="0F2A33"/>
                </a:solidFill>
                <a:latin typeface="Calibri"/>
              </a:rPr>
              <a:t>T7: one 2148-byte frame</a:t>
            </a:r>
          </a:p>
        </p:txBody>
      </p:sp>
      <p:sp>
        <p:nvSpPr>
          <p:cNvPr id="16" name="Rounded Rectangle 15"/>
          <p:cNvSpPr/>
          <p:nvPr/>
        </p:nvSpPr>
        <p:spPr>
          <a:xfrm>
            <a:off x="8092440" y="4343400"/>
            <a:ext cx="1463040" cy="512064"/>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300" b="1" i="0">
                <a:solidFill>
                  <a:srgbClr val="0F2A33"/>
                </a:solidFill>
                <a:latin typeface="Calibri"/>
              </a:rPr>
              <a:t>1.8 – 2.09</a:t>
            </a:r>
          </a:p>
        </p:txBody>
      </p:sp>
      <p:sp>
        <p:nvSpPr>
          <p:cNvPr id="17" name="TextBox 16"/>
          <p:cNvSpPr txBox="1"/>
          <p:nvPr/>
        </p:nvSpPr>
        <p:spPr>
          <a:xfrm>
            <a:off x="9646920" y="4343400"/>
            <a:ext cx="2057400" cy="512064"/>
          </a:xfrm>
          <a:prstGeom prst="rect">
            <a:avLst/>
          </a:prstGeom>
          <a:noFill/>
        </p:spPr>
        <p:txBody>
          <a:bodyPr wrap="square" anchor="ctr" lIns="45720" rIns="45720">
            <a:spAutoFit/>
          </a:bodyPr>
          <a:lstStyle/>
          <a:p>
            <a:pPr algn="l">
              <a:spcAft>
                <a:spcPts val="400"/>
              </a:spcAft>
            </a:pPr>
            <a:r>
              <a:rPr sz="1300" b="0" i="0">
                <a:solidFill>
                  <a:srgbClr val="0F2A33"/>
                </a:solidFill>
                <a:latin typeface="Calibri"/>
              </a:rPr>
              <a:t>T8: full speed, tready flat</a:t>
            </a:r>
          </a:p>
        </p:txBody>
      </p:sp>
      <p:sp>
        <p:nvSpPr>
          <p:cNvPr id="18" name="Rounded Rectangle 17"/>
          <p:cNvSpPr/>
          <p:nvPr/>
        </p:nvSpPr>
        <p:spPr>
          <a:xfrm>
            <a:off x="8092440" y="4946904"/>
            <a:ext cx="1463040" cy="512064"/>
          </a:xfrm>
          <a:prstGeom prst="roundRect">
            <a:avLst>
              <a:gd name="adj" fmla="val 12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300" b="1" i="0">
                <a:solidFill>
                  <a:srgbClr val="0F2A33"/>
                </a:solidFill>
                <a:latin typeface="Calibri"/>
              </a:rPr>
              <a:t>2.09 – 3.1</a:t>
            </a:r>
          </a:p>
        </p:txBody>
      </p:sp>
      <p:sp>
        <p:nvSpPr>
          <p:cNvPr id="19" name="TextBox 18"/>
          <p:cNvSpPr txBox="1"/>
          <p:nvPr/>
        </p:nvSpPr>
        <p:spPr>
          <a:xfrm>
            <a:off x="9646920" y="4946904"/>
            <a:ext cx="2057400" cy="512064"/>
          </a:xfrm>
          <a:prstGeom prst="rect">
            <a:avLst/>
          </a:prstGeom>
          <a:noFill/>
        </p:spPr>
        <p:txBody>
          <a:bodyPr wrap="square" anchor="ctr" lIns="45720" rIns="45720">
            <a:spAutoFit/>
          </a:bodyPr>
          <a:lstStyle/>
          <a:p>
            <a:pPr algn="l">
              <a:spcAft>
                <a:spcPts val="400"/>
              </a:spcAft>
            </a:pPr>
            <a:r>
              <a:rPr sz="1300" b="0" i="0">
                <a:solidFill>
                  <a:srgbClr val="0F2A33"/>
                </a:solidFill>
                <a:latin typeface="Calibri"/>
              </a:rPr>
              <a:t>T9: overload</a:t>
            </a:r>
          </a:p>
        </p:txBody>
      </p:sp>
      <p:sp>
        <p:nvSpPr>
          <p:cNvPr id="20" name="Rounded Rectangle 19"/>
          <p:cNvSpPr/>
          <p:nvPr/>
        </p:nvSpPr>
        <p:spPr>
          <a:xfrm>
            <a:off x="8092440" y="5550408"/>
            <a:ext cx="1463040" cy="512064"/>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300" b="1" i="0">
                <a:solidFill>
                  <a:srgbClr val="0F2A33"/>
                </a:solidFill>
                <a:latin typeface="Calibri"/>
              </a:rPr>
              <a:t>3.13 – 3.2</a:t>
            </a:r>
          </a:p>
        </p:txBody>
      </p:sp>
      <p:sp>
        <p:nvSpPr>
          <p:cNvPr id="21" name="TextBox 20"/>
          <p:cNvSpPr txBox="1"/>
          <p:nvPr/>
        </p:nvSpPr>
        <p:spPr>
          <a:xfrm>
            <a:off x="9646920" y="5550408"/>
            <a:ext cx="2057400" cy="512064"/>
          </a:xfrm>
          <a:prstGeom prst="rect">
            <a:avLst/>
          </a:prstGeom>
          <a:noFill/>
        </p:spPr>
        <p:txBody>
          <a:bodyPr wrap="square" anchor="ctr" lIns="45720" rIns="45720">
            <a:spAutoFit/>
          </a:bodyPr>
          <a:lstStyle/>
          <a:p>
            <a:pPr algn="l">
              <a:spcAft>
                <a:spcPts val="400"/>
              </a:spcAft>
            </a:pPr>
            <a:r>
              <a:rPr sz="1300" b="0" i="0">
                <a:solidFill>
                  <a:srgbClr val="0F2A33"/>
                </a:solidFill>
                <a:latin typeface="Calibri"/>
              </a:rPr>
              <a:t>T10: reset, counters 0, reload</a:t>
            </a:r>
          </a:p>
        </p:txBody>
      </p:sp>
      <p:sp>
        <p:nvSpPr>
          <p:cNvPr id="22" name="TextBox 21"/>
          <p:cNvSpPr txBox="1"/>
          <p:nvPr/>
        </p:nvSpPr>
        <p:spPr>
          <a:xfrm>
            <a:off x="548640" y="5532120"/>
            <a:ext cx="7315200" cy="731520"/>
          </a:xfrm>
          <a:prstGeom prst="rect">
            <a:avLst/>
          </a:prstGeom>
          <a:noFill/>
        </p:spPr>
        <p:txBody>
          <a:bodyPr wrap="square" anchor="t" lIns="45720" rIns="45720">
            <a:spAutoFit/>
          </a:bodyPr>
          <a:lstStyle/>
          <a:p>
            <a:pPr algn="l">
              <a:spcAft>
                <a:spcPts val="400"/>
              </a:spcAft>
            </a:pPr>
            <a:r>
              <a:rPr sz="1500" b="0" i="1">
                <a:solidFill>
                  <a:srgbClr val="5F6F78"/>
                </a:solidFill>
                <a:latin typeface="Calibri"/>
              </a:rPr>
              <a:t>Ends at 3,200,784 ns: the testbench reached $finish with RESULT: PASS (10 tests).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02975" y="6400800"/>
            <a:ext cx="822960" cy="274320"/>
          </a:xfrm>
          <a:prstGeom prst="rect">
            <a:avLst/>
          </a:prstGeom>
          <a:noFill/>
        </p:spPr>
        <p:txBody>
          <a:bodyPr wrap="square" anchor="t" lIns="45720" rIns="45720">
            <a:spAutoFit/>
          </a:bodyPr>
          <a:lstStyle/>
          <a:p>
            <a:pPr algn="r">
              <a:spcAft>
                <a:spcPts val="400"/>
              </a:spcAft>
            </a:pPr>
            <a:r>
              <a:rPr sz="1100" b="0" i="0">
                <a:solidFill>
                  <a:srgbClr val="5F6F78"/>
                </a:solidFill>
                <a:latin typeface="Calibri"/>
              </a:rPr>
              <a:t>28</a:t>
            </a:r>
          </a:p>
        </p:txBody>
      </p:sp>
      <p:sp>
        <p:nvSpPr>
          <p:cNvPr id="3" name="TextBox 2"/>
          <p:cNvSpPr txBox="1"/>
          <p:nvPr/>
        </p:nvSpPr>
        <p:spPr>
          <a:xfrm>
            <a:off x="548640" y="6400800"/>
            <a:ext cx="7315200" cy="274320"/>
          </a:xfrm>
          <a:prstGeom prst="rect">
            <a:avLst/>
          </a:prstGeom>
          <a:noFill/>
        </p:spPr>
        <p:txBody>
          <a:bodyPr wrap="square" anchor="t" lIns="45720" rIns="45720">
            <a:spAutoFit/>
          </a:bodyPr>
          <a:lstStyle/>
          <a:p>
            <a:pPr algn="l">
              <a:spcAft>
                <a:spcPts val="400"/>
              </a:spcAft>
            </a:pPr>
            <a:r>
              <a:rPr sz="1100" b="0" i="0">
                <a:solidFill>
                  <a:srgbClr val="5F6F78"/>
                </a:solidFill>
                <a:latin typeface="Calibri"/>
              </a:rPr>
              <a:t>3  Verification</a:t>
            </a:r>
          </a:p>
        </p:txBody>
      </p:sp>
      <p:sp>
        <p:nvSpPr>
          <p:cNvPr id="4" name="Title"/>
          <p:cNvSpPr txBox="1"/>
          <p:nvPr/>
        </p:nvSpPr>
        <p:spPr>
          <a:xfrm>
            <a:off x="548640" y="320040"/>
            <a:ext cx="11064240" cy="777240"/>
          </a:xfrm>
          <a:prstGeom prst="rect">
            <a:avLst/>
          </a:prstGeom>
          <a:noFill/>
        </p:spPr>
        <p:txBody>
          <a:bodyPr wrap="square" anchor="ctr" lIns="45720" rIns="45720">
            <a:spAutoFit/>
          </a:bodyPr>
          <a:lstStyle/>
          <a:p>
            <a:pPr algn="l">
              <a:spcAft>
                <a:spcPts val="400"/>
              </a:spcAft>
            </a:pPr>
            <a:r>
              <a:rPr sz="3400" b="1" i="0">
                <a:solidFill>
                  <a:srgbClr val="0F2A33"/>
                </a:solidFill>
                <a:latin typeface="Cambria"/>
              </a:rPr>
              <a:t>What every xrun signal means</a:t>
            </a:r>
          </a:p>
        </p:txBody>
      </p:sp>
      <p:graphicFrame>
        <p:nvGraphicFramePr>
          <p:cNvPr id="5" name="Table 4"/>
          <p:cNvGraphicFramePr>
            <a:graphicFrameLocks noGrp="1"/>
          </p:cNvGraphicFramePr>
          <p:nvPr/>
        </p:nvGraphicFramePr>
        <p:xfrm>
          <a:off x="548640" y="1371600"/>
          <a:ext cx="11109960" cy="4572000"/>
        </p:xfrm>
        <a:graphic>
          <a:graphicData uri="http://schemas.openxmlformats.org/drawingml/2006/table">
            <a:tbl>
              <a:tblPr firstRow="1" bandRow="1">
                <a:tableStyleId>{5C22544A-7EE6-4342-B048-85BDC9FD1C3A}</a:tableStyleId>
              </a:tblPr>
              <a:tblGrid>
                <a:gridCol w="2194560"/>
                <a:gridCol w="3017520"/>
                <a:gridCol w="5897880"/>
              </a:tblGrid>
              <a:tr h="457200">
                <a:tc>
                  <a:txBody>
                    <a:bodyPr wrap="square"/>
                    <a:lstStyle/>
                    <a:p>
                      <a:r>
                        <a:rPr sz="1400" b="1">
                          <a:solidFill>
                            <a:srgbClr val="FFFFFF"/>
                          </a:solidFill>
                          <a:latin typeface="Calibri"/>
                        </a:rPr>
                        <a:t>group</a:t>
                      </a:r>
                    </a:p>
                  </a:txBody>
                  <a:tcPr marL="73152" marR="73152" marT="36576" marB="36576" anchor="ctr">
                    <a:solidFill>
                      <a:srgbClr val="1B4D5C"/>
                    </a:solidFill>
                  </a:tcPr>
                </a:tc>
                <a:tc>
                  <a:txBody>
                    <a:bodyPr wrap="square"/>
                    <a:lstStyle/>
                    <a:p>
                      <a:r>
                        <a:rPr sz="1400" b="1">
                          <a:solidFill>
                            <a:srgbClr val="FFFFFF"/>
                          </a:solidFill>
                          <a:latin typeface="Calibri"/>
                        </a:rPr>
                        <a:t>signals</a:t>
                      </a:r>
                    </a:p>
                  </a:txBody>
                  <a:tcPr marL="73152" marR="73152" marT="36576" marB="36576" anchor="ctr">
                    <a:solidFill>
                      <a:srgbClr val="1B4D5C"/>
                    </a:solidFill>
                  </a:tcPr>
                </a:tc>
                <a:tc>
                  <a:txBody>
                    <a:bodyPr wrap="square"/>
                    <a:lstStyle/>
                    <a:p>
                      <a:r>
                        <a:rPr sz="1400" b="1">
                          <a:solidFill>
                            <a:srgbClr val="FFFFFF"/>
                          </a:solidFill>
                          <a:latin typeface="Calibri"/>
                        </a:rPr>
                        <a:t>meaning</a:t>
                      </a:r>
                    </a:p>
                  </a:txBody>
                  <a:tcPr marL="73152" marR="73152" marT="36576" marB="36576" anchor="ctr">
                    <a:solidFill>
                      <a:srgbClr val="1B4D5C"/>
                    </a:solidFill>
                  </a:tcPr>
                </a:tc>
              </a:tr>
              <a:tr h="457200">
                <a:tc>
                  <a:txBody>
                    <a:bodyPr wrap="square"/>
                    <a:lstStyle/>
                    <a:p>
                      <a:r>
                        <a:rPr sz="1400" b="1">
                          <a:solidFill>
                            <a:srgbClr val="0F2A33"/>
                          </a:solidFill>
                          <a:latin typeface="Calibri"/>
                        </a:rPr>
                        <a:t>clock / reset</a:t>
                      </a:r>
                    </a:p>
                  </a:txBody>
                  <a:tcPr marL="73152" marR="73152" marT="36576" marB="36576" anchor="ctr">
                    <a:solidFill>
                      <a:srgbClr val="FFFFFF"/>
                    </a:solidFill>
                  </a:tcPr>
                </a:tc>
                <a:tc>
                  <a:txBody>
                    <a:bodyPr wrap="square"/>
                    <a:lstStyle/>
                    <a:p>
                      <a:r>
                        <a:rPr sz="1400" b="0">
                          <a:solidFill>
                            <a:srgbClr val="0F2A33"/>
                          </a:solidFill>
                          <a:latin typeface="Calibri"/>
                        </a:rPr>
                        <a:t>clk, rst</a:t>
                      </a:r>
                    </a:p>
                  </a:txBody>
                  <a:tcPr marL="73152" marR="73152" marT="36576" marB="36576" anchor="ctr">
                    <a:solidFill>
                      <a:srgbClr val="FFFFFF"/>
                    </a:solidFill>
                  </a:tcPr>
                </a:tc>
                <a:tc>
                  <a:txBody>
                    <a:bodyPr wrap="square"/>
                    <a:lstStyle/>
                    <a:p>
                      <a:r>
                        <a:rPr sz="1400" b="0">
                          <a:solidFill>
                            <a:srgbClr val="0F2A33"/>
                          </a:solidFill>
                          <a:latin typeface="Calibri"/>
                        </a:rPr>
                        <a:t>125 MHz clock (8 ns, 1 GbE byte clock); synchronous reset</a:t>
                      </a:r>
                    </a:p>
                  </a:txBody>
                  <a:tcPr marL="73152" marR="73152" marT="36576" marB="36576" anchor="ctr">
                    <a:solidFill>
                      <a:srgbClr val="FFFFFF"/>
                    </a:solidFill>
                  </a:tcPr>
                </a:tc>
              </a:tr>
              <a:tr h="457200">
                <a:tc>
                  <a:txBody>
                    <a:bodyPr wrap="square"/>
                    <a:lstStyle/>
                    <a:p>
                      <a:r>
                        <a:rPr sz="1400" b="1">
                          <a:solidFill>
                            <a:srgbClr val="0F2A33"/>
                          </a:solidFill>
                          <a:latin typeface="Calibri"/>
                        </a:rPr>
                        <a:t>frames IN (from network)</a:t>
                      </a:r>
                    </a:p>
                  </a:txBody>
                  <a:tcPr marL="73152" marR="73152" marT="36576" marB="36576" anchor="ctr">
                    <a:solidFill>
                      <a:srgbClr val="EAF2F3"/>
                    </a:solidFill>
                  </a:tcPr>
                </a:tc>
                <a:tc>
                  <a:txBody>
                    <a:bodyPr wrap="square"/>
                    <a:lstStyle/>
                    <a:p>
                      <a:r>
                        <a:rPr sz="1400" b="0">
                          <a:solidFill>
                            <a:srgbClr val="0F2A33"/>
                          </a:solidFill>
                          <a:latin typeface="Calibri"/>
                        </a:rPr>
                        <a:t>s_axis_tdata[7:0], tvalid, tlast</a:t>
                      </a:r>
                    </a:p>
                  </a:txBody>
                  <a:tcPr marL="73152" marR="73152" marT="36576" marB="36576" anchor="ctr">
                    <a:solidFill>
                      <a:srgbClr val="EAF2F3"/>
                    </a:solidFill>
                  </a:tcPr>
                </a:tc>
                <a:tc>
                  <a:txBody>
                    <a:bodyPr wrap="square"/>
                    <a:lstStyle/>
                    <a:p>
                      <a:r>
                        <a:rPr sz="1400" b="0">
                          <a:solidFill>
                            <a:srgbClr val="0F2A33"/>
                          </a:solidFill>
                          <a:latin typeface="Calibri"/>
                        </a:rPr>
                        <a:t>one byte per clock while tvalid = 1; tlast marks the last byte of a frame</a:t>
                      </a:r>
                    </a:p>
                  </a:txBody>
                  <a:tcPr marL="73152" marR="73152" marT="36576" marB="36576" anchor="ctr">
                    <a:solidFill>
                      <a:srgbClr val="EAF2F3"/>
                    </a:solidFill>
                  </a:tcPr>
                </a:tc>
              </a:tr>
              <a:tr h="457200">
                <a:tc>
                  <a:txBody>
                    <a:bodyPr wrap="square"/>
                    <a:lstStyle/>
                    <a:p>
                      <a:r>
                        <a:rPr sz="1400" b="1">
                          <a:solidFill>
                            <a:srgbClr val="0F2A33"/>
                          </a:solidFill>
                          <a:latin typeface="Calibri"/>
                        </a:rPr>
                        <a:t/>
                      </a:r>
                    </a:p>
                  </a:txBody>
                  <a:tcPr marL="73152" marR="73152" marT="36576" marB="36576" anchor="ctr">
                    <a:solidFill>
                      <a:srgbClr val="FFFFFF"/>
                    </a:solidFill>
                  </a:tcPr>
                </a:tc>
                <a:tc>
                  <a:txBody>
                    <a:bodyPr wrap="square"/>
                    <a:lstStyle/>
                    <a:p>
                      <a:r>
                        <a:rPr sz="1400" b="0">
                          <a:solidFill>
                            <a:srgbClr val="0F2A33"/>
                          </a:solidFill>
                          <a:latin typeface="Calibri"/>
                        </a:rPr>
                        <a:t>s_axis_tuser</a:t>
                      </a:r>
                    </a:p>
                  </a:txBody>
                  <a:tcPr marL="73152" marR="73152" marT="36576" marB="36576" anchor="ctr">
                    <a:solidFill>
                      <a:srgbClr val="FFFFFF"/>
                    </a:solidFill>
                  </a:tcPr>
                </a:tc>
                <a:tc>
                  <a:txBody>
                    <a:bodyPr wrap="square"/>
                    <a:lstStyle/>
                    <a:p>
                      <a:r>
                        <a:rPr sz="1400" b="0">
                          <a:solidFill>
                            <a:srgbClr val="0F2A33"/>
                          </a:solidFill>
                          <a:latin typeface="Calibri"/>
                        </a:rPr>
                        <a:t>'this frame is damaged' (bad checksum): only in T6</a:t>
                      </a:r>
                    </a:p>
                  </a:txBody>
                  <a:tcPr marL="73152" marR="73152" marT="36576" marB="36576" anchor="ctr">
                    <a:solidFill>
                      <a:srgbClr val="FFFFFF"/>
                    </a:solidFill>
                  </a:tcPr>
                </a:tc>
              </a:tr>
              <a:tr h="457200">
                <a:tc>
                  <a:txBody>
                    <a:bodyPr wrap="square"/>
                    <a:lstStyle/>
                    <a:p>
                      <a:r>
                        <a:rPr sz="1400" b="1">
                          <a:solidFill>
                            <a:srgbClr val="0F2A33"/>
                          </a:solidFill>
                          <a:latin typeface="Calibri"/>
                        </a:rPr>
                        <a:t/>
                      </a:r>
                    </a:p>
                  </a:txBody>
                  <a:tcPr marL="73152" marR="73152" marT="36576" marB="36576" anchor="ctr">
                    <a:solidFill>
                      <a:srgbClr val="EAF2F3"/>
                    </a:solidFill>
                  </a:tcPr>
                </a:tc>
                <a:tc>
                  <a:txBody>
                    <a:bodyPr wrap="square"/>
                    <a:lstStyle/>
                    <a:p>
                      <a:r>
                        <a:rPr sz="1400" b="0">
                          <a:solidFill>
                            <a:srgbClr val="0F2A33"/>
                          </a:solidFill>
                          <a:latin typeface="Calibri"/>
                        </a:rPr>
                        <a:t>s_axis_tready</a:t>
                      </a:r>
                    </a:p>
                  </a:txBody>
                  <a:tcPr marL="73152" marR="73152" marT="36576" marB="36576" anchor="ctr">
                    <a:solidFill>
                      <a:srgbClr val="EAF2F3"/>
                    </a:solidFill>
                  </a:tcPr>
                </a:tc>
                <a:tc>
                  <a:txBody>
                    <a:bodyPr wrap="square"/>
                    <a:lstStyle/>
                    <a:p>
                      <a:r>
                        <a:rPr sz="1400" b="0">
                          <a:solidFill>
                            <a:srgbClr val="0F2A33"/>
                          </a:solidFill>
                          <a:latin typeface="Calibri"/>
                        </a:rPr>
                        <a:t>always 1: the firewall never asks the network to wait</a:t>
                      </a:r>
                    </a:p>
                  </a:txBody>
                  <a:tcPr marL="73152" marR="73152" marT="36576" marB="36576" anchor="ctr">
                    <a:solidFill>
                      <a:srgbClr val="EAF2F3"/>
                    </a:solidFill>
                  </a:tcPr>
                </a:tc>
              </a:tr>
              <a:tr h="457200">
                <a:tc>
                  <a:txBody>
                    <a:bodyPr wrap="square"/>
                    <a:lstStyle/>
                    <a:p>
                      <a:r>
                        <a:rPr sz="1400" b="1">
                          <a:solidFill>
                            <a:srgbClr val="0F2A33"/>
                          </a:solidFill>
                          <a:latin typeface="Calibri"/>
                        </a:rPr>
                        <a:t>frames OUT (to computer)</a:t>
                      </a:r>
                    </a:p>
                  </a:txBody>
                  <a:tcPr marL="73152" marR="73152" marT="36576" marB="36576" anchor="ctr">
                    <a:solidFill>
                      <a:srgbClr val="FFFFFF"/>
                    </a:solidFill>
                  </a:tcPr>
                </a:tc>
                <a:tc>
                  <a:txBody>
                    <a:bodyPr wrap="square"/>
                    <a:lstStyle/>
                    <a:p>
                      <a:r>
                        <a:rPr sz="1400" b="0">
                          <a:solidFill>
                            <a:srgbClr val="0F2A33"/>
                          </a:solidFill>
                          <a:latin typeface="Calibri"/>
                        </a:rPr>
                        <a:t>m_axis_tdata[7:0], tvalid, tlast</a:t>
                      </a:r>
                    </a:p>
                  </a:txBody>
                  <a:tcPr marL="73152" marR="73152" marT="36576" marB="36576" anchor="ctr">
                    <a:solidFill>
                      <a:srgbClr val="FFFFFF"/>
                    </a:solidFill>
                  </a:tcPr>
                </a:tc>
                <a:tc>
                  <a:txBody>
                    <a:bodyPr wrap="square"/>
                    <a:lstStyle/>
                    <a:p>
                      <a:r>
                        <a:rPr sz="1400" b="0">
                          <a:solidFill>
                            <a:srgbClr val="0F2A33"/>
                          </a:solidFill>
                          <a:latin typeface="Calibri"/>
                        </a:rPr>
                        <a:t>only benign (or, in monitor/bypass, all) frames, byte-exact</a:t>
                      </a:r>
                    </a:p>
                  </a:txBody>
                  <a:tcPr marL="73152" marR="73152" marT="36576" marB="36576" anchor="ctr">
                    <a:solidFill>
                      <a:srgbClr val="FFFFFF"/>
                    </a:solidFill>
                  </a:tcPr>
                </a:tc>
              </a:tr>
              <a:tr h="457200">
                <a:tc>
                  <a:txBody>
                    <a:bodyPr wrap="square"/>
                    <a:lstStyle/>
                    <a:p>
                      <a:r>
                        <a:rPr sz="1400" b="1">
                          <a:solidFill>
                            <a:srgbClr val="0F2A33"/>
                          </a:solidFill>
                          <a:latin typeface="Calibri"/>
                        </a:rPr>
                        <a:t/>
                      </a:r>
                    </a:p>
                  </a:txBody>
                  <a:tcPr marL="73152" marR="73152" marT="36576" marB="36576" anchor="ctr">
                    <a:solidFill>
                      <a:srgbClr val="EAF2F3"/>
                    </a:solidFill>
                  </a:tcPr>
                </a:tc>
                <a:tc>
                  <a:txBody>
                    <a:bodyPr wrap="square"/>
                    <a:lstStyle/>
                    <a:p>
                      <a:r>
                        <a:rPr sz="1400" b="0">
                          <a:solidFill>
                            <a:srgbClr val="0F2A33"/>
                          </a:solidFill>
                          <a:latin typeface="Calibri"/>
                        </a:rPr>
                        <a:t>m_axis_tready</a:t>
                      </a:r>
                    </a:p>
                  </a:txBody>
                  <a:tcPr marL="73152" marR="73152" marT="36576" marB="36576" anchor="ctr">
                    <a:solidFill>
                      <a:srgbClr val="EAF2F3"/>
                    </a:solidFill>
                  </a:tcPr>
                </a:tc>
                <a:tc>
                  <a:txBody>
                    <a:bodyPr wrap="square"/>
                    <a:lstStyle/>
                    <a:p>
                      <a:r>
                        <a:rPr sz="1400" b="0">
                          <a:solidFill>
                            <a:srgbClr val="0F2A33"/>
                          </a:solidFill>
                          <a:latin typeface="Calibri"/>
                        </a:rPr>
                        <a:t>computer ready: random in T3–T5, T9, T10; constant 1 in T6–T8</a:t>
                      </a:r>
                    </a:p>
                  </a:txBody>
                  <a:tcPr marL="73152" marR="73152" marT="36576" marB="36576" anchor="ctr">
                    <a:solidFill>
                      <a:srgbClr val="EAF2F3"/>
                    </a:solidFill>
                  </a:tcPr>
                </a:tc>
              </a:tr>
              <a:tr h="457200">
                <a:tc>
                  <a:txBody>
                    <a:bodyPr wrap="square"/>
                    <a:lstStyle/>
                    <a:p>
                      <a:r>
                        <a:rPr sz="1400" b="1">
                          <a:solidFill>
                            <a:srgbClr val="0F2A33"/>
                          </a:solidFill>
                          <a:latin typeface="Calibri"/>
                        </a:rPr>
                        <a:t/>
                      </a:r>
                    </a:p>
                  </a:txBody>
                  <a:tcPr marL="73152" marR="73152" marT="36576" marB="36576" anchor="ctr">
                    <a:solidFill>
                      <a:srgbClr val="FFFFFF"/>
                    </a:solidFill>
                  </a:tcPr>
                </a:tc>
                <a:tc>
                  <a:txBody>
                    <a:bodyPr wrap="square"/>
                    <a:lstStyle/>
                    <a:p>
                      <a:r>
                        <a:rPr sz="1400" b="0">
                          <a:solidFill>
                            <a:srgbClr val="0F2A33"/>
                          </a:solidFill>
                          <a:latin typeface="Calibri"/>
                        </a:rPr>
                        <a:t>m_axis_tuser</a:t>
                      </a:r>
                    </a:p>
                  </a:txBody>
                  <a:tcPr marL="73152" marR="73152" marT="36576" marB="36576" anchor="ctr">
                    <a:solidFill>
                      <a:srgbClr val="FFFFFF"/>
                    </a:solidFill>
                  </a:tcPr>
                </a:tc>
                <a:tc>
                  <a:txBody>
                    <a:bodyPr wrap="square"/>
                    <a:lstStyle/>
                    <a:p>
                      <a:r>
                        <a:rPr sz="1400" b="0">
                          <a:solidFill>
                            <a:srgbClr val="0F2A33"/>
                          </a:solidFill>
                          <a:latin typeface="Calibri"/>
                        </a:rPr>
                        <a:t>always 0: damaged frames are never forwarded</a:t>
                      </a:r>
                    </a:p>
                  </a:txBody>
                  <a:tcPr marL="73152" marR="73152" marT="36576" marB="36576" anchor="ctr">
                    <a:solidFill>
                      <a:srgbClr val="FFFFFF"/>
                    </a:solidFill>
                  </a:tcPr>
                </a:tc>
              </a:tr>
              <a:tr h="457200">
                <a:tc>
                  <a:txBody>
                    <a:bodyPr wrap="square"/>
                    <a:lstStyle/>
                    <a:p>
                      <a:r>
                        <a:rPr sz="1400" b="1">
                          <a:solidFill>
                            <a:srgbClr val="0F2A33"/>
                          </a:solidFill>
                          <a:latin typeface="Calibri"/>
                        </a:rPr>
                        <a:t>verdict</a:t>
                      </a:r>
                    </a:p>
                  </a:txBody>
                  <a:tcPr marL="73152" marR="73152" marT="36576" marB="36576" anchor="ctr">
                    <a:solidFill>
                      <a:srgbClr val="EAF2F3"/>
                    </a:solidFill>
                  </a:tcPr>
                </a:tc>
                <a:tc>
                  <a:txBody>
                    <a:bodyPr wrap="square"/>
                    <a:lstStyle/>
                    <a:p>
                      <a:r>
                        <a:rPr sz="1400" b="0">
                          <a:solidFill>
                            <a:srgbClr val="0F2A33"/>
                          </a:solidFill>
                          <a:latin typeface="Calibri"/>
                        </a:rPr>
                        <a:t>verdict_valid, verdict_mal</a:t>
                      </a:r>
                    </a:p>
                  </a:txBody>
                  <a:tcPr marL="73152" marR="73152" marT="36576" marB="36576" anchor="ctr">
                    <a:solidFill>
                      <a:srgbClr val="EAF2F3"/>
                    </a:solidFill>
                  </a:tcPr>
                </a:tc>
                <a:tc>
                  <a:txBody>
                    <a:bodyPr wrap="square"/>
                    <a:lstStyle/>
                    <a:p>
                      <a:r>
                        <a:rPr sz="1400" b="0">
                          <a:solidFill>
                            <a:srgbClr val="0F2A33"/>
                          </a:solidFill>
                          <a:latin typeface="Calibri"/>
                        </a:rPr>
                        <a:t>one pulse per judged frame; verdict_mal = 1 if it was malicious</a:t>
                      </a:r>
                    </a:p>
                  </a:txBody>
                  <a:tcPr marL="73152" marR="73152" marT="36576" marB="36576" anchor="ctr">
                    <a:solidFill>
                      <a:srgbClr val="EAF2F3"/>
                    </a:solidFill>
                  </a:tcPr>
                </a:tc>
              </a:tr>
              <a:tr h="457200">
                <a:tc>
                  <a:txBody>
                    <a:bodyPr wrap="square"/>
                    <a:lstStyle/>
                    <a:p>
                      <a:r>
                        <a:rPr sz="1400" b="1">
                          <a:solidFill>
                            <a:srgbClr val="0F2A33"/>
                          </a:solidFill>
                          <a:latin typeface="Calibri"/>
                        </a:rPr>
                        <a:t>CPU config bus</a:t>
                      </a:r>
                    </a:p>
                  </a:txBody>
                  <a:tcPr marL="73152" marR="73152" marT="36576" marB="36576" anchor="ctr">
                    <a:solidFill>
                      <a:srgbClr val="FFFFFF"/>
                    </a:solidFill>
                  </a:tcPr>
                </a:tc>
                <a:tc>
                  <a:txBody>
                    <a:bodyPr wrap="square"/>
                    <a:lstStyle/>
                    <a:p>
                      <a:r>
                        <a:rPr sz="1400" b="0">
                          <a:solidFill>
                            <a:srgbClr val="0F2A33"/>
                          </a:solidFill>
                          <a:latin typeface="Calibri"/>
                        </a:rPr>
                        <a:t>cfg_wr, cfg_rd, cfg_addr, cfg_wdata, cfg_rdata</a:t>
                      </a:r>
                    </a:p>
                  </a:txBody>
                  <a:tcPr marL="73152" marR="73152" marT="36576" marB="36576" anchor="ctr">
                    <a:solidFill>
                      <a:srgbClr val="FFFFFF"/>
                    </a:solidFill>
                  </a:tcPr>
                </a:tc>
                <a:tc>
                  <a:txBody>
                    <a:bodyPr wrap="square"/>
                    <a:lstStyle/>
                    <a:p>
                      <a:r>
                        <a:rPr sz="1400" b="0">
                          <a:solidFill>
                            <a:srgbClr val="0F2A33"/>
                          </a:solidFill>
                          <a:latin typeface="Calibri"/>
                        </a:rPr>
                        <a:t>weights (0x100–0x1FF), thresholds (0x001–0x004), mode (0x000), counters (0x020–0x025)</a:t>
                      </a:r>
                    </a:p>
                  </a:txBody>
                  <a:tcPr marL="73152" marR="73152" marT="36576" marB="36576" anchor="ctr">
                    <a:solidFill>
                      <a:srgbClr val="FFFFFF"/>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02975" y="6400800"/>
            <a:ext cx="822960" cy="274320"/>
          </a:xfrm>
          <a:prstGeom prst="rect">
            <a:avLst/>
          </a:prstGeom>
          <a:noFill/>
        </p:spPr>
        <p:txBody>
          <a:bodyPr wrap="square" anchor="t" lIns="45720" rIns="45720">
            <a:spAutoFit/>
          </a:bodyPr>
          <a:lstStyle/>
          <a:p>
            <a:pPr algn="r">
              <a:spcAft>
                <a:spcPts val="400"/>
              </a:spcAft>
            </a:pPr>
            <a:r>
              <a:rPr sz="1100" b="0" i="0">
                <a:solidFill>
                  <a:srgbClr val="5F6F78"/>
                </a:solidFill>
                <a:latin typeface="Calibri"/>
              </a:rPr>
              <a:t>29</a:t>
            </a:r>
          </a:p>
        </p:txBody>
      </p:sp>
      <p:sp>
        <p:nvSpPr>
          <p:cNvPr id="3" name="TextBox 2"/>
          <p:cNvSpPr txBox="1"/>
          <p:nvPr/>
        </p:nvSpPr>
        <p:spPr>
          <a:xfrm>
            <a:off x="548640" y="6400800"/>
            <a:ext cx="7315200" cy="274320"/>
          </a:xfrm>
          <a:prstGeom prst="rect">
            <a:avLst/>
          </a:prstGeom>
          <a:noFill/>
        </p:spPr>
        <p:txBody>
          <a:bodyPr wrap="square" anchor="t" lIns="45720" rIns="45720">
            <a:spAutoFit/>
          </a:bodyPr>
          <a:lstStyle/>
          <a:p>
            <a:pPr algn="l">
              <a:spcAft>
                <a:spcPts val="400"/>
              </a:spcAft>
            </a:pPr>
            <a:r>
              <a:rPr sz="1100" b="0" i="0">
                <a:solidFill>
                  <a:srgbClr val="5F6F78"/>
                </a:solidFill>
                <a:latin typeface="Calibri"/>
              </a:rPr>
              <a:t>3  Verification</a:t>
            </a:r>
          </a:p>
        </p:txBody>
      </p:sp>
      <p:sp>
        <p:nvSpPr>
          <p:cNvPr id="4" name="Title"/>
          <p:cNvSpPr txBox="1"/>
          <p:nvPr/>
        </p:nvSpPr>
        <p:spPr>
          <a:xfrm>
            <a:off x="548640" y="320040"/>
            <a:ext cx="11064240" cy="777240"/>
          </a:xfrm>
          <a:prstGeom prst="rect">
            <a:avLst/>
          </a:prstGeom>
          <a:noFill/>
        </p:spPr>
        <p:txBody>
          <a:bodyPr wrap="square" anchor="ctr" lIns="45720" rIns="45720">
            <a:spAutoFit/>
          </a:bodyPr>
          <a:lstStyle/>
          <a:p>
            <a:pPr algn="l">
              <a:spcAft>
                <a:spcPts val="400"/>
              </a:spcAft>
            </a:pPr>
            <a:r>
              <a:rPr sz="3400" b="1" i="0">
                <a:solidFill>
                  <a:srgbClr val="0F2A33"/>
                </a:solidFill>
                <a:latin typeface="Cambria"/>
              </a:rPr>
              <a:t>Verification results</a:t>
            </a:r>
          </a:p>
        </p:txBody>
      </p:sp>
      <p:sp>
        <p:nvSpPr>
          <p:cNvPr id="5" name="Rounded Rectangle 4"/>
          <p:cNvSpPr/>
          <p:nvPr/>
        </p:nvSpPr>
        <p:spPr>
          <a:xfrm>
            <a:off x="548640" y="1554480"/>
            <a:ext cx="2651760" cy="237744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6" name="TextBox 5"/>
          <p:cNvSpPr txBox="1"/>
          <p:nvPr/>
        </p:nvSpPr>
        <p:spPr>
          <a:xfrm>
            <a:off x="548640" y="1783080"/>
            <a:ext cx="2651760" cy="1097280"/>
          </a:xfrm>
          <a:prstGeom prst="rect">
            <a:avLst/>
          </a:prstGeom>
          <a:noFill/>
        </p:spPr>
        <p:txBody>
          <a:bodyPr wrap="square" anchor="ctr" lIns="45720" rIns="45720">
            <a:spAutoFit/>
          </a:bodyPr>
          <a:lstStyle/>
          <a:p>
            <a:pPr algn="ctr">
              <a:spcAft>
                <a:spcPts val="400"/>
              </a:spcAft>
            </a:pPr>
            <a:r>
              <a:rPr sz="4400" b="1" i="0">
                <a:solidFill>
                  <a:srgbClr val="0F2A33"/>
                </a:solidFill>
                <a:latin typeface="Cambria"/>
              </a:rPr>
              <a:t>600 / 600</a:t>
            </a:r>
          </a:p>
        </p:txBody>
      </p:sp>
      <p:sp>
        <p:nvSpPr>
          <p:cNvPr id="7" name="TextBox 6"/>
          <p:cNvSpPr txBox="1"/>
          <p:nvPr/>
        </p:nvSpPr>
        <p:spPr>
          <a:xfrm>
            <a:off x="731520" y="2926080"/>
            <a:ext cx="2286000" cy="914400"/>
          </a:xfrm>
          <a:prstGeom prst="rect">
            <a:avLst/>
          </a:prstGeom>
          <a:noFill/>
        </p:spPr>
        <p:txBody>
          <a:bodyPr wrap="square" anchor="t" lIns="45720" rIns="45720">
            <a:spAutoFit/>
          </a:bodyPr>
          <a:lstStyle/>
          <a:p>
            <a:pPr algn="ctr">
              <a:spcAft>
                <a:spcPts val="400"/>
              </a:spcAft>
            </a:pPr>
            <a:r>
              <a:rPr sz="1500" b="0" i="0">
                <a:solidFill>
                  <a:srgbClr val="0F2A33"/>
                </a:solidFill>
                <a:latin typeface="Calibri"/>
              </a:rPr>
              <a:t>verdicts bit-exact with the Python model</a:t>
            </a:r>
          </a:p>
        </p:txBody>
      </p:sp>
      <p:sp>
        <p:nvSpPr>
          <p:cNvPr id="8" name="Rounded Rectangle 7"/>
          <p:cNvSpPr/>
          <p:nvPr/>
        </p:nvSpPr>
        <p:spPr>
          <a:xfrm>
            <a:off x="3383280" y="1554480"/>
            <a:ext cx="2651760" cy="237744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9" name="TextBox 8"/>
          <p:cNvSpPr txBox="1"/>
          <p:nvPr/>
        </p:nvSpPr>
        <p:spPr>
          <a:xfrm>
            <a:off x="3383280" y="1783080"/>
            <a:ext cx="2651760" cy="1097280"/>
          </a:xfrm>
          <a:prstGeom prst="rect">
            <a:avLst/>
          </a:prstGeom>
          <a:noFill/>
        </p:spPr>
        <p:txBody>
          <a:bodyPr wrap="square" anchor="ctr" lIns="45720" rIns="45720">
            <a:spAutoFit/>
          </a:bodyPr>
          <a:lstStyle/>
          <a:p>
            <a:pPr algn="ctr">
              <a:spcAft>
                <a:spcPts val="400"/>
              </a:spcAft>
            </a:pPr>
            <a:r>
              <a:rPr sz="4400" b="1" i="0">
                <a:solidFill>
                  <a:srgbClr val="1B998B"/>
                </a:solidFill>
                <a:latin typeface="Cambria"/>
              </a:rPr>
              <a:t>197 / 198</a:t>
            </a:r>
          </a:p>
        </p:txBody>
      </p:sp>
      <p:sp>
        <p:nvSpPr>
          <p:cNvPr id="10" name="TextBox 9"/>
          <p:cNvSpPr txBox="1"/>
          <p:nvPr/>
        </p:nvSpPr>
        <p:spPr>
          <a:xfrm>
            <a:off x="3566160" y="2926080"/>
            <a:ext cx="2286000" cy="914400"/>
          </a:xfrm>
          <a:prstGeom prst="rect">
            <a:avLst/>
          </a:prstGeom>
          <a:noFill/>
        </p:spPr>
        <p:txBody>
          <a:bodyPr wrap="square" anchor="t" lIns="45720" rIns="45720">
            <a:spAutoFit/>
          </a:bodyPr>
          <a:lstStyle/>
          <a:p>
            <a:pPr algn="ctr">
              <a:spcAft>
                <a:spcPts val="400"/>
              </a:spcAft>
            </a:pPr>
            <a:r>
              <a:rPr sz="1500" b="0" i="0">
                <a:solidFill>
                  <a:srgbClr val="0F2A33"/>
                </a:solidFill>
                <a:latin typeface="Calibri"/>
              </a:rPr>
              <a:t>attacks flagged (synthetic data)</a:t>
            </a:r>
          </a:p>
        </p:txBody>
      </p:sp>
      <p:sp>
        <p:nvSpPr>
          <p:cNvPr id="11" name="Rounded Rectangle 10"/>
          <p:cNvSpPr/>
          <p:nvPr/>
        </p:nvSpPr>
        <p:spPr>
          <a:xfrm>
            <a:off x="6217920" y="1554480"/>
            <a:ext cx="2651760" cy="237744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2" name="TextBox 11"/>
          <p:cNvSpPr txBox="1"/>
          <p:nvPr/>
        </p:nvSpPr>
        <p:spPr>
          <a:xfrm>
            <a:off x="6217920" y="1783080"/>
            <a:ext cx="2651760" cy="1097280"/>
          </a:xfrm>
          <a:prstGeom prst="rect">
            <a:avLst/>
          </a:prstGeom>
          <a:noFill/>
        </p:spPr>
        <p:txBody>
          <a:bodyPr wrap="square" anchor="ctr" lIns="45720" rIns="45720">
            <a:spAutoFit/>
          </a:bodyPr>
          <a:lstStyle/>
          <a:p>
            <a:pPr algn="ctr">
              <a:spcAft>
                <a:spcPts val="400"/>
              </a:spcAft>
            </a:pPr>
            <a:r>
              <a:rPr sz="4400" b="1" i="0">
                <a:solidFill>
                  <a:srgbClr val="1B998B"/>
                </a:solidFill>
                <a:latin typeface="Cambria"/>
              </a:rPr>
              <a:t>0</a:t>
            </a:r>
          </a:p>
        </p:txBody>
      </p:sp>
      <p:sp>
        <p:nvSpPr>
          <p:cNvPr id="13" name="TextBox 12"/>
          <p:cNvSpPr txBox="1"/>
          <p:nvPr/>
        </p:nvSpPr>
        <p:spPr>
          <a:xfrm>
            <a:off x="6400800" y="2926080"/>
            <a:ext cx="2286000" cy="914400"/>
          </a:xfrm>
          <a:prstGeom prst="rect">
            <a:avLst/>
          </a:prstGeom>
          <a:noFill/>
        </p:spPr>
        <p:txBody>
          <a:bodyPr wrap="square" anchor="t" lIns="45720" rIns="45720">
            <a:spAutoFit/>
          </a:bodyPr>
          <a:lstStyle/>
          <a:p>
            <a:pPr algn="ctr">
              <a:spcAft>
                <a:spcPts val="400"/>
              </a:spcAft>
            </a:pPr>
            <a:r>
              <a:rPr sz="1500" b="0" i="0">
                <a:solidFill>
                  <a:srgbClr val="0F2A33"/>
                </a:solidFill>
                <a:latin typeface="Calibri"/>
              </a:rPr>
              <a:t>false alarms on 402 normal frames</a:t>
            </a:r>
          </a:p>
        </p:txBody>
      </p:sp>
      <p:sp>
        <p:nvSpPr>
          <p:cNvPr id="14" name="Rounded Rectangle 13"/>
          <p:cNvSpPr/>
          <p:nvPr/>
        </p:nvSpPr>
        <p:spPr>
          <a:xfrm>
            <a:off x="9052560" y="1554480"/>
            <a:ext cx="2651760" cy="237744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5" name="TextBox 14"/>
          <p:cNvSpPr txBox="1"/>
          <p:nvPr/>
        </p:nvSpPr>
        <p:spPr>
          <a:xfrm>
            <a:off x="9052560" y="1783080"/>
            <a:ext cx="2651760" cy="1097280"/>
          </a:xfrm>
          <a:prstGeom prst="rect">
            <a:avLst/>
          </a:prstGeom>
          <a:noFill/>
        </p:spPr>
        <p:txBody>
          <a:bodyPr wrap="square" anchor="ctr" lIns="45720" rIns="45720">
            <a:spAutoFit/>
          </a:bodyPr>
          <a:lstStyle/>
          <a:p>
            <a:pPr algn="ctr">
              <a:spcAft>
                <a:spcPts val="400"/>
              </a:spcAft>
            </a:pPr>
            <a:r>
              <a:rPr sz="4400" b="1" i="0">
                <a:solidFill>
                  <a:srgbClr val="B5761A"/>
                </a:solidFill>
                <a:latin typeface="Cambria"/>
              </a:rPr>
              <a:t>10 / 10</a:t>
            </a:r>
          </a:p>
        </p:txBody>
      </p:sp>
      <p:sp>
        <p:nvSpPr>
          <p:cNvPr id="16" name="TextBox 15"/>
          <p:cNvSpPr txBox="1"/>
          <p:nvPr/>
        </p:nvSpPr>
        <p:spPr>
          <a:xfrm>
            <a:off x="9235440" y="2926080"/>
            <a:ext cx="2286000" cy="914400"/>
          </a:xfrm>
          <a:prstGeom prst="rect">
            <a:avLst/>
          </a:prstGeom>
          <a:noFill/>
        </p:spPr>
        <p:txBody>
          <a:bodyPr wrap="square" anchor="t" lIns="45720" rIns="45720">
            <a:spAutoFit/>
          </a:bodyPr>
          <a:lstStyle/>
          <a:p>
            <a:pPr algn="ctr">
              <a:spcAft>
                <a:spcPts val="400"/>
              </a:spcAft>
            </a:pPr>
            <a:r>
              <a:rPr sz="1500" b="0" i="0">
                <a:solidFill>
                  <a:srgbClr val="0F2A33"/>
                </a:solidFill>
                <a:latin typeface="Calibri"/>
              </a:rPr>
              <a:t>functional tests PASS in xrun</a:t>
            </a:r>
          </a:p>
        </p:txBody>
      </p:sp>
      <p:sp>
        <p:nvSpPr>
          <p:cNvPr id="17" name="TextBox 16"/>
          <p:cNvSpPr txBox="1"/>
          <p:nvPr/>
        </p:nvSpPr>
        <p:spPr>
          <a:xfrm>
            <a:off x="548640" y="4297680"/>
            <a:ext cx="11109960" cy="1828800"/>
          </a:xfrm>
          <a:prstGeom prst="rect">
            <a:avLst/>
          </a:prstGeom>
          <a:noFill/>
        </p:spPr>
        <p:txBody>
          <a:bodyPr wrap="square" lIns="45720" rIns="45720">
            <a:spAutoFit/>
          </a:bodyPr>
          <a:lstStyle/>
          <a:p>
            <a:pPr algn="l" marL="274320" indent="-219456">
              <a:spcAft>
                <a:spcPts val="800"/>
              </a:spcAft>
              <a:buClr>
                <a:srgbClr val="F2A541"/>
              </a:buClr>
              <a:buChar char="•"/>
            </a:pPr>
            <a:r>
              <a:rPr sz="1600" b="0" i="0">
                <a:solidFill>
                  <a:srgbClr val="0F2A33"/>
                </a:solidFill>
                <a:latin typeface="Calibri"/>
              </a:rPr>
              <a:t>Same 10 tests also pass on the synthesized gate-level netlist (sky130 cells), where real logic gates replace the RTL</a:t>
            </a:r>
          </a:p>
          <a:p>
            <a:pPr algn="l" marL="274320" indent="-219456">
              <a:spcAft>
                <a:spcPts val="800"/>
              </a:spcAft>
              <a:buClr>
                <a:srgbClr val="F2A541"/>
              </a:buClr>
              <a:buChar char="•"/>
            </a:pPr>
            <a:r>
              <a:rPr sz="1600" b="0" i="0">
                <a:solidFill>
                  <a:srgbClr val="0F2A33"/>
                </a:solidFill>
                <a:latin typeface="Calibri"/>
              </a:rPr>
              <a:t>12 regressions in total: MAC + firewall at the GMII pins, Tang Nano 9K (RTL + netlist + PC demo), Chameleon96 accelerator</a:t>
            </a:r>
          </a:p>
          <a:p>
            <a:pPr algn="l" marL="274320" indent="-219456">
              <a:spcAft>
                <a:spcPts val="800"/>
              </a:spcAft>
              <a:buClr>
                <a:srgbClr val="F2A541"/>
              </a:buClr>
              <a:buChar char="•"/>
            </a:pPr>
            <a:r>
              <a:rPr sz="1600" b="0" i="0">
                <a:solidFill>
                  <a:srgbClr val="0F2A33"/>
                </a:solidFill>
                <a:latin typeface="Calibri"/>
              </a:rPr>
              <a:t>On the Chameleon96 board: snn_test runs the same vectors through the real FPGA (C1–C10, docs/board_test_cv96.md)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F2A33"/>
        </a:solidFill>
        <a:effectLst/>
      </p:bgPr>
    </p:bg>
    <p:spTree>
      <p:nvGrpSpPr>
        <p:cNvPr id="1" name=""/>
        <p:cNvGrpSpPr/>
        <p:nvPr/>
      </p:nvGrpSpPr>
      <p:grpSpPr/>
      <p:sp>
        <p:nvSpPr>
          <p:cNvPr id="2" name="TextBox 1"/>
          <p:cNvSpPr txBox="1"/>
          <p:nvPr/>
        </p:nvSpPr>
        <p:spPr>
          <a:xfrm>
            <a:off x="11002975" y="6400800"/>
            <a:ext cx="822960" cy="274320"/>
          </a:xfrm>
          <a:prstGeom prst="rect">
            <a:avLst/>
          </a:prstGeom>
          <a:noFill/>
        </p:spPr>
        <p:txBody>
          <a:bodyPr wrap="square" anchor="t" lIns="45720" rIns="45720">
            <a:spAutoFit/>
          </a:bodyPr>
          <a:lstStyle/>
          <a:p>
            <a:pPr algn="r">
              <a:spcAft>
                <a:spcPts val="400"/>
              </a:spcAft>
            </a:pPr>
            <a:r>
              <a:rPr sz="1100" b="0" i="0">
                <a:solidFill>
                  <a:srgbClr val="9FB3BA"/>
                </a:solidFill>
                <a:latin typeface="Calibri"/>
              </a:rPr>
              <a:t>30</a:t>
            </a:r>
          </a:p>
        </p:txBody>
      </p:sp>
      <p:sp>
        <p:nvSpPr>
          <p:cNvPr id="3" name="Oval 2"/>
          <p:cNvSpPr/>
          <p:nvPr/>
        </p:nvSpPr>
        <p:spPr>
          <a:xfrm>
            <a:off x="548640" y="2148840"/>
            <a:ext cx="914400" cy="9144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3400" b="1" i="0">
                <a:solidFill>
                  <a:srgbClr val="0F2A33"/>
                </a:solidFill>
                <a:latin typeface="Calibri"/>
              </a:rPr>
              <a:t>4</a:t>
            </a:r>
          </a:p>
        </p:txBody>
      </p:sp>
      <p:sp>
        <p:nvSpPr>
          <p:cNvPr id="4" name="TextBox 3"/>
          <p:cNvSpPr txBox="1"/>
          <p:nvPr/>
        </p:nvSpPr>
        <p:spPr>
          <a:xfrm>
            <a:off x="1737360" y="2057400"/>
            <a:ext cx="9601200" cy="1097280"/>
          </a:xfrm>
          <a:prstGeom prst="rect">
            <a:avLst/>
          </a:prstGeom>
          <a:noFill/>
        </p:spPr>
        <p:txBody>
          <a:bodyPr wrap="square" anchor="ctr" lIns="45720" rIns="45720">
            <a:spAutoFit/>
          </a:bodyPr>
          <a:lstStyle/>
          <a:p>
            <a:pPr algn="l">
              <a:spcAft>
                <a:spcPts val="400"/>
              </a:spcAft>
            </a:pPr>
            <a:r>
              <a:rPr sz="4000" b="1" i="0">
                <a:solidFill>
                  <a:srgbClr val="FFFFFF"/>
                </a:solidFill>
                <a:latin typeface="Cambria"/>
              </a:rPr>
              <a:t>Area, power, performance</a:t>
            </a:r>
          </a:p>
        </p:txBody>
      </p:sp>
      <p:sp>
        <p:nvSpPr>
          <p:cNvPr id="5" name="TextBox 4"/>
          <p:cNvSpPr txBox="1"/>
          <p:nvPr/>
        </p:nvSpPr>
        <p:spPr>
          <a:xfrm>
            <a:off x="1737360" y="3200400"/>
            <a:ext cx="9144000" cy="1280160"/>
          </a:xfrm>
          <a:prstGeom prst="rect">
            <a:avLst/>
          </a:prstGeom>
          <a:noFill/>
        </p:spPr>
        <p:txBody>
          <a:bodyPr wrap="square" anchor="t" lIns="45720" rIns="45720">
            <a:spAutoFit/>
          </a:bodyPr>
          <a:lstStyle/>
          <a:p>
            <a:pPr algn="l">
              <a:spcAft>
                <a:spcPts val="400"/>
              </a:spcAft>
            </a:pPr>
            <a:r>
              <a:rPr sz="1800" b="0" i="0">
                <a:solidFill>
                  <a:srgbClr val="B9CBD0"/>
                </a:solidFill>
                <a:latin typeface="Calibri"/>
              </a:rPr>
              <a:t>Measured numbers: sky130 layout (OpenROAD), FPGA fits (Quartus, nextpnr), and how an SNN compares.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02975" y="6400800"/>
            <a:ext cx="822960" cy="274320"/>
          </a:xfrm>
          <a:prstGeom prst="rect">
            <a:avLst/>
          </a:prstGeom>
          <a:noFill/>
        </p:spPr>
        <p:txBody>
          <a:bodyPr wrap="square" anchor="t" lIns="45720" rIns="45720">
            <a:spAutoFit/>
          </a:bodyPr>
          <a:lstStyle/>
          <a:p>
            <a:pPr algn="r">
              <a:spcAft>
                <a:spcPts val="400"/>
              </a:spcAft>
            </a:pPr>
            <a:r>
              <a:rPr sz="1100" b="0" i="0">
                <a:solidFill>
                  <a:srgbClr val="5F6F78"/>
                </a:solidFill>
                <a:latin typeface="Calibri"/>
              </a:rPr>
              <a:t>31</a:t>
            </a:r>
          </a:p>
        </p:txBody>
      </p:sp>
      <p:sp>
        <p:nvSpPr>
          <p:cNvPr id="3" name="TextBox 2"/>
          <p:cNvSpPr txBox="1"/>
          <p:nvPr/>
        </p:nvSpPr>
        <p:spPr>
          <a:xfrm>
            <a:off x="548640" y="6400800"/>
            <a:ext cx="7315200" cy="274320"/>
          </a:xfrm>
          <a:prstGeom prst="rect">
            <a:avLst/>
          </a:prstGeom>
          <a:noFill/>
        </p:spPr>
        <p:txBody>
          <a:bodyPr wrap="square" anchor="t" lIns="45720" rIns="45720">
            <a:spAutoFit/>
          </a:bodyPr>
          <a:lstStyle/>
          <a:p>
            <a:pPr algn="l">
              <a:spcAft>
                <a:spcPts val="400"/>
              </a:spcAft>
            </a:pPr>
            <a:r>
              <a:rPr sz="1100" b="0" i="0">
                <a:solidFill>
                  <a:srgbClr val="5F6F78"/>
                </a:solidFill>
                <a:latin typeface="Calibri"/>
              </a:rPr>
              <a:t>4  Area, power, performance</a:t>
            </a:r>
          </a:p>
        </p:txBody>
      </p:sp>
      <p:sp>
        <p:nvSpPr>
          <p:cNvPr id="4" name="Title"/>
          <p:cNvSpPr txBox="1"/>
          <p:nvPr/>
        </p:nvSpPr>
        <p:spPr>
          <a:xfrm>
            <a:off x="548640" y="320040"/>
            <a:ext cx="11064240" cy="777240"/>
          </a:xfrm>
          <a:prstGeom prst="rect">
            <a:avLst/>
          </a:prstGeom>
          <a:noFill/>
        </p:spPr>
        <p:txBody>
          <a:bodyPr wrap="square" anchor="ctr" lIns="45720" rIns="45720">
            <a:spAutoFit/>
          </a:bodyPr>
          <a:lstStyle/>
          <a:p>
            <a:pPr algn="l">
              <a:spcAft>
                <a:spcPts val="400"/>
              </a:spcAft>
            </a:pPr>
            <a:r>
              <a:rPr sz="3400" b="1" i="0">
                <a:solidFill>
                  <a:srgbClr val="0F2A33"/>
                </a:solidFill>
                <a:latin typeface="Cambria"/>
              </a:rPr>
              <a:t>Headline numbers</a:t>
            </a:r>
          </a:p>
        </p:txBody>
      </p:sp>
      <p:sp>
        <p:nvSpPr>
          <p:cNvPr id="5" name="Subtitle"/>
          <p:cNvSpPr txBox="1"/>
          <p:nvPr/>
        </p:nvSpPr>
        <p:spPr>
          <a:xfrm>
            <a:off x="548640" y="1051560"/>
            <a:ext cx="11064240" cy="411480"/>
          </a:xfrm>
          <a:prstGeom prst="rect">
            <a:avLst/>
          </a:prstGeom>
          <a:noFill/>
        </p:spPr>
        <p:txBody>
          <a:bodyPr wrap="square" anchor="t" lIns="45720" rIns="45720">
            <a:spAutoFit/>
          </a:bodyPr>
          <a:lstStyle/>
          <a:p>
            <a:pPr algn="l">
              <a:spcAft>
                <a:spcPts val="400"/>
              </a:spcAft>
            </a:pPr>
            <a:r>
              <a:rPr sz="1600" b="0" i="1">
                <a:solidFill>
                  <a:srgbClr val="5F6F78"/>
                </a:solidFill>
                <a:latin typeface="Calibri"/>
              </a:rPr>
              <a:t>snn_classifier placed and routed on SkyWater 130 nm (LibreLane / OpenROAD)</a:t>
            </a:r>
          </a:p>
        </p:txBody>
      </p:sp>
      <p:sp>
        <p:nvSpPr>
          <p:cNvPr id="6" name="Rounded Rectangle 5"/>
          <p:cNvSpPr/>
          <p:nvPr/>
        </p:nvSpPr>
        <p:spPr>
          <a:xfrm>
            <a:off x="548640" y="1691640"/>
            <a:ext cx="3566160" cy="201168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 name="TextBox 6"/>
          <p:cNvSpPr txBox="1"/>
          <p:nvPr/>
        </p:nvSpPr>
        <p:spPr>
          <a:xfrm>
            <a:off x="548640" y="1874520"/>
            <a:ext cx="3566160" cy="914400"/>
          </a:xfrm>
          <a:prstGeom prst="rect">
            <a:avLst/>
          </a:prstGeom>
          <a:noFill/>
        </p:spPr>
        <p:txBody>
          <a:bodyPr wrap="square" anchor="ctr" lIns="45720" rIns="45720">
            <a:spAutoFit/>
          </a:bodyPr>
          <a:lstStyle/>
          <a:p>
            <a:pPr algn="ctr">
              <a:spcAft>
                <a:spcPts val="400"/>
              </a:spcAft>
            </a:pPr>
            <a:r>
              <a:rPr sz="4000" b="1" i="0">
                <a:solidFill>
                  <a:srgbClr val="0F2A33"/>
                </a:solidFill>
                <a:latin typeface="Cambria"/>
              </a:rPr>
              <a:t>1.28 mm²</a:t>
            </a:r>
          </a:p>
        </p:txBody>
      </p:sp>
      <p:sp>
        <p:nvSpPr>
          <p:cNvPr id="8" name="TextBox 7"/>
          <p:cNvSpPr txBox="1"/>
          <p:nvPr/>
        </p:nvSpPr>
        <p:spPr>
          <a:xfrm>
            <a:off x="731520" y="2834640"/>
            <a:ext cx="3200400" cy="731520"/>
          </a:xfrm>
          <a:prstGeom prst="rect">
            <a:avLst/>
          </a:prstGeom>
          <a:noFill/>
        </p:spPr>
        <p:txBody>
          <a:bodyPr wrap="square" anchor="t" lIns="45720" rIns="45720">
            <a:spAutoFit/>
          </a:bodyPr>
          <a:lstStyle/>
          <a:p>
            <a:pPr algn="ctr">
              <a:spcAft>
                <a:spcPts val="400"/>
              </a:spcAft>
            </a:pPr>
            <a:r>
              <a:rPr sz="1500" b="0" i="0">
                <a:solidFill>
                  <a:srgbClr val="0F2A33"/>
                </a:solidFill>
                <a:latin typeface="Calibri"/>
              </a:rPr>
              <a:t>die (1.13 × 1.14 mm), 72,032 cells</a:t>
            </a:r>
          </a:p>
        </p:txBody>
      </p:sp>
      <p:sp>
        <p:nvSpPr>
          <p:cNvPr id="9" name="Rounded Rectangle 8"/>
          <p:cNvSpPr/>
          <p:nvPr/>
        </p:nvSpPr>
        <p:spPr>
          <a:xfrm>
            <a:off x="4297679" y="1691640"/>
            <a:ext cx="3566160" cy="201168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0" name="TextBox 9"/>
          <p:cNvSpPr txBox="1"/>
          <p:nvPr/>
        </p:nvSpPr>
        <p:spPr>
          <a:xfrm>
            <a:off x="4297679" y="1874520"/>
            <a:ext cx="3566160" cy="914400"/>
          </a:xfrm>
          <a:prstGeom prst="rect">
            <a:avLst/>
          </a:prstGeom>
          <a:noFill/>
        </p:spPr>
        <p:txBody>
          <a:bodyPr wrap="square" anchor="ctr" lIns="45720" rIns="45720">
            <a:spAutoFit/>
          </a:bodyPr>
          <a:lstStyle/>
          <a:p>
            <a:pPr algn="ctr">
              <a:spcAft>
                <a:spcPts val="400"/>
              </a:spcAft>
            </a:pPr>
            <a:r>
              <a:rPr sz="4000" b="1" i="0">
                <a:solidFill>
                  <a:srgbClr val="7A5C99"/>
                </a:solidFill>
                <a:latin typeface="Cambria"/>
              </a:rPr>
              <a:t>125 mW</a:t>
            </a:r>
          </a:p>
        </p:txBody>
      </p:sp>
      <p:sp>
        <p:nvSpPr>
          <p:cNvPr id="11" name="TextBox 10"/>
          <p:cNvSpPr txBox="1"/>
          <p:nvPr/>
        </p:nvSpPr>
        <p:spPr>
          <a:xfrm>
            <a:off x="4480559" y="2834640"/>
            <a:ext cx="3200400" cy="731520"/>
          </a:xfrm>
          <a:prstGeom prst="rect">
            <a:avLst/>
          </a:prstGeom>
          <a:noFill/>
        </p:spPr>
        <p:txBody>
          <a:bodyPr wrap="square" anchor="t" lIns="45720" rIns="45720">
            <a:spAutoFit/>
          </a:bodyPr>
          <a:lstStyle/>
          <a:p>
            <a:pPr algn="ctr">
              <a:spcAft>
                <a:spcPts val="400"/>
              </a:spcAft>
            </a:pPr>
            <a:r>
              <a:rPr sz="1500" b="0" i="0">
                <a:solidFill>
                  <a:srgbClr val="0F2A33"/>
                </a:solidFill>
                <a:latin typeface="Calibri"/>
              </a:rPr>
              <a:t>at 100 MHz, typical corner (vectorless estimate)</a:t>
            </a:r>
          </a:p>
        </p:txBody>
      </p:sp>
      <p:sp>
        <p:nvSpPr>
          <p:cNvPr id="12" name="Rounded Rectangle 11"/>
          <p:cNvSpPr/>
          <p:nvPr/>
        </p:nvSpPr>
        <p:spPr>
          <a:xfrm>
            <a:off x="8046719" y="1691640"/>
            <a:ext cx="3566160" cy="201168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3" name="TextBox 12"/>
          <p:cNvSpPr txBox="1"/>
          <p:nvPr/>
        </p:nvSpPr>
        <p:spPr>
          <a:xfrm>
            <a:off x="8046719" y="1874520"/>
            <a:ext cx="3566160" cy="914400"/>
          </a:xfrm>
          <a:prstGeom prst="rect">
            <a:avLst/>
          </a:prstGeom>
          <a:noFill/>
        </p:spPr>
        <p:txBody>
          <a:bodyPr wrap="square" anchor="ctr" lIns="45720" rIns="45720">
            <a:spAutoFit/>
          </a:bodyPr>
          <a:lstStyle/>
          <a:p>
            <a:pPr algn="ctr">
              <a:spcAft>
                <a:spcPts val="400"/>
              </a:spcAft>
            </a:pPr>
            <a:r>
              <a:rPr sz="4000" b="1" i="0">
                <a:solidFill>
                  <a:srgbClr val="2E86AB"/>
                </a:solidFill>
                <a:latin typeface="Cambria"/>
              </a:rPr>
              <a:t>≈ 99 MHz</a:t>
            </a:r>
          </a:p>
        </p:txBody>
      </p:sp>
      <p:sp>
        <p:nvSpPr>
          <p:cNvPr id="14" name="TextBox 13"/>
          <p:cNvSpPr txBox="1"/>
          <p:nvPr/>
        </p:nvSpPr>
        <p:spPr>
          <a:xfrm>
            <a:off x="8229599" y="2834640"/>
            <a:ext cx="3200400" cy="731520"/>
          </a:xfrm>
          <a:prstGeom prst="rect">
            <a:avLst/>
          </a:prstGeom>
          <a:noFill/>
        </p:spPr>
        <p:txBody>
          <a:bodyPr wrap="square" anchor="t" lIns="45720" rIns="45720">
            <a:spAutoFit/>
          </a:bodyPr>
          <a:lstStyle/>
          <a:p>
            <a:pPr algn="ctr">
              <a:spcAft>
                <a:spcPts val="400"/>
              </a:spcAft>
            </a:pPr>
            <a:r>
              <a:rPr sz="1500" b="0" i="0">
                <a:solidFill>
                  <a:srgbClr val="0F2A33"/>
                </a:solidFill>
                <a:latin typeface="Calibri"/>
              </a:rPr>
              <a:t>typical corner (136 fast, 51 slow)</a:t>
            </a:r>
          </a:p>
        </p:txBody>
      </p:sp>
      <p:sp>
        <p:nvSpPr>
          <p:cNvPr id="15" name="Rounded Rectangle 14"/>
          <p:cNvSpPr/>
          <p:nvPr/>
        </p:nvSpPr>
        <p:spPr>
          <a:xfrm>
            <a:off x="548640" y="3931920"/>
            <a:ext cx="3566160" cy="201168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6" name="TextBox 15"/>
          <p:cNvSpPr txBox="1"/>
          <p:nvPr/>
        </p:nvSpPr>
        <p:spPr>
          <a:xfrm>
            <a:off x="548640" y="4114800"/>
            <a:ext cx="3566160" cy="914400"/>
          </a:xfrm>
          <a:prstGeom prst="rect">
            <a:avLst/>
          </a:prstGeom>
          <a:noFill/>
        </p:spPr>
        <p:txBody>
          <a:bodyPr wrap="square" anchor="ctr" lIns="45720" rIns="45720">
            <a:spAutoFit/>
          </a:bodyPr>
          <a:lstStyle/>
          <a:p>
            <a:pPr algn="ctr">
              <a:spcAft>
                <a:spcPts val="400"/>
              </a:spcAft>
            </a:pPr>
            <a:r>
              <a:rPr sz="4000" b="1" i="0">
                <a:solidFill>
                  <a:srgbClr val="1B998B"/>
                </a:solidFill>
                <a:latin typeface="Cambria"/>
              </a:rPr>
              <a:t>28</a:t>
            </a:r>
          </a:p>
        </p:txBody>
      </p:sp>
      <p:sp>
        <p:nvSpPr>
          <p:cNvPr id="17" name="TextBox 16"/>
          <p:cNvSpPr txBox="1"/>
          <p:nvPr/>
        </p:nvSpPr>
        <p:spPr>
          <a:xfrm>
            <a:off x="731520" y="5074920"/>
            <a:ext cx="3200400" cy="731520"/>
          </a:xfrm>
          <a:prstGeom prst="rect">
            <a:avLst/>
          </a:prstGeom>
          <a:noFill/>
        </p:spPr>
        <p:txBody>
          <a:bodyPr wrap="square" anchor="t" lIns="45720" rIns="45720">
            <a:spAutoFit/>
          </a:bodyPr>
          <a:lstStyle/>
          <a:p>
            <a:pPr algn="ctr">
              <a:spcAft>
                <a:spcPts val="400"/>
              </a:spcAft>
            </a:pPr>
            <a:r>
              <a:rPr sz="1500" b="0" i="0">
                <a:solidFill>
                  <a:srgbClr val="0F2A33"/>
                </a:solidFill>
                <a:latin typeface="Calibri"/>
              </a:rPr>
              <a:t>clock cycles per decision</a:t>
            </a:r>
          </a:p>
        </p:txBody>
      </p:sp>
      <p:sp>
        <p:nvSpPr>
          <p:cNvPr id="18" name="Rounded Rectangle 17"/>
          <p:cNvSpPr/>
          <p:nvPr/>
        </p:nvSpPr>
        <p:spPr>
          <a:xfrm>
            <a:off x="4297679" y="3931920"/>
            <a:ext cx="3566160" cy="201168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9" name="TextBox 18"/>
          <p:cNvSpPr txBox="1"/>
          <p:nvPr/>
        </p:nvSpPr>
        <p:spPr>
          <a:xfrm>
            <a:off x="4297679" y="4114800"/>
            <a:ext cx="3566160" cy="914400"/>
          </a:xfrm>
          <a:prstGeom prst="rect">
            <a:avLst/>
          </a:prstGeom>
          <a:noFill/>
        </p:spPr>
        <p:txBody>
          <a:bodyPr wrap="square" anchor="ctr" lIns="45720" rIns="45720">
            <a:spAutoFit/>
          </a:bodyPr>
          <a:lstStyle/>
          <a:p>
            <a:pPr algn="ctr">
              <a:spcAft>
                <a:spcPts val="400"/>
              </a:spcAft>
            </a:pPr>
            <a:r>
              <a:rPr sz="4000" b="1" i="0">
                <a:solidFill>
                  <a:srgbClr val="B5761A"/>
                </a:solidFill>
                <a:latin typeface="Cambria"/>
              </a:rPr>
              <a:t>0</a:t>
            </a:r>
          </a:p>
        </p:txBody>
      </p:sp>
      <p:sp>
        <p:nvSpPr>
          <p:cNvPr id="20" name="TextBox 19"/>
          <p:cNvSpPr txBox="1"/>
          <p:nvPr/>
        </p:nvSpPr>
        <p:spPr>
          <a:xfrm>
            <a:off x="4480559" y="5074920"/>
            <a:ext cx="3200400" cy="731520"/>
          </a:xfrm>
          <a:prstGeom prst="rect">
            <a:avLst/>
          </a:prstGeom>
          <a:noFill/>
        </p:spPr>
        <p:txBody>
          <a:bodyPr wrap="square" anchor="t" lIns="45720" rIns="45720">
            <a:spAutoFit/>
          </a:bodyPr>
          <a:lstStyle/>
          <a:p>
            <a:pPr algn="ctr">
              <a:spcAft>
                <a:spcPts val="400"/>
              </a:spcAft>
            </a:pPr>
            <a:r>
              <a:rPr sz="1500" b="0" i="0">
                <a:solidFill>
                  <a:srgbClr val="0F2A33"/>
                </a:solidFill>
                <a:latin typeface="Calibri"/>
              </a:rPr>
              <a:t>multipliers / DSP blocks</a:t>
            </a:r>
          </a:p>
        </p:txBody>
      </p:sp>
      <p:sp>
        <p:nvSpPr>
          <p:cNvPr id="21" name="Rounded Rectangle 20"/>
          <p:cNvSpPr/>
          <p:nvPr/>
        </p:nvSpPr>
        <p:spPr>
          <a:xfrm>
            <a:off x="8046719" y="3931920"/>
            <a:ext cx="3566160" cy="201168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2" name="TextBox 21"/>
          <p:cNvSpPr txBox="1"/>
          <p:nvPr/>
        </p:nvSpPr>
        <p:spPr>
          <a:xfrm>
            <a:off x="8046719" y="4114800"/>
            <a:ext cx="3566160" cy="914400"/>
          </a:xfrm>
          <a:prstGeom prst="rect">
            <a:avLst/>
          </a:prstGeom>
          <a:noFill/>
        </p:spPr>
        <p:txBody>
          <a:bodyPr wrap="square" anchor="ctr" lIns="45720" rIns="45720">
            <a:spAutoFit/>
          </a:bodyPr>
          <a:lstStyle/>
          <a:p>
            <a:pPr algn="ctr">
              <a:spcAft>
                <a:spcPts val="400"/>
              </a:spcAft>
            </a:pPr>
            <a:r>
              <a:rPr sz="4000" b="1" i="0">
                <a:solidFill>
                  <a:srgbClr val="1B998B"/>
                </a:solidFill>
                <a:latin typeface="Cambria"/>
              </a:rPr>
              <a:t>0 / 0</a:t>
            </a:r>
          </a:p>
        </p:txBody>
      </p:sp>
      <p:sp>
        <p:nvSpPr>
          <p:cNvPr id="23" name="TextBox 22"/>
          <p:cNvSpPr txBox="1"/>
          <p:nvPr/>
        </p:nvSpPr>
        <p:spPr>
          <a:xfrm>
            <a:off x="8229599" y="5074920"/>
            <a:ext cx="3200400" cy="731520"/>
          </a:xfrm>
          <a:prstGeom prst="rect">
            <a:avLst/>
          </a:prstGeom>
          <a:noFill/>
        </p:spPr>
        <p:txBody>
          <a:bodyPr wrap="square" anchor="t" lIns="45720" rIns="45720">
            <a:spAutoFit/>
          </a:bodyPr>
          <a:lstStyle/>
          <a:p>
            <a:pPr algn="ctr">
              <a:spcAft>
                <a:spcPts val="400"/>
              </a:spcAft>
            </a:pPr>
            <a:r>
              <a:rPr sz="1500" b="0" i="0">
                <a:solidFill>
                  <a:srgbClr val="0F2A33"/>
                </a:solidFill>
                <a:latin typeface="Calibri"/>
              </a:rPr>
              <a:t>DRC / LVS errors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02975" y="6400800"/>
            <a:ext cx="822960" cy="274320"/>
          </a:xfrm>
          <a:prstGeom prst="rect">
            <a:avLst/>
          </a:prstGeom>
          <a:noFill/>
        </p:spPr>
        <p:txBody>
          <a:bodyPr wrap="square" anchor="t" lIns="45720" rIns="45720">
            <a:spAutoFit/>
          </a:bodyPr>
          <a:lstStyle/>
          <a:p>
            <a:pPr algn="r">
              <a:spcAft>
                <a:spcPts val="400"/>
              </a:spcAft>
            </a:pPr>
            <a:r>
              <a:rPr sz="1100" b="0" i="0">
                <a:solidFill>
                  <a:srgbClr val="5F6F78"/>
                </a:solidFill>
                <a:latin typeface="Calibri"/>
              </a:rPr>
              <a:t>32</a:t>
            </a:r>
          </a:p>
        </p:txBody>
      </p:sp>
      <p:sp>
        <p:nvSpPr>
          <p:cNvPr id="3" name="TextBox 2"/>
          <p:cNvSpPr txBox="1"/>
          <p:nvPr/>
        </p:nvSpPr>
        <p:spPr>
          <a:xfrm>
            <a:off x="548640" y="6400800"/>
            <a:ext cx="7315200" cy="274320"/>
          </a:xfrm>
          <a:prstGeom prst="rect">
            <a:avLst/>
          </a:prstGeom>
          <a:noFill/>
        </p:spPr>
        <p:txBody>
          <a:bodyPr wrap="square" anchor="t" lIns="45720" rIns="45720">
            <a:spAutoFit/>
          </a:bodyPr>
          <a:lstStyle/>
          <a:p>
            <a:pPr algn="l">
              <a:spcAft>
                <a:spcPts val="400"/>
              </a:spcAft>
            </a:pPr>
            <a:r>
              <a:rPr sz="1100" b="0" i="0">
                <a:solidFill>
                  <a:srgbClr val="5F6F78"/>
                </a:solidFill>
                <a:latin typeface="Calibri"/>
              </a:rPr>
              <a:t>4  Area, power, performance</a:t>
            </a:r>
          </a:p>
        </p:txBody>
      </p:sp>
      <p:sp>
        <p:nvSpPr>
          <p:cNvPr id="4" name="Title"/>
          <p:cNvSpPr txBox="1"/>
          <p:nvPr/>
        </p:nvSpPr>
        <p:spPr>
          <a:xfrm>
            <a:off x="548640" y="320040"/>
            <a:ext cx="11064240" cy="777240"/>
          </a:xfrm>
          <a:prstGeom prst="rect">
            <a:avLst/>
          </a:prstGeom>
          <a:noFill/>
        </p:spPr>
        <p:txBody>
          <a:bodyPr wrap="square" anchor="ctr" lIns="45720" rIns="45720">
            <a:spAutoFit/>
          </a:bodyPr>
          <a:lstStyle/>
          <a:p>
            <a:pPr algn="l">
              <a:spcAft>
                <a:spcPts val="400"/>
              </a:spcAft>
            </a:pPr>
            <a:r>
              <a:rPr sz="3400" b="1" i="0">
                <a:solidFill>
                  <a:srgbClr val="0F2A33"/>
                </a:solidFill>
                <a:latin typeface="Cambria"/>
              </a:rPr>
              <a:t>Where the area goes</a:t>
            </a:r>
          </a:p>
        </p:txBody>
      </p:sp>
      <p:sp>
        <p:nvSpPr>
          <p:cNvPr id="5" name="Subtitle"/>
          <p:cNvSpPr txBox="1"/>
          <p:nvPr/>
        </p:nvSpPr>
        <p:spPr>
          <a:xfrm>
            <a:off x="548640" y="1051560"/>
            <a:ext cx="11064240" cy="411480"/>
          </a:xfrm>
          <a:prstGeom prst="rect">
            <a:avLst/>
          </a:prstGeom>
          <a:noFill/>
        </p:spPr>
        <p:txBody>
          <a:bodyPr wrap="square" anchor="t" lIns="45720" rIns="45720">
            <a:spAutoFit/>
          </a:bodyPr>
          <a:lstStyle/>
          <a:p>
            <a:pPr algn="l">
              <a:spcAft>
                <a:spcPts val="400"/>
              </a:spcAft>
            </a:pPr>
            <a:r>
              <a:rPr sz="1600" b="0" i="1">
                <a:solidFill>
                  <a:srgbClr val="5F6F78"/>
                </a:solidFill>
                <a:latin typeface="Calibri"/>
              </a:rPr>
              <a:t>full chip snn_pkt_filter_asic, sky130 synthesis, 1.16 mm²</a:t>
            </a:r>
          </a:p>
        </p:txBody>
      </p:sp>
      <p:graphicFrame>
        <p:nvGraphicFramePr>
          <p:cNvPr id="6" name="Chart 5"/>
          <p:cNvGraphicFramePr>
            <a:graphicFrameLocks noGrp="1"/>
          </p:cNvGraphicFramePr>
          <p:nvPr/>
        </p:nvGraphicFramePr>
        <p:xfrm>
          <a:off x="365760" y="1325880"/>
          <a:ext cx="6400800" cy="4846320"/>
        </p:xfrm>
        <a:graphic>
          <a:graphicData uri="http://schemas.openxmlformats.org/drawingml/2006/chart">
            <c:chart xmlns:c="http://schemas.openxmlformats.org/drawingml/2006/chart" r:id="rId3"/>
          </a:graphicData>
        </a:graphic>
      </p:graphicFrame>
      <p:sp>
        <p:nvSpPr>
          <p:cNvPr id="7" name="Rounded Rectangle 6"/>
          <p:cNvSpPr/>
          <p:nvPr/>
        </p:nvSpPr>
        <p:spPr>
          <a:xfrm>
            <a:off x="7132320" y="1463040"/>
            <a:ext cx="4526280" cy="146304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 name="TextBox 7"/>
          <p:cNvSpPr txBox="1"/>
          <p:nvPr/>
        </p:nvSpPr>
        <p:spPr>
          <a:xfrm>
            <a:off x="7315200" y="1554480"/>
            <a:ext cx="2011680" cy="1280160"/>
          </a:xfrm>
          <a:prstGeom prst="rect">
            <a:avLst/>
          </a:prstGeom>
          <a:noFill/>
        </p:spPr>
        <p:txBody>
          <a:bodyPr wrap="square" anchor="ctr" lIns="45720" rIns="45720">
            <a:spAutoFit/>
          </a:bodyPr>
          <a:lstStyle/>
          <a:p>
            <a:pPr algn="l">
              <a:spcAft>
                <a:spcPts val="400"/>
              </a:spcAft>
            </a:pPr>
            <a:r>
              <a:rPr sz="4800" b="1" i="0">
                <a:solidFill>
                  <a:srgbClr val="0F2A33"/>
                </a:solidFill>
                <a:latin typeface="Cambria"/>
              </a:rPr>
              <a:t>74 %</a:t>
            </a:r>
          </a:p>
        </p:txBody>
      </p:sp>
      <p:sp>
        <p:nvSpPr>
          <p:cNvPr id="9" name="TextBox 8"/>
          <p:cNvSpPr txBox="1"/>
          <p:nvPr/>
        </p:nvSpPr>
        <p:spPr>
          <a:xfrm>
            <a:off x="9144000" y="1600200"/>
            <a:ext cx="2423160" cy="1234440"/>
          </a:xfrm>
          <a:prstGeom prst="rect">
            <a:avLst/>
          </a:prstGeom>
          <a:noFill/>
        </p:spPr>
        <p:txBody>
          <a:bodyPr wrap="square" anchor="ctr" lIns="45720" rIns="45720">
            <a:spAutoFit/>
          </a:bodyPr>
          <a:lstStyle/>
          <a:p>
            <a:pPr algn="l">
              <a:spcAft>
                <a:spcPts val="400"/>
              </a:spcAft>
            </a:pPr>
            <a:r>
              <a:rPr sz="1500" b="0" i="0">
                <a:solidFill>
                  <a:srgbClr val="0F2A33"/>
                </a:solidFill>
                <a:latin typeface="Calibri"/>
              </a:rPr>
              <a:t>sequential (flip-flops); 26 % combinational logic</a:t>
            </a:r>
          </a:p>
        </p:txBody>
      </p:sp>
      <p:sp>
        <p:nvSpPr>
          <p:cNvPr id="10" name="Rounded Rectangle 9"/>
          <p:cNvSpPr/>
          <p:nvPr/>
        </p:nvSpPr>
        <p:spPr>
          <a:xfrm>
            <a:off x="7132320" y="3108960"/>
            <a:ext cx="4526280" cy="146304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1" name="TextBox 10"/>
          <p:cNvSpPr txBox="1"/>
          <p:nvPr/>
        </p:nvSpPr>
        <p:spPr>
          <a:xfrm>
            <a:off x="7315200" y="3200400"/>
            <a:ext cx="2011680" cy="1280160"/>
          </a:xfrm>
          <a:prstGeom prst="rect">
            <a:avLst/>
          </a:prstGeom>
          <a:noFill/>
        </p:spPr>
        <p:txBody>
          <a:bodyPr wrap="square" anchor="ctr" lIns="45720" rIns="45720">
            <a:spAutoFit/>
          </a:bodyPr>
          <a:lstStyle/>
          <a:p>
            <a:pPr algn="l">
              <a:spcAft>
                <a:spcPts val="400"/>
              </a:spcAft>
            </a:pPr>
            <a:r>
              <a:rPr sz="4800" b="1" i="0">
                <a:solidFill>
                  <a:srgbClr val="2E86AB"/>
                </a:solidFill>
                <a:latin typeface="Cambria"/>
              </a:rPr>
              <a:t>91 %</a:t>
            </a:r>
          </a:p>
        </p:txBody>
      </p:sp>
      <p:sp>
        <p:nvSpPr>
          <p:cNvPr id="12" name="TextBox 11"/>
          <p:cNvSpPr txBox="1"/>
          <p:nvPr/>
        </p:nvSpPr>
        <p:spPr>
          <a:xfrm>
            <a:off x="9144000" y="3246120"/>
            <a:ext cx="2423160" cy="1234440"/>
          </a:xfrm>
          <a:prstGeom prst="rect">
            <a:avLst/>
          </a:prstGeom>
          <a:noFill/>
        </p:spPr>
        <p:txBody>
          <a:bodyPr wrap="square" anchor="ctr" lIns="45720" rIns="45720">
            <a:spAutoFit/>
          </a:bodyPr>
          <a:lstStyle/>
          <a:p>
            <a:pPr algn="l">
              <a:spcAft>
                <a:spcPts val="400"/>
              </a:spcAft>
            </a:pPr>
            <a:r>
              <a:rPr sz="1500" b="0" i="0">
                <a:solidFill>
                  <a:srgbClr val="0F2A33"/>
                </a:solidFill>
                <a:latin typeface="Calibri"/>
              </a:rPr>
              <a:t>of all flip-flops are memory (buffer 18,432 + weights 8,192)</a:t>
            </a:r>
          </a:p>
        </p:txBody>
      </p:sp>
      <p:sp>
        <p:nvSpPr>
          <p:cNvPr id="13" name="Rounded Rectangle 12"/>
          <p:cNvSpPr/>
          <p:nvPr/>
        </p:nvSpPr>
        <p:spPr>
          <a:xfrm>
            <a:off x="7132320" y="4754880"/>
            <a:ext cx="4526280" cy="146304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4" name="TextBox 13"/>
          <p:cNvSpPr txBox="1"/>
          <p:nvPr/>
        </p:nvSpPr>
        <p:spPr>
          <a:xfrm>
            <a:off x="7315200" y="4846320"/>
            <a:ext cx="2011680" cy="1280160"/>
          </a:xfrm>
          <a:prstGeom prst="rect">
            <a:avLst/>
          </a:prstGeom>
          <a:noFill/>
        </p:spPr>
        <p:txBody>
          <a:bodyPr wrap="square" anchor="ctr" lIns="45720" rIns="45720">
            <a:spAutoFit/>
          </a:bodyPr>
          <a:lstStyle/>
          <a:p>
            <a:pPr algn="l">
              <a:spcAft>
                <a:spcPts val="400"/>
              </a:spcAft>
            </a:pPr>
            <a:r>
              <a:rPr sz="4800" b="1" i="0">
                <a:solidFill>
                  <a:srgbClr val="7A5C99"/>
                </a:solidFill>
                <a:latin typeface="Cambria"/>
              </a:rPr>
              <a:t>3 %</a:t>
            </a:r>
          </a:p>
        </p:txBody>
      </p:sp>
      <p:sp>
        <p:nvSpPr>
          <p:cNvPr id="15" name="TextBox 14"/>
          <p:cNvSpPr txBox="1"/>
          <p:nvPr/>
        </p:nvSpPr>
        <p:spPr>
          <a:xfrm>
            <a:off x="9144000" y="4892040"/>
            <a:ext cx="2423160" cy="1234440"/>
          </a:xfrm>
          <a:prstGeom prst="rect">
            <a:avLst/>
          </a:prstGeom>
          <a:noFill/>
        </p:spPr>
        <p:txBody>
          <a:bodyPr wrap="square" anchor="ctr" lIns="45720" rIns="45720">
            <a:spAutoFit/>
          </a:bodyPr>
          <a:lstStyle/>
          <a:p>
            <a:pPr algn="l">
              <a:spcAft>
                <a:spcPts val="400"/>
              </a:spcAft>
            </a:pPr>
            <a:r>
              <a:rPr sz="1500" b="0" i="0">
                <a:solidFill>
                  <a:srgbClr val="0F2A33"/>
                </a:solidFill>
                <a:latin typeface="Calibri"/>
              </a:rPr>
              <a:t>are the SNN's own neuron state (~990 flip-flops)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02975" y="6400800"/>
            <a:ext cx="822960" cy="274320"/>
          </a:xfrm>
          <a:prstGeom prst="rect">
            <a:avLst/>
          </a:prstGeom>
          <a:noFill/>
        </p:spPr>
        <p:txBody>
          <a:bodyPr wrap="square" anchor="t" lIns="45720" rIns="45720">
            <a:spAutoFit/>
          </a:bodyPr>
          <a:lstStyle/>
          <a:p>
            <a:pPr algn="r">
              <a:spcAft>
                <a:spcPts val="400"/>
              </a:spcAft>
            </a:pPr>
            <a:r>
              <a:rPr sz="1100" b="0" i="0">
                <a:solidFill>
                  <a:srgbClr val="5F6F78"/>
                </a:solidFill>
                <a:latin typeface="Calibri"/>
              </a:rPr>
              <a:t>33</a:t>
            </a:r>
          </a:p>
        </p:txBody>
      </p:sp>
      <p:sp>
        <p:nvSpPr>
          <p:cNvPr id="3" name="TextBox 2"/>
          <p:cNvSpPr txBox="1"/>
          <p:nvPr/>
        </p:nvSpPr>
        <p:spPr>
          <a:xfrm>
            <a:off x="548640" y="6400800"/>
            <a:ext cx="7315200" cy="274320"/>
          </a:xfrm>
          <a:prstGeom prst="rect">
            <a:avLst/>
          </a:prstGeom>
          <a:noFill/>
        </p:spPr>
        <p:txBody>
          <a:bodyPr wrap="square" anchor="t" lIns="45720" rIns="45720">
            <a:spAutoFit/>
          </a:bodyPr>
          <a:lstStyle/>
          <a:p>
            <a:pPr algn="l">
              <a:spcAft>
                <a:spcPts val="400"/>
              </a:spcAft>
            </a:pPr>
            <a:r>
              <a:rPr sz="1100" b="0" i="0">
                <a:solidFill>
                  <a:srgbClr val="5F6F78"/>
                </a:solidFill>
                <a:latin typeface="Calibri"/>
              </a:rPr>
              <a:t>4  Area, power, performance</a:t>
            </a:r>
          </a:p>
        </p:txBody>
      </p:sp>
      <p:sp>
        <p:nvSpPr>
          <p:cNvPr id="4" name="Title"/>
          <p:cNvSpPr txBox="1"/>
          <p:nvPr/>
        </p:nvSpPr>
        <p:spPr>
          <a:xfrm>
            <a:off x="548640" y="320040"/>
            <a:ext cx="11064240" cy="777240"/>
          </a:xfrm>
          <a:prstGeom prst="rect">
            <a:avLst/>
          </a:prstGeom>
          <a:noFill/>
        </p:spPr>
        <p:txBody>
          <a:bodyPr wrap="square" anchor="ctr" lIns="45720" rIns="45720">
            <a:spAutoFit/>
          </a:bodyPr>
          <a:lstStyle/>
          <a:p>
            <a:pPr algn="l">
              <a:spcAft>
                <a:spcPts val="400"/>
              </a:spcAft>
            </a:pPr>
            <a:r>
              <a:rPr sz="3400" b="1" i="0">
                <a:solidFill>
                  <a:srgbClr val="0F2A33"/>
                </a:solidFill>
                <a:latin typeface="Cambria"/>
              </a:rPr>
              <a:t>The real layout: every cell coloured by type</a:t>
            </a:r>
          </a:p>
        </p:txBody>
      </p:sp>
      <p:pic>
        <p:nvPicPr>
          <p:cNvPr id="5" name="Picture 4" descr="Placement map of snn_classifier on sky130: blue flip-flops, orange combinational logic, grey buffers"/>
          <p:cNvPicPr>
            <a:picLocks noChangeAspect="1"/>
          </p:cNvPicPr>
          <p:nvPr/>
        </p:nvPicPr>
        <p:blipFill>
          <a:blip r:embed="rId3"/>
          <a:stretch>
            <a:fillRect/>
          </a:stretch>
        </p:blipFill>
        <p:spPr>
          <a:xfrm>
            <a:off x="548640" y="1234440"/>
            <a:ext cx="4582510" cy="4983480"/>
          </a:xfrm>
          <a:prstGeom prst="rect">
            <a:avLst/>
          </a:prstGeom>
        </p:spPr>
      </p:pic>
      <p:sp>
        <p:nvSpPr>
          <p:cNvPr id="6" name="Rounded Rectangle 5"/>
          <p:cNvSpPr/>
          <p:nvPr/>
        </p:nvSpPr>
        <p:spPr>
          <a:xfrm>
            <a:off x="5486400" y="1325880"/>
            <a:ext cx="6172200" cy="484632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 name="TextBox 6"/>
          <p:cNvSpPr txBox="1"/>
          <p:nvPr/>
        </p:nvSpPr>
        <p:spPr>
          <a:xfrm>
            <a:off x="5715000" y="1508760"/>
            <a:ext cx="5760720" cy="502920"/>
          </a:xfrm>
          <a:prstGeom prst="rect">
            <a:avLst/>
          </a:prstGeom>
          <a:noFill/>
        </p:spPr>
        <p:txBody>
          <a:bodyPr wrap="square" anchor="ctr" lIns="45720" rIns="45720">
            <a:spAutoFit/>
          </a:bodyPr>
          <a:lstStyle/>
          <a:p>
            <a:pPr algn="l">
              <a:spcAft>
                <a:spcPts val="400"/>
              </a:spcAft>
            </a:pPr>
            <a:r>
              <a:rPr sz="1700" b="1" i="0">
                <a:solidFill>
                  <a:srgbClr val="0F2A33"/>
                </a:solidFill>
                <a:latin typeface="Calibri"/>
              </a:rPr>
              <a:t>snn_classifier after place and route</a:t>
            </a:r>
          </a:p>
        </p:txBody>
      </p:sp>
      <p:sp>
        <p:nvSpPr>
          <p:cNvPr id="8" name="TextBox 7"/>
          <p:cNvSpPr txBox="1"/>
          <p:nvPr/>
        </p:nvSpPr>
        <p:spPr>
          <a:xfrm>
            <a:off x="5715000" y="2103120"/>
            <a:ext cx="5760720" cy="3931920"/>
          </a:xfrm>
          <a:prstGeom prst="rect">
            <a:avLst/>
          </a:prstGeom>
          <a:noFill/>
        </p:spPr>
        <p:txBody>
          <a:bodyPr wrap="square" anchor="t" lIns="45720" rIns="45720">
            <a:spAutoFit/>
          </a:bodyPr>
          <a:lstStyle/>
          <a:p>
            <a:pPr algn="l">
              <a:spcAft>
                <a:spcPts val="400"/>
              </a:spcAft>
            </a:pPr>
            <a:r>
              <a:rPr sz="1500" b="1" i="0">
                <a:solidFill>
                  <a:srgbClr val="2E86AB"/>
                </a:solidFill>
                <a:latin typeface="Calibri"/>
              </a:rPr>
              <a:t>30.9 %</a:t>
            </a:r>
            <a:r>
              <a:rPr sz="1500" b="0" i="0">
                <a:solidFill>
                  <a:srgbClr val="0F2A33"/>
                </a:solidFill>
                <a:latin typeface="Calibri"/>
              </a:rPr>
              <a:t>  flip-flops (10,256 cells)</a:t>
            </a:r>
          </a:p>
          <a:p>
            <a:pPr algn="l">
              <a:spcAft>
                <a:spcPts val="400"/>
              </a:spcAft>
            </a:pPr>
            <a:r>
              <a:rPr sz="1500" b="1" i="0">
                <a:solidFill>
                  <a:srgbClr val="B5761A"/>
                </a:solidFill>
                <a:latin typeface="Calibri"/>
              </a:rPr>
              <a:t>39.8 %</a:t>
            </a:r>
            <a:r>
              <a:rPr sz="1500" b="0" i="0">
                <a:solidFill>
                  <a:srgbClr val="0F2A33"/>
                </a:solidFill>
                <a:latin typeface="Calibri"/>
              </a:rPr>
              <a:t>  combinational logic (25,447)</a:t>
            </a:r>
          </a:p>
          <a:p>
            <a:pPr algn="l">
              <a:spcAft>
                <a:spcPts val="400"/>
              </a:spcAft>
            </a:pPr>
            <a:r>
              <a:rPr sz="1500" b="1" i="0">
                <a:solidFill>
                  <a:srgbClr val="5F6F78"/>
                </a:solidFill>
                <a:latin typeface="Calibri"/>
              </a:rPr>
              <a:t>22.6 %</a:t>
            </a:r>
            <a:r>
              <a:rPr sz="1500" b="0" i="0">
                <a:solidFill>
                  <a:srgbClr val="0F2A33"/>
                </a:solidFill>
                <a:latin typeface="Calibri"/>
              </a:rPr>
              <a:t>  timing-repair buffers (16,704, of them 9,494 hold buffers)</a:t>
            </a:r>
          </a:p>
          <a:p>
            <a:pPr algn="l">
              <a:spcAft>
                <a:spcPts val="400"/>
              </a:spcAft>
            </a:pPr>
            <a:r>
              <a:rPr sz="1500" b="1" i="0">
                <a:solidFill>
                  <a:srgbClr val="D1495B"/>
                </a:solidFill>
                <a:latin typeface="Calibri"/>
              </a:rPr>
              <a:t>3.5 %</a:t>
            </a:r>
            <a:r>
              <a:rPr sz="1500" b="0" i="0">
                <a:solidFill>
                  <a:srgbClr val="0F2A33"/>
                </a:solidFill>
                <a:latin typeface="Calibri"/>
              </a:rPr>
              <a:t>  clock tree (1,748)</a:t>
            </a:r>
          </a:p>
          <a:p>
            <a:pPr algn="l">
              <a:spcAft>
                <a:spcPts val="400"/>
              </a:spcAft>
            </a:pPr>
            <a:r>
              <a:rPr sz="1500" b="1" i="0">
                <a:solidFill>
                  <a:srgbClr val="0F2A33"/>
                </a:solidFill>
                <a:latin typeface="Calibri"/>
              </a:rPr>
              <a:t>3.2 %</a:t>
            </a:r>
            <a:r>
              <a:rPr sz="1500" b="0" i="0">
                <a:solidFill>
                  <a:srgbClr val="0F2A33"/>
                </a:solidFill>
                <a:latin typeface="Calibri"/>
              </a:rPr>
              <a:t>  tap and antenna cells</a:t>
            </a:r>
          </a:p>
          <a:p>
            <a:pPr algn="l">
              <a:spcAft>
                <a:spcPts val="400"/>
              </a:spcAft>
            </a:pPr>
            <a:r>
              <a:rPr sz="1500" b="0" i="0">
                <a:solidFill>
                  <a:srgbClr val="0F2A33"/>
                </a:solidFill>
                <a:latin typeface="Calibri"/>
              </a:rPr>
              <a:t/>
            </a:r>
          </a:p>
          <a:p>
            <a:pPr algn="l">
              <a:spcAft>
                <a:spcPts val="400"/>
              </a:spcAft>
            </a:pPr>
            <a:r>
              <a:rPr sz="1500" b="0" i="0">
                <a:solidFill>
                  <a:srgbClr val="0F2A33"/>
                </a:solidFill>
                <a:latin typeface="Calibri"/>
              </a:rPr>
              <a:t>Why so many hold buffers? 10,256 flip-flops on one clock give up to 1 ns clock skew; the tool adds small delays to keep data from racing ahead. Replacing the weight flip-flops by SRAM removes most of them.</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02975" y="6400800"/>
            <a:ext cx="822960" cy="274320"/>
          </a:xfrm>
          <a:prstGeom prst="rect">
            <a:avLst/>
          </a:prstGeom>
          <a:noFill/>
        </p:spPr>
        <p:txBody>
          <a:bodyPr wrap="square" anchor="t" lIns="45720" rIns="45720">
            <a:spAutoFit/>
          </a:bodyPr>
          <a:lstStyle/>
          <a:p>
            <a:pPr algn="r">
              <a:spcAft>
                <a:spcPts val="400"/>
              </a:spcAft>
            </a:pPr>
            <a:r>
              <a:rPr sz="1100" b="0" i="0">
                <a:solidFill>
                  <a:srgbClr val="5F6F78"/>
                </a:solidFill>
                <a:latin typeface="Calibri"/>
              </a:rPr>
              <a:t>34</a:t>
            </a:r>
          </a:p>
        </p:txBody>
      </p:sp>
      <p:sp>
        <p:nvSpPr>
          <p:cNvPr id="3" name="TextBox 2"/>
          <p:cNvSpPr txBox="1"/>
          <p:nvPr/>
        </p:nvSpPr>
        <p:spPr>
          <a:xfrm>
            <a:off x="548640" y="6400800"/>
            <a:ext cx="7315200" cy="274320"/>
          </a:xfrm>
          <a:prstGeom prst="rect">
            <a:avLst/>
          </a:prstGeom>
          <a:noFill/>
        </p:spPr>
        <p:txBody>
          <a:bodyPr wrap="square" anchor="t" lIns="45720" rIns="45720">
            <a:spAutoFit/>
          </a:bodyPr>
          <a:lstStyle/>
          <a:p>
            <a:pPr algn="l">
              <a:spcAft>
                <a:spcPts val="400"/>
              </a:spcAft>
            </a:pPr>
            <a:r>
              <a:rPr sz="1100" b="0" i="0">
                <a:solidFill>
                  <a:srgbClr val="5F6F78"/>
                </a:solidFill>
                <a:latin typeface="Calibri"/>
              </a:rPr>
              <a:t>4  Area, power, performance</a:t>
            </a:r>
          </a:p>
        </p:txBody>
      </p:sp>
      <p:sp>
        <p:nvSpPr>
          <p:cNvPr id="4" name="Title"/>
          <p:cNvSpPr txBox="1"/>
          <p:nvPr/>
        </p:nvSpPr>
        <p:spPr>
          <a:xfrm>
            <a:off x="548640" y="320040"/>
            <a:ext cx="11064240" cy="777240"/>
          </a:xfrm>
          <a:prstGeom prst="rect">
            <a:avLst/>
          </a:prstGeom>
          <a:noFill/>
        </p:spPr>
        <p:txBody>
          <a:bodyPr wrap="square" anchor="ctr" lIns="45720" rIns="45720">
            <a:spAutoFit/>
          </a:bodyPr>
          <a:lstStyle/>
          <a:p>
            <a:pPr algn="l">
              <a:spcAft>
                <a:spcPts val="400"/>
              </a:spcAft>
            </a:pPr>
            <a:r>
              <a:rPr sz="3400" b="1" i="0">
                <a:solidFill>
                  <a:srgbClr val="0F2A33"/>
                </a:solidFill>
                <a:latin typeface="Cambria"/>
              </a:rPr>
              <a:t>All implementations compared</a:t>
            </a:r>
          </a:p>
        </p:txBody>
      </p:sp>
      <p:graphicFrame>
        <p:nvGraphicFramePr>
          <p:cNvPr id="5" name="Table 4"/>
          <p:cNvGraphicFramePr>
            <a:graphicFrameLocks noGrp="1"/>
          </p:cNvGraphicFramePr>
          <p:nvPr/>
        </p:nvGraphicFramePr>
        <p:xfrm>
          <a:off x="548640" y="1371600"/>
          <a:ext cx="11109960" cy="3968496"/>
        </p:xfrm>
        <a:graphic>
          <a:graphicData uri="http://schemas.openxmlformats.org/drawingml/2006/table">
            <a:tbl>
              <a:tblPr firstRow="1" bandRow="1">
                <a:tableStyleId>{5C22544A-7EE6-4342-B048-85BDC9FD1C3A}</a:tableStyleId>
              </a:tblPr>
              <a:tblGrid>
                <a:gridCol w="2377440"/>
                <a:gridCol w="2103120"/>
                <a:gridCol w="3017520"/>
                <a:gridCol w="2011680"/>
                <a:gridCol w="1600200"/>
              </a:tblGrid>
              <a:tr h="566928">
                <a:tc>
                  <a:txBody>
                    <a:bodyPr wrap="square"/>
                    <a:lstStyle/>
                    <a:p>
                      <a:r>
                        <a:rPr sz="1400" b="1">
                          <a:solidFill>
                            <a:srgbClr val="FFFFFF"/>
                          </a:solidFill>
                          <a:latin typeface="Calibri"/>
                        </a:rPr>
                        <a:t>target</a:t>
                      </a:r>
                    </a:p>
                  </a:txBody>
                  <a:tcPr marL="73152" marR="73152" marT="36576" marB="36576" anchor="ctr">
                    <a:solidFill>
                      <a:srgbClr val="1B4D5C"/>
                    </a:solidFill>
                  </a:tcPr>
                </a:tc>
                <a:tc>
                  <a:txBody>
                    <a:bodyPr wrap="square"/>
                    <a:lstStyle/>
                    <a:p>
                      <a:r>
                        <a:rPr sz="1400" b="1">
                          <a:solidFill>
                            <a:srgbClr val="FFFFFF"/>
                          </a:solidFill>
                          <a:latin typeface="Calibri"/>
                        </a:rPr>
                        <a:t>block</a:t>
                      </a:r>
                    </a:p>
                  </a:txBody>
                  <a:tcPr marL="73152" marR="73152" marT="36576" marB="36576" anchor="ctr">
                    <a:solidFill>
                      <a:srgbClr val="1B4D5C"/>
                    </a:solidFill>
                  </a:tcPr>
                </a:tc>
                <a:tc>
                  <a:txBody>
                    <a:bodyPr wrap="square"/>
                    <a:lstStyle/>
                    <a:p>
                      <a:r>
                        <a:rPr sz="1400" b="1">
                          <a:solidFill>
                            <a:srgbClr val="FFFFFF"/>
                          </a:solidFill>
                          <a:latin typeface="Calibri"/>
                        </a:rPr>
                        <a:t>area / resources</a:t>
                      </a:r>
                    </a:p>
                  </a:txBody>
                  <a:tcPr marL="73152" marR="73152" marT="36576" marB="36576" anchor="ctr">
                    <a:solidFill>
                      <a:srgbClr val="1B4D5C"/>
                    </a:solidFill>
                  </a:tcPr>
                </a:tc>
                <a:tc>
                  <a:txBody>
                    <a:bodyPr wrap="square"/>
                    <a:lstStyle/>
                    <a:p>
                      <a:r>
                        <a:rPr sz="1400" b="1">
                          <a:solidFill>
                            <a:srgbClr val="FFFFFF"/>
                          </a:solidFill>
                          <a:latin typeface="Calibri"/>
                        </a:rPr>
                        <a:t>clock</a:t>
                      </a:r>
                    </a:p>
                  </a:txBody>
                  <a:tcPr marL="73152" marR="73152" marT="36576" marB="36576" anchor="ctr">
                    <a:solidFill>
                      <a:srgbClr val="1B4D5C"/>
                    </a:solidFill>
                  </a:tcPr>
                </a:tc>
                <a:tc>
                  <a:txBody>
                    <a:bodyPr wrap="square"/>
                    <a:lstStyle/>
                    <a:p>
                      <a:r>
                        <a:rPr sz="1400" b="1">
                          <a:solidFill>
                            <a:srgbClr val="FFFFFF"/>
                          </a:solidFill>
                          <a:latin typeface="Calibri"/>
                        </a:rPr>
                        <a:t>power</a:t>
                      </a:r>
                    </a:p>
                  </a:txBody>
                  <a:tcPr marL="73152" marR="73152" marT="36576" marB="36576" anchor="ctr">
                    <a:solidFill>
                      <a:srgbClr val="1B4D5C"/>
                    </a:solidFill>
                  </a:tcPr>
                </a:tc>
              </a:tr>
              <a:tr h="566928">
                <a:tc>
                  <a:txBody>
                    <a:bodyPr wrap="square"/>
                    <a:lstStyle/>
                    <a:p>
                      <a:r>
                        <a:rPr sz="1400" b="1">
                          <a:solidFill>
                            <a:srgbClr val="0F2A33"/>
                          </a:solidFill>
                          <a:latin typeface="Calibri"/>
                        </a:rPr>
                        <a:t>sky130, placed &amp; routed</a:t>
                      </a:r>
                    </a:p>
                  </a:txBody>
                  <a:tcPr marL="73152" marR="73152" marT="36576" marB="36576" anchor="ctr">
                    <a:solidFill>
                      <a:srgbClr val="FFFFFF"/>
                    </a:solidFill>
                  </a:tcPr>
                </a:tc>
                <a:tc>
                  <a:txBody>
                    <a:bodyPr wrap="square"/>
                    <a:lstStyle/>
                    <a:p>
                      <a:r>
                        <a:rPr sz="1400" b="0">
                          <a:solidFill>
                            <a:srgbClr val="0F2A33"/>
                          </a:solidFill>
                          <a:latin typeface="Calibri"/>
                        </a:rPr>
                        <a:t>snn_classifier</a:t>
                      </a:r>
                    </a:p>
                  </a:txBody>
                  <a:tcPr marL="73152" marR="73152" marT="36576" marB="36576" anchor="ctr">
                    <a:solidFill>
                      <a:srgbClr val="FFFFFF"/>
                    </a:solidFill>
                  </a:tcPr>
                </a:tc>
                <a:tc>
                  <a:txBody>
                    <a:bodyPr wrap="square"/>
                    <a:lstStyle/>
                    <a:p>
                      <a:r>
                        <a:rPr sz="1400" b="0">
                          <a:solidFill>
                            <a:srgbClr val="0F2A33"/>
                          </a:solidFill>
                          <a:latin typeface="Calibri"/>
                        </a:rPr>
                        <a:t>1.28 mm² die, 72,032 cells</a:t>
                      </a:r>
                    </a:p>
                  </a:txBody>
                  <a:tcPr marL="73152" marR="73152" marT="36576" marB="36576" anchor="ctr">
                    <a:solidFill>
                      <a:srgbClr val="FFFFFF"/>
                    </a:solidFill>
                  </a:tcPr>
                </a:tc>
                <a:tc>
                  <a:txBody>
                    <a:bodyPr wrap="square"/>
                    <a:lstStyle/>
                    <a:p>
                      <a:r>
                        <a:rPr sz="1400" b="0">
                          <a:solidFill>
                            <a:srgbClr val="0F2A33"/>
                          </a:solidFill>
                          <a:latin typeface="Calibri"/>
                        </a:rPr>
                        <a:t>≈ 99 MHz (tt)</a:t>
                      </a:r>
                    </a:p>
                  </a:txBody>
                  <a:tcPr marL="73152" marR="73152" marT="36576" marB="36576" anchor="ctr">
                    <a:solidFill>
                      <a:srgbClr val="FFFFFF"/>
                    </a:solidFill>
                  </a:tcPr>
                </a:tc>
                <a:tc>
                  <a:txBody>
                    <a:bodyPr wrap="square"/>
                    <a:lstStyle/>
                    <a:p>
                      <a:r>
                        <a:rPr sz="1400" b="0">
                          <a:solidFill>
                            <a:srgbClr val="0F2A33"/>
                          </a:solidFill>
                          <a:latin typeface="Calibri"/>
                        </a:rPr>
                        <a:t>125 mW</a:t>
                      </a:r>
                    </a:p>
                  </a:txBody>
                  <a:tcPr marL="73152" marR="73152" marT="36576" marB="36576" anchor="ctr">
                    <a:solidFill>
                      <a:srgbClr val="FFFFFF"/>
                    </a:solidFill>
                  </a:tcPr>
                </a:tc>
              </a:tr>
              <a:tr h="566928">
                <a:tc>
                  <a:txBody>
                    <a:bodyPr wrap="square"/>
                    <a:lstStyle/>
                    <a:p>
                      <a:r>
                        <a:rPr sz="1400" b="1">
                          <a:solidFill>
                            <a:srgbClr val="0F2A33"/>
                          </a:solidFill>
                          <a:latin typeface="Calibri"/>
                        </a:rPr>
                        <a:t>sky130, synthesis</a:t>
                      </a:r>
                    </a:p>
                  </a:txBody>
                  <a:tcPr marL="73152" marR="73152" marT="36576" marB="36576" anchor="ctr">
                    <a:solidFill>
                      <a:srgbClr val="EAF2F3"/>
                    </a:solidFill>
                  </a:tcPr>
                </a:tc>
                <a:tc>
                  <a:txBody>
                    <a:bodyPr wrap="square"/>
                    <a:lstStyle/>
                    <a:p>
                      <a:r>
                        <a:rPr sz="1400" b="0">
                          <a:solidFill>
                            <a:srgbClr val="0F2A33"/>
                          </a:solidFill>
                          <a:latin typeface="Calibri"/>
                        </a:rPr>
                        <a:t>full chip</a:t>
                      </a:r>
                    </a:p>
                  </a:txBody>
                  <a:tcPr marL="73152" marR="73152" marT="36576" marB="36576" anchor="ctr">
                    <a:solidFill>
                      <a:srgbClr val="EAF2F3"/>
                    </a:solidFill>
                  </a:tcPr>
                </a:tc>
                <a:tc>
                  <a:txBody>
                    <a:bodyPr wrap="square"/>
                    <a:lstStyle/>
                    <a:p>
                      <a:r>
                        <a:rPr sz="1400" b="0">
                          <a:solidFill>
                            <a:srgbClr val="0F2A33"/>
                          </a:solidFill>
                          <a:latin typeface="Calibri"/>
                        </a:rPr>
                        <a:t>1.16 mm², 71,120 cells</a:t>
                      </a:r>
                    </a:p>
                  </a:txBody>
                  <a:tcPr marL="73152" marR="73152" marT="36576" marB="36576" anchor="ctr">
                    <a:solidFill>
                      <a:srgbClr val="EAF2F3"/>
                    </a:solidFill>
                  </a:tcPr>
                </a:tc>
                <a:tc>
                  <a:txBody>
                    <a:bodyPr wrap="square"/>
                    <a:lstStyle/>
                    <a:p>
                      <a:r>
                        <a:rPr sz="1400" b="0">
                          <a:solidFill>
                            <a:srgbClr val="0F2A33"/>
                          </a:solidFill>
                          <a:latin typeface="Calibri"/>
                        </a:rPr>
                        <a:t>n/a</a:t>
                      </a:r>
                    </a:p>
                  </a:txBody>
                  <a:tcPr marL="73152" marR="73152" marT="36576" marB="36576" anchor="ctr">
                    <a:solidFill>
                      <a:srgbClr val="EAF2F3"/>
                    </a:solidFill>
                  </a:tcPr>
                </a:tc>
                <a:tc>
                  <a:txBody>
                    <a:bodyPr wrap="square"/>
                    <a:lstStyle/>
                    <a:p>
                      <a:r>
                        <a:rPr sz="1400" b="0">
                          <a:solidFill>
                            <a:srgbClr val="0F2A33"/>
                          </a:solidFill>
                          <a:latin typeface="Calibri"/>
                        </a:rPr>
                        <a:t>n/a</a:t>
                      </a:r>
                    </a:p>
                  </a:txBody>
                  <a:tcPr marL="73152" marR="73152" marT="36576" marB="36576" anchor="ctr">
                    <a:solidFill>
                      <a:srgbClr val="EAF2F3"/>
                    </a:solidFill>
                  </a:tcPr>
                </a:tc>
              </a:tr>
              <a:tr h="566928">
                <a:tc>
                  <a:txBody>
                    <a:bodyPr wrap="square"/>
                    <a:lstStyle/>
                    <a:p>
                      <a:r>
                        <a:rPr sz="1400" b="1">
                          <a:solidFill>
                            <a:srgbClr val="0F2A33"/>
                          </a:solidFill>
                          <a:latin typeface="Calibri"/>
                        </a:rPr>
                        <a:t>Cyclone V (Chameleon96)</a:t>
                      </a:r>
                    </a:p>
                  </a:txBody>
                  <a:tcPr marL="73152" marR="73152" marT="36576" marB="36576" anchor="ctr">
                    <a:solidFill>
                      <a:srgbClr val="FFFFFF"/>
                    </a:solidFill>
                  </a:tcPr>
                </a:tc>
                <a:tc>
                  <a:txBody>
                    <a:bodyPr wrap="square"/>
                    <a:lstStyle/>
                    <a:p>
                      <a:r>
                        <a:rPr sz="1400" b="0">
                          <a:solidFill>
                            <a:srgbClr val="0F2A33"/>
                          </a:solidFill>
                          <a:latin typeface="Calibri"/>
                        </a:rPr>
                        <a:t>look-aside + HPS</a:t>
                      </a:r>
                    </a:p>
                  </a:txBody>
                  <a:tcPr marL="73152" marR="73152" marT="36576" marB="36576" anchor="ctr">
                    <a:solidFill>
                      <a:srgbClr val="FFFFFF"/>
                    </a:solidFill>
                  </a:tcPr>
                </a:tc>
                <a:tc>
                  <a:txBody>
                    <a:bodyPr wrap="square"/>
                    <a:lstStyle/>
                    <a:p>
                      <a:r>
                        <a:rPr sz="1400" b="0">
                          <a:solidFill>
                            <a:srgbClr val="0F2A33"/>
                          </a:solidFill>
                          <a:latin typeface="Calibri"/>
                        </a:rPr>
                        <a:t>2,378 ALMs (6 %), 3,080 regs, 0 DSP</a:t>
                      </a:r>
                    </a:p>
                  </a:txBody>
                  <a:tcPr marL="73152" marR="73152" marT="36576" marB="36576" anchor="ctr">
                    <a:solidFill>
                      <a:srgbClr val="FFFFFF"/>
                    </a:solidFill>
                  </a:tcPr>
                </a:tc>
                <a:tc>
                  <a:txBody>
                    <a:bodyPr wrap="square"/>
                    <a:lstStyle/>
                    <a:p>
                      <a:r>
                        <a:rPr sz="1400" b="0">
                          <a:solidFill>
                            <a:srgbClr val="0F2A33"/>
                          </a:solidFill>
                          <a:latin typeface="Calibri"/>
                        </a:rPr>
                        <a:t>110.8 MHz</a:t>
                      </a:r>
                    </a:p>
                  </a:txBody>
                  <a:tcPr marL="73152" marR="73152" marT="36576" marB="36576" anchor="ctr">
                    <a:solidFill>
                      <a:srgbClr val="FFFFFF"/>
                    </a:solidFill>
                  </a:tcPr>
                </a:tc>
                <a:tc>
                  <a:txBody>
                    <a:bodyPr wrap="square"/>
                    <a:lstStyle/>
                    <a:p>
                      <a:r>
                        <a:rPr sz="1400" b="0">
                          <a:solidFill>
                            <a:srgbClr val="0F2A33"/>
                          </a:solidFill>
                          <a:latin typeface="Calibri"/>
                        </a:rPr>
                        <a:t>not measured</a:t>
                      </a:r>
                    </a:p>
                  </a:txBody>
                  <a:tcPr marL="73152" marR="73152" marT="36576" marB="36576" anchor="ctr">
                    <a:solidFill>
                      <a:srgbClr val="FFFFFF"/>
                    </a:solidFill>
                  </a:tcPr>
                </a:tc>
              </a:tr>
              <a:tr h="566928">
                <a:tc>
                  <a:txBody>
                    <a:bodyPr wrap="square"/>
                    <a:lstStyle/>
                    <a:p>
                      <a:r>
                        <a:rPr sz="1400" b="1">
                          <a:solidFill>
                            <a:srgbClr val="0F2A33"/>
                          </a:solidFill>
                          <a:latin typeface="Calibri"/>
                        </a:rPr>
                        <a:t>Cyclone V (stand-alone)</a:t>
                      </a:r>
                    </a:p>
                  </a:txBody>
                  <a:tcPr marL="73152" marR="73152" marT="36576" marB="36576" anchor="ctr">
                    <a:solidFill>
                      <a:srgbClr val="EAF2F3"/>
                    </a:solidFill>
                  </a:tcPr>
                </a:tc>
                <a:tc>
                  <a:txBody>
                    <a:bodyPr wrap="square"/>
                    <a:lstStyle/>
                    <a:p>
                      <a:r>
                        <a:rPr sz="1400" b="0">
                          <a:solidFill>
                            <a:srgbClr val="0F2A33"/>
                          </a:solidFill>
                          <a:latin typeface="Calibri"/>
                        </a:rPr>
                        <a:t>in-line, 4 KiB buffer</a:t>
                      </a:r>
                    </a:p>
                  </a:txBody>
                  <a:tcPr marL="73152" marR="73152" marT="36576" marB="36576" anchor="ctr">
                    <a:solidFill>
                      <a:srgbClr val="EAF2F3"/>
                    </a:solidFill>
                  </a:tcPr>
                </a:tc>
                <a:tc>
                  <a:txBody>
                    <a:bodyPr wrap="square"/>
                    <a:lstStyle/>
                    <a:p>
                      <a:r>
                        <a:rPr sz="1400" b="0">
                          <a:solidFill>
                            <a:srgbClr val="0F2A33"/>
                          </a:solidFill>
                          <a:latin typeface="Calibri"/>
                        </a:rPr>
                        <a:t>5,871 ALMs (14 %), 10,336 regs, 0 DSP</a:t>
                      </a:r>
                    </a:p>
                  </a:txBody>
                  <a:tcPr marL="73152" marR="73152" marT="36576" marB="36576" anchor="ctr">
                    <a:solidFill>
                      <a:srgbClr val="EAF2F3"/>
                    </a:solidFill>
                  </a:tcPr>
                </a:tc>
                <a:tc>
                  <a:txBody>
                    <a:bodyPr wrap="square"/>
                    <a:lstStyle/>
                    <a:p>
                      <a:r>
                        <a:rPr sz="1400" b="0">
                          <a:solidFill>
                            <a:srgbClr val="0F2A33"/>
                          </a:solidFill>
                          <a:latin typeface="Calibri"/>
                        </a:rPr>
                        <a:t>111.6 MHz</a:t>
                      </a:r>
                    </a:p>
                  </a:txBody>
                  <a:tcPr marL="73152" marR="73152" marT="36576" marB="36576" anchor="ctr">
                    <a:solidFill>
                      <a:srgbClr val="EAF2F3"/>
                    </a:solidFill>
                  </a:tcPr>
                </a:tc>
                <a:tc>
                  <a:txBody>
                    <a:bodyPr wrap="square"/>
                    <a:lstStyle/>
                    <a:p>
                      <a:r>
                        <a:rPr sz="1400" b="0">
                          <a:solidFill>
                            <a:srgbClr val="0F2A33"/>
                          </a:solidFill>
                          <a:latin typeface="Calibri"/>
                        </a:rPr>
                        <a:t>not measured</a:t>
                      </a:r>
                    </a:p>
                  </a:txBody>
                  <a:tcPr marL="73152" marR="73152" marT="36576" marB="36576" anchor="ctr">
                    <a:solidFill>
                      <a:srgbClr val="EAF2F3"/>
                    </a:solidFill>
                  </a:tcPr>
                </a:tc>
              </a:tr>
              <a:tr h="566928">
                <a:tc>
                  <a:txBody>
                    <a:bodyPr wrap="square"/>
                    <a:lstStyle/>
                    <a:p>
                      <a:r>
                        <a:rPr sz="1400" b="1">
                          <a:solidFill>
                            <a:srgbClr val="0F2A33"/>
                          </a:solidFill>
                          <a:latin typeface="Calibri"/>
                        </a:rPr>
                        <a:t>Tang Nano 9K</a:t>
                      </a:r>
                    </a:p>
                  </a:txBody>
                  <a:tcPr marL="73152" marR="73152" marT="36576" marB="36576" anchor="ctr">
                    <a:solidFill>
                      <a:srgbClr val="FFFFFF"/>
                    </a:solidFill>
                  </a:tcPr>
                </a:tc>
                <a:tc>
                  <a:txBody>
                    <a:bodyPr wrap="square"/>
                    <a:lstStyle/>
                    <a:p>
                      <a:r>
                        <a:rPr sz="1400" b="0">
                          <a:solidFill>
                            <a:srgbClr val="0F2A33"/>
                          </a:solidFill>
                          <a:latin typeface="Calibri"/>
                        </a:rPr>
                        <a:t>in-line + UART</a:t>
                      </a:r>
                    </a:p>
                  </a:txBody>
                  <a:tcPr marL="73152" marR="73152" marT="36576" marB="36576" anchor="ctr">
                    <a:solidFill>
                      <a:srgbClr val="FFFFFF"/>
                    </a:solidFill>
                  </a:tcPr>
                </a:tc>
                <a:tc>
                  <a:txBody>
                    <a:bodyPr wrap="square"/>
                    <a:lstStyle/>
                    <a:p>
                      <a:r>
                        <a:rPr sz="1400" b="0">
                          <a:solidFill>
                            <a:srgbClr val="0F2A33"/>
                          </a:solidFill>
                          <a:latin typeface="Calibri"/>
                        </a:rPr>
                        <a:t>6,966 LUT4 (80 %), 2,627 DFF, 0 DSP</a:t>
                      </a:r>
                    </a:p>
                  </a:txBody>
                  <a:tcPr marL="73152" marR="73152" marT="36576" marB="36576" anchor="ctr">
                    <a:solidFill>
                      <a:srgbClr val="FFFFFF"/>
                    </a:solidFill>
                  </a:tcPr>
                </a:tc>
                <a:tc>
                  <a:txBody>
                    <a:bodyPr wrap="square"/>
                    <a:lstStyle/>
                    <a:p>
                      <a:r>
                        <a:rPr sz="1400" b="0">
                          <a:solidFill>
                            <a:srgbClr val="0F2A33"/>
                          </a:solidFill>
                          <a:latin typeface="Calibri"/>
                        </a:rPr>
                        <a:t>57.6 MHz</a:t>
                      </a:r>
                    </a:p>
                  </a:txBody>
                  <a:tcPr marL="73152" marR="73152" marT="36576" marB="36576" anchor="ctr">
                    <a:solidFill>
                      <a:srgbClr val="FFFFFF"/>
                    </a:solidFill>
                  </a:tcPr>
                </a:tc>
                <a:tc>
                  <a:txBody>
                    <a:bodyPr wrap="square"/>
                    <a:lstStyle/>
                    <a:p>
                      <a:r>
                        <a:rPr sz="1400" b="0">
                          <a:solidFill>
                            <a:srgbClr val="0F2A33"/>
                          </a:solidFill>
                          <a:latin typeface="Calibri"/>
                        </a:rPr>
                        <a:t>not measured</a:t>
                      </a:r>
                    </a:p>
                  </a:txBody>
                  <a:tcPr marL="73152" marR="73152" marT="36576" marB="36576" anchor="ctr">
                    <a:solidFill>
                      <a:srgbClr val="FFFFFF"/>
                    </a:solidFill>
                  </a:tcPr>
                </a:tc>
              </a:tr>
              <a:tr h="566928">
                <a:tc>
                  <a:txBody>
                    <a:bodyPr wrap="square"/>
                    <a:lstStyle/>
                    <a:p>
                      <a:r>
                        <a:rPr sz="1400" b="1">
                          <a:solidFill>
                            <a:srgbClr val="0F2A33"/>
                          </a:solidFill>
                          <a:latin typeface="Calibri"/>
                        </a:rPr>
                        <a:t>Cadence 90 nm (Genus)</a:t>
                      </a:r>
                    </a:p>
                  </a:txBody>
                  <a:tcPr marL="73152" marR="73152" marT="36576" marB="36576" anchor="ctr">
                    <a:solidFill>
                      <a:srgbClr val="EAF2F3"/>
                    </a:solidFill>
                  </a:tcPr>
                </a:tc>
                <a:tc>
                  <a:txBody>
                    <a:bodyPr wrap="square"/>
                    <a:lstStyle/>
                    <a:p>
                      <a:r>
                        <a:rPr sz="1400" b="0">
                          <a:solidFill>
                            <a:srgbClr val="0F2A33"/>
                          </a:solidFill>
                          <a:latin typeface="Calibri"/>
                        </a:rPr>
                        <a:t>full chip, 8 ns</a:t>
                      </a:r>
                    </a:p>
                  </a:txBody>
                  <a:tcPr marL="73152" marR="73152" marT="36576" marB="36576" anchor="ctr">
                    <a:solidFill>
                      <a:srgbClr val="EAF2F3"/>
                    </a:solidFill>
                  </a:tcPr>
                </a:tc>
                <a:tc>
                  <a:txBody>
                    <a:bodyPr wrap="square"/>
                    <a:lstStyle/>
                    <a:p>
                      <a:r>
                        <a:rPr sz="1400" b="0">
                          <a:solidFill>
                            <a:srgbClr val="0F2A33"/>
                          </a:solidFill>
                          <a:latin typeface="Calibri"/>
                        </a:rPr>
                        <a:t>synthesis done; numbers from qor.rpt to add</a:t>
                      </a:r>
                    </a:p>
                  </a:txBody>
                  <a:tcPr marL="73152" marR="73152" marT="36576" marB="36576" anchor="ctr">
                    <a:solidFill>
                      <a:srgbClr val="EAF2F3"/>
                    </a:solidFill>
                  </a:tcPr>
                </a:tc>
                <a:tc>
                  <a:txBody>
                    <a:bodyPr wrap="square"/>
                    <a:lstStyle/>
                    <a:p>
                      <a:r>
                        <a:rPr sz="1400" b="0">
                          <a:solidFill>
                            <a:srgbClr val="0F2A33"/>
                          </a:solidFill>
                          <a:latin typeface="Calibri"/>
                        </a:rPr>
                        <a:t/>
                      </a:r>
                    </a:p>
                  </a:txBody>
                  <a:tcPr marL="73152" marR="73152" marT="36576" marB="36576" anchor="ctr">
                    <a:solidFill>
                      <a:srgbClr val="EAF2F3"/>
                    </a:solidFill>
                  </a:tcPr>
                </a:tc>
                <a:tc>
                  <a:txBody>
                    <a:bodyPr wrap="square"/>
                    <a:lstStyle/>
                    <a:p>
                      <a:r>
                        <a:rPr sz="1400" b="0">
                          <a:solidFill>
                            <a:srgbClr val="0F2A33"/>
                          </a:solidFill>
                          <a:latin typeface="Calibri"/>
                        </a:rPr>
                        <a:t/>
                      </a:r>
                    </a:p>
                  </a:txBody>
                  <a:tcPr marL="73152" marR="73152" marT="36576" marB="36576" anchor="ctr">
                    <a:solidFill>
                      <a:srgbClr val="EAF2F3"/>
                    </a:solidFill>
                  </a:tcPr>
                </a:tc>
              </a:tr>
            </a:tbl>
          </a:graphicData>
        </a:graphic>
      </p:graphicFrame>
      <p:sp>
        <p:nvSpPr>
          <p:cNvPr id="6" name="TextBox 5"/>
          <p:cNvSpPr txBox="1"/>
          <p:nvPr/>
        </p:nvSpPr>
        <p:spPr>
          <a:xfrm>
            <a:off x="548640" y="5532120"/>
            <a:ext cx="11109960" cy="731520"/>
          </a:xfrm>
          <a:prstGeom prst="rect">
            <a:avLst/>
          </a:prstGeom>
          <a:noFill/>
        </p:spPr>
        <p:txBody>
          <a:bodyPr wrap="square" anchor="t" lIns="45720" rIns="45720">
            <a:spAutoFit/>
          </a:bodyPr>
          <a:lstStyle/>
          <a:p>
            <a:pPr algn="l">
              <a:spcAft>
                <a:spcPts val="400"/>
              </a:spcAft>
            </a:pPr>
            <a:r>
              <a:rPr sz="1500" b="0" i="1">
                <a:solidFill>
                  <a:srgbClr val="5F6F78"/>
                </a:solidFill>
                <a:latin typeface="Calibri"/>
              </a:rPr>
              <a:t>The throughput budget: 1 GbE needs one decision per 84 byte-times; we need ~28, so every target meets line rate at its clock.</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02975" y="6400800"/>
            <a:ext cx="822960" cy="274320"/>
          </a:xfrm>
          <a:prstGeom prst="rect">
            <a:avLst/>
          </a:prstGeom>
          <a:noFill/>
        </p:spPr>
        <p:txBody>
          <a:bodyPr wrap="square" anchor="t" lIns="45720" rIns="45720">
            <a:spAutoFit/>
          </a:bodyPr>
          <a:lstStyle/>
          <a:p>
            <a:pPr algn="r">
              <a:spcAft>
                <a:spcPts val="400"/>
              </a:spcAft>
            </a:pPr>
            <a:r>
              <a:rPr sz="1100" b="0" i="0">
                <a:solidFill>
                  <a:srgbClr val="5F6F78"/>
                </a:solidFill>
                <a:latin typeface="Calibri"/>
              </a:rPr>
              <a:t>35</a:t>
            </a:r>
          </a:p>
        </p:txBody>
      </p:sp>
      <p:sp>
        <p:nvSpPr>
          <p:cNvPr id="3" name="TextBox 2"/>
          <p:cNvSpPr txBox="1"/>
          <p:nvPr/>
        </p:nvSpPr>
        <p:spPr>
          <a:xfrm>
            <a:off x="548640" y="6400800"/>
            <a:ext cx="7315200" cy="274320"/>
          </a:xfrm>
          <a:prstGeom prst="rect">
            <a:avLst/>
          </a:prstGeom>
          <a:noFill/>
        </p:spPr>
        <p:txBody>
          <a:bodyPr wrap="square" anchor="t" lIns="45720" rIns="45720">
            <a:spAutoFit/>
          </a:bodyPr>
          <a:lstStyle/>
          <a:p>
            <a:pPr algn="l">
              <a:spcAft>
                <a:spcPts val="400"/>
              </a:spcAft>
            </a:pPr>
            <a:r>
              <a:rPr sz="1100" b="0" i="0">
                <a:solidFill>
                  <a:srgbClr val="5F6F78"/>
                </a:solidFill>
                <a:latin typeface="Calibri"/>
              </a:rPr>
              <a:t>4  Area, power, performance</a:t>
            </a:r>
          </a:p>
        </p:txBody>
      </p:sp>
      <p:sp>
        <p:nvSpPr>
          <p:cNvPr id="4" name="Title"/>
          <p:cNvSpPr txBox="1"/>
          <p:nvPr/>
        </p:nvSpPr>
        <p:spPr>
          <a:xfrm>
            <a:off x="548640" y="320040"/>
            <a:ext cx="11064240" cy="777240"/>
          </a:xfrm>
          <a:prstGeom prst="rect">
            <a:avLst/>
          </a:prstGeom>
          <a:noFill/>
        </p:spPr>
        <p:txBody>
          <a:bodyPr wrap="square" anchor="ctr" lIns="45720" rIns="45720">
            <a:spAutoFit/>
          </a:bodyPr>
          <a:lstStyle/>
          <a:p>
            <a:pPr algn="l">
              <a:spcAft>
                <a:spcPts val="400"/>
              </a:spcAft>
            </a:pPr>
            <a:r>
              <a:rPr sz="3400" b="1" i="0">
                <a:solidFill>
                  <a:srgbClr val="0F2A33"/>
                </a:solidFill>
                <a:latin typeface="Cambria"/>
              </a:rPr>
              <a:t>SNN vs other approaches for the same job</a:t>
            </a:r>
          </a:p>
        </p:txBody>
      </p:sp>
      <p:graphicFrame>
        <p:nvGraphicFramePr>
          <p:cNvPr id="5" name="Table 4"/>
          <p:cNvGraphicFramePr>
            <a:graphicFrameLocks noGrp="1"/>
          </p:cNvGraphicFramePr>
          <p:nvPr/>
        </p:nvGraphicFramePr>
        <p:xfrm>
          <a:off x="548640" y="1371600"/>
          <a:ext cx="11109958" cy="3401568"/>
        </p:xfrm>
        <a:graphic>
          <a:graphicData uri="http://schemas.openxmlformats.org/drawingml/2006/table">
            <a:tbl>
              <a:tblPr firstRow="1" bandRow="1">
                <a:tableStyleId>{5C22544A-7EE6-4342-B048-85BDC9FD1C3A}</a:tableStyleId>
              </a:tblPr>
              <a:tblGrid>
                <a:gridCol w="2377440"/>
                <a:gridCol w="2743200"/>
                <a:gridCol w="1371600"/>
                <a:gridCol w="1280159"/>
                <a:gridCol w="1463040"/>
                <a:gridCol w="1874519"/>
              </a:tblGrid>
              <a:tr h="566928">
                <a:tc>
                  <a:txBody>
                    <a:bodyPr wrap="square"/>
                    <a:lstStyle/>
                    <a:p>
                      <a:r>
                        <a:rPr sz="1400" b="1">
                          <a:solidFill>
                            <a:srgbClr val="FFFFFF"/>
                          </a:solidFill>
                          <a:latin typeface="Calibri"/>
                        </a:rPr>
                        <a:t>model</a:t>
                      </a:r>
                    </a:p>
                  </a:txBody>
                  <a:tcPr marL="73152" marR="73152" marT="36576" marB="36576" anchor="ctr">
                    <a:solidFill>
                      <a:srgbClr val="1B4D5C"/>
                    </a:solidFill>
                  </a:tcPr>
                </a:tc>
                <a:tc>
                  <a:txBody>
                    <a:bodyPr wrap="square"/>
                    <a:lstStyle/>
                    <a:p>
                      <a:r>
                        <a:rPr sz="1400" b="1">
                          <a:solidFill>
                            <a:srgbClr val="FFFFFF"/>
                          </a:solidFill>
                          <a:latin typeface="Calibri"/>
                        </a:rPr>
                        <a:t>work per frame</a:t>
                      </a:r>
                    </a:p>
                  </a:txBody>
                  <a:tcPr marL="73152" marR="73152" marT="36576" marB="36576" anchor="ctr">
                    <a:solidFill>
                      <a:srgbClr val="1B4D5C"/>
                    </a:solidFill>
                  </a:tcPr>
                </a:tc>
                <a:tc>
                  <a:txBody>
                    <a:bodyPr wrap="square"/>
                    <a:lstStyle/>
                    <a:p>
                      <a:r>
                        <a:rPr sz="1400" b="1">
                          <a:solidFill>
                            <a:srgbClr val="FFFFFF"/>
                          </a:solidFill>
                          <a:latin typeface="Calibri"/>
                        </a:rPr>
                        <a:t>multipliers</a:t>
                      </a:r>
                    </a:p>
                  </a:txBody>
                  <a:tcPr marL="73152" marR="73152" marT="36576" marB="36576" anchor="ctr">
                    <a:solidFill>
                      <a:srgbClr val="1B4D5C"/>
                    </a:solidFill>
                  </a:tcPr>
                </a:tc>
                <a:tc>
                  <a:txBody>
                    <a:bodyPr wrap="square"/>
                    <a:lstStyle/>
                    <a:p>
                      <a:r>
                        <a:rPr sz="1400" b="1">
                          <a:solidFill>
                            <a:srgbClr val="FFFFFF"/>
                          </a:solidFill>
                          <a:latin typeface="Calibri"/>
                        </a:rPr>
                        <a:t>weights</a:t>
                      </a:r>
                    </a:p>
                  </a:txBody>
                  <a:tcPr marL="73152" marR="73152" marT="36576" marB="36576" anchor="ctr">
                    <a:solidFill>
                      <a:srgbClr val="1B4D5C"/>
                    </a:solidFill>
                  </a:tcPr>
                </a:tc>
                <a:tc>
                  <a:txBody>
                    <a:bodyPr wrap="square"/>
                    <a:lstStyle/>
                    <a:p>
                      <a:r>
                        <a:rPr sz="1400" b="1">
                          <a:solidFill>
                            <a:srgbClr val="FFFFFF"/>
                          </a:solidFill>
                          <a:latin typeface="Calibri"/>
                        </a:rPr>
                        <a:t>latency</a:t>
                      </a:r>
                    </a:p>
                  </a:txBody>
                  <a:tcPr marL="73152" marR="73152" marT="36576" marB="36576" anchor="ctr">
                    <a:solidFill>
                      <a:srgbClr val="1B4D5C"/>
                    </a:solidFill>
                  </a:tcPr>
                </a:tc>
                <a:tc>
                  <a:txBody>
                    <a:bodyPr wrap="square"/>
                    <a:lstStyle/>
                    <a:p>
                      <a:r>
                        <a:rPr sz="1400" b="1">
                          <a:solidFill>
                            <a:srgbClr val="FFFFFF"/>
                          </a:solidFill>
                          <a:latin typeface="Calibri"/>
                        </a:rPr>
                        <a:t>notes</a:t>
                      </a:r>
                    </a:p>
                  </a:txBody>
                  <a:tcPr marL="73152" marR="73152" marT="36576" marB="36576" anchor="ctr">
                    <a:solidFill>
                      <a:srgbClr val="1B4D5C"/>
                    </a:solidFill>
                  </a:tcPr>
                </a:tc>
              </a:tr>
              <a:tr h="566928">
                <a:tc>
                  <a:txBody>
                    <a:bodyPr wrap="square"/>
                    <a:lstStyle/>
                    <a:p>
                      <a:r>
                        <a:rPr sz="1400" b="1">
                          <a:solidFill>
                            <a:srgbClr val="0F2A33"/>
                          </a:solidFill>
                          <a:latin typeface="Calibri"/>
                        </a:rPr>
                        <a:t>Our SNN (64→16→2, T = 8)</a:t>
                      </a:r>
                    </a:p>
                  </a:txBody>
                  <a:tcPr marL="73152" marR="73152" marT="36576" marB="36576" anchor="ctr">
                    <a:solidFill>
                      <a:srgbClr val="FFFFFF"/>
                    </a:solidFill>
                  </a:tcPr>
                </a:tc>
                <a:tc>
                  <a:txBody>
                    <a:bodyPr wrap="square"/>
                    <a:lstStyle/>
                    <a:p>
                      <a:r>
                        <a:rPr sz="1400" b="0">
                          <a:solidFill>
                            <a:srgbClr val="0F2A33"/>
                          </a:solidFill>
                          <a:latin typeface="Calibri"/>
                        </a:rPr>
                        <a:t>≈ 900 adds / compares</a:t>
                      </a:r>
                    </a:p>
                  </a:txBody>
                  <a:tcPr marL="73152" marR="73152" marT="36576" marB="36576" anchor="ctr">
                    <a:solidFill>
                      <a:srgbClr val="FFFFFF"/>
                    </a:solidFill>
                  </a:tcPr>
                </a:tc>
                <a:tc>
                  <a:txBody>
                    <a:bodyPr wrap="square"/>
                    <a:lstStyle/>
                    <a:p>
                      <a:r>
                        <a:rPr sz="1400" b="0">
                          <a:solidFill>
                            <a:srgbClr val="0F2A33"/>
                          </a:solidFill>
                          <a:latin typeface="Calibri"/>
                        </a:rPr>
                        <a:t>0</a:t>
                      </a:r>
                    </a:p>
                  </a:txBody>
                  <a:tcPr marL="73152" marR="73152" marT="36576" marB="36576" anchor="ctr">
                    <a:solidFill>
                      <a:srgbClr val="FFFFFF"/>
                    </a:solidFill>
                  </a:tcPr>
                </a:tc>
                <a:tc>
                  <a:txBody>
                    <a:bodyPr wrap="square"/>
                    <a:lstStyle/>
                    <a:p>
                      <a:r>
                        <a:rPr sz="1400" b="0">
                          <a:solidFill>
                            <a:srgbClr val="0F2A33"/>
                          </a:solidFill>
                          <a:latin typeface="Calibri"/>
                        </a:rPr>
                        <a:t>1.1 KB</a:t>
                      </a:r>
                    </a:p>
                  </a:txBody>
                  <a:tcPr marL="73152" marR="73152" marT="36576" marB="36576" anchor="ctr">
                    <a:solidFill>
                      <a:srgbClr val="FFFFFF"/>
                    </a:solidFill>
                  </a:tcPr>
                </a:tc>
                <a:tc>
                  <a:txBody>
                    <a:bodyPr wrap="square"/>
                    <a:lstStyle/>
                    <a:p>
                      <a:r>
                        <a:rPr sz="1400" b="0">
                          <a:solidFill>
                            <a:srgbClr val="0F2A33"/>
                          </a:solidFill>
                          <a:latin typeface="Calibri"/>
                        </a:rPr>
                        <a:t>≈ 28 cycles</a:t>
                      </a:r>
                    </a:p>
                  </a:txBody>
                  <a:tcPr marL="73152" marR="73152" marT="36576" marB="36576" anchor="ctr">
                    <a:solidFill>
                      <a:srgbClr val="FFFFFF"/>
                    </a:solidFill>
                  </a:tcPr>
                </a:tc>
                <a:tc>
                  <a:txBody>
                    <a:bodyPr wrap="square"/>
                    <a:lstStyle/>
                    <a:p>
                      <a:r>
                        <a:rPr sz="1400" b="0">
                          <a:solidFill>
                            <a:srgbClr val="0F2A33"/>
                          </a:solidFill>
                          <a:latin typeface="Calibri"/>
                        </a:rPr>
                        <a:t>event-driven, stateful</a:t>
                      </a:r>
                    </a:p>
                  </a:txBody>
                  <a:tcPr marL="73152" marR="73152" marT="36576" marB="36576" anchor="ctr">
                    <a:solidFill>
                      <a:srgbClr val="FFFFFF"/>
                    </a:solidFill>
                  </a:tcPr>
                </a:tc>
              </a:tr>
              <a:tr h="566928">
                <a:tc>
                  <a:txBody>
                    <a:bodyPr wrap="square"/>
                    <a:lstStyle/>
                    <a:p>
                      <a:r>
                        <a:rPr sz="1400" b="1">
                          <a:solidFill>
                            <a:srgbClr val="0F2A33"/>
                          </a:solidFill>
                          <a:latin typeface="Calibri"/>
                        </a:rPr>
                        <a:t>Same-size int8 MLP</a:t>
                      </a:r>
                    </a:p>
                  </a:txBody>
                  <a:tcPr marL="73152" marR="73152" marT="36576" marB="36576" anchor="ctr">
                    <a:solidFill>
                      <a:srgbClr val="EAF2F3"/>
                    </a:solidFill>
                  </a:tcPr>
                </a:tc>
                <a:tc>
                  <a:txBody>
                    <a:bodyPr wrap="square"/>
                    <a:lstStyle/>
                    <a:p>
                      <a:r>
                        <a:rPr sz="1400" b="0">
                          <a:solidFill>
                            <a:srgbClr val="0F2A33"/>
                          </a:solidFill>
                          <a:latin typeface="Calibri"/>
                        </a:rPr>
                        <a:t>≈ 1,056 MAC</a:t>
                      </a:r>
                    </a:p>
                  </a:txBody>
                  <a:tcPr marL="73152" marR="73152" marT="36576" marB="36576" anchor="ctr">
                    <a:solidFill>
                      <a:srgbClr val="EAF2F3"/>
                    </a:solidFill>
                  </a:tcPr>
                </a:tc>
                <a:tc>
                  <a:txBody>
                    <a:bodyPr wrap="square"/>
                    <a:lstStyle/>
                    <a:p>
                      <a:r>
                        <a:rPr sz="1400" b="0">
                          <a:solidFill>
                            <a:srgbClr val="0F2A33"/>
                          </a:solidFill>
                          <a:latin typeface="Calibri"/>
                        </a:rPr>
                        <a:t>32</a:t>
                      </a:r>
                    </a:p>
                  </a:txBody>
                  <a:tcPr marL="73152" marR="73152" marT="36576" marB="36576" anchor="ctr">
                    <a:solidFill>
                      <a:srgbClr val="EAF2F3"/>
                    </a:solidFill>
                  </a:tcPr>
                </a:tc>
                <a:tc>
                  <a:txBody>
                    <a:bodyPr wrap="square"/>
                    <a:lstStyle/>
                    <a:p>
                      <a:r>
                        <a:rPr sz="1400" b="0">
                          <a:solidFill>
                            <a:srgbClr val="0F2A33"/>
                          </a:solidFill>
                          <a:latin typeface="Calibri"/>
                        </a:rPr>
                        <a:t>1.1 KB</a:t>
                      </a:r>
                    </a:p>
                  </a:txBody>
                  <a:tcPr marL="73152" marR="73152" marT="36576" marB="36576" anchor="ctr">
                    <a:solidFill>
                      <a:srgbClr val="EAF2F3"/>
                    </a:solidFill>
                  </a:tcPr>
                </a:tc>
                <a:tc>
                  <a:txBody>
                    <a:bodyPr wrap="square"/>
                    <a:lstStyle/>
                    <a:p>
                      <a:r>
                        <a:rPr sz="1400" b="0">
                          <a:solidFill>
                            <a:srgbClr val="0F2A33"/>
                          </a:solidFill>
                          <a:latin typeface="Calibri"/>
                        </a:rPr>
                        <a:t>≈ 5–20 cycles</a:t>
                      </a:r>
                    </a:p>
                  </a:txBody>
                  <a:tcPr marL="73152" marR="73152" marT="36576" marB="36576" anchor="ctr">
                    <a:solidFill>
                      <a:srgbClr val="EAF2F3"/>
                    </a:solidFill>
                  </a:tcPr>
                </a:tc>
                <a:tc>
                  <a:txBody>
                    <a:bodyPr wrap="square"/>
                    <a:lstStyle/>
                    <a:p>
                      <a:r>
                        <a:rPr sz="1400" b="0">
                          <a:solidFill>
                            <a:srgbClr val="0F2A33"/>
                          </a:solidFill>
                          <a:latin typeface="Calibri"/>
                        </a:rPr>
                        <a:t>one pass, no state</a:t>
                      </a:r>
                    </a:p>
                  </a:txBody>
                  <a:tcPr marL="73152" marR="73152" marT="36576" marB="36576" anchor="ctr">
                    <a:solidFill>
                      <a:srgbClr val="EAF2F3"/>
                    </a:solidFill>
                  </a:tcPr>
                </a:tc>
              </a:tr>
              <a:tr h="566928">
                <a:tc>
                  <a:txBody>
                    <a:bodyPr wrap="square"/>
                    <a:lstStyle/>
                    <a:p>
                      <a:r>
                        <a:rPr sz="1400" b="1">
                          <a:solidFill>
                            <a:srgbClr val="0F2A33"/>
                          </a:solidFill>
                          <a:latin typeface="Calibri"/>
                        </a:rPr>
                        <a:t>Small 1-D CNN on 128 bytes</a:t>
                      </a:r>
                    </a:p>
                  </a:txBody>
                  <a:tcPr marL="73152" marR="73152" marT="36576" marB="36576" anchor="ctr">
                    <a:solidFill>
                      <a:srgbClr val="FFFFFF"/>
                    </a:solidFill>
                  </a:tcPr>
                </a:tc>
                <a:tc>
                  <a:txBody>
                    <a:bodyPr wrap="square"/>
                    <a:lstStyle/>
                    <a:p>
                      <a:r>
                        <a:rPr sz="1400" b="0">
                          <a:solidFill>
                            <a:srgbClr val="0F2A33"/>
                          </a:solidFill>
                          <a:latin typeface="Calibri"/>
                        </a:rPr>
                        <a:t>≈ 10⁵ – 10⁶ MAC</a:t>
                      </a:r>
                    </a:p>
                  </a:txBody>
                  <a:tcPr marL="73152" marR="73152" marT="36576" marB="36576" anchor="ctr">
                    <a:solidFill>
                      <a:srgbClr val="FFFFFF"/>
                    </a:solidFill>
                  </a:tcPr>
                </a:tc>
                <a:tc>
                  <a:txBody>
                    <a:bodyPr wrap="square"/>
                    <a:lstStyle/>
                    <a:p>
                      <a:r>
                        <a:rPr sz="1400" b="0">
                          <a:solidFill>
                            <a:srgbClr val="0F2A33"/>
                          </a:solidFill>
                          <a:latin typeface="Calibri"/>
                        </a:rPr>
                        <a:t>many (DSP)</a:t>
                      </a:r>
                    </a:p>
                  </a:txBody>
                  <a:tcPr marL="73152" marR="73152" marT="36576" marB="36576" anchor="ctr">
                    <a:solidFill>
                      <a:srgbClr val="FFFFFF"/>
                    </a:solidFill>
                  </a:tcPr>
                </a:tc>
                <a:tc>
                  <a:txBody>
                    <a:bodyPr wrap="square"/>
                    <a:lstStyle/>
                    <a:p>
                      <a:r>
                        <a:rPr sz="1400" b="0">
                          <a:solidFill>
                            <a:srgbClr val="0F2A33"/>
                          </a:solidFill>
                          <a:latin typeface="Calibri"/>
                        </a:rPr>
                        <a:t>10–100 KB</a:t>
                      </a:r>
                    </a:p>
                  </a:txBody>
                  <a:tcPr marL="73152" marR="73152" marT="36576" marB="36576" anchor="ctr">
                    <a:solidFill>
                      <a:srgbClr val="FFFFFF"/>
                    </a:solidFill>
                  </a:tcPr>
                </a:tc>
                <a:tc>
                  <a:txBody>
                    <a:bodyPr wrap="square"/>
                    <a:lstStyle/>
                    <a:p>
                      <a:r>
                        <a:rPr sz="1400" b="0">
                          <a:solidFill>
                            <a:srgbClr val="0F2A33"/>
                          </a:solidFill>
                          <a:latin typeface="Calibri"/>
                        </a:rPr>
                        <a:t>100s–1000s cycles</a:t>
                      </a:r>
                    </a:p>
                  </a:txBody>
                  <a:tcPr marL="73152" marR="73152" marT="36576" marB="36576" anchor="ctr">
                    <a:solidFill>
                      <a:srgbClr val="FFFFFF"/>
                    </a:solidFill>
                  </a:tcPr>
                </a:tc>
                <a:tc>
                  <a:txBody>
                    <a:bodyPr wrap="square"/>
                    <a:lstStyle/>
                    <a:p>
                      <a:r>
                        <a:rPr sz="1400" b="0">
                          <a:solidFill>
                            <a:srgbClr val="0F2A33"/>
                          </a:solidFill>
                          <a:latin typeface="Calibri"/>
                        </a:rPr>
                        <a:t>learns features itself</a:t>
                      </a:r>
                    </a:p>
                  </a:txBody>
                  <a:tcPr marL="73152" marR="73152" marT="36576" marB="36576" anchor="ctr">
                    <a:solidFill>
                      <a:srgbClr val="FFFFFF"/>
                    </a:solidFill>
                  </a:tcPr>
                </a:tc>
              </a:tr>
              <a:tr h="566928">
                <a:tc>
                  <a:txBody>
                    <a:bodyPr wrap="square"/>
                    <a:lstStyle/>
                    <a:p>
                      <a:r>
                        <a:rPr sz="1400" b="1">
                          <a:solidFill>
                            <a:srgbClr val="0F2A33"/>
                          </a:solidFill>
                          <a:latin typeface="Calibri"/>
                        </a:rPr>
                        <a:t>Decision tree / forest</a:t>
                      </a:r>
                    </a:p>
                  </a:txBody>
                  <a:tcPr marL="73152" marR="73152" marT="36576" marB="36576" anchor="ctr">
                    <a:solidFill>
                      <a:srgbClr val="EAF2F3"/>
                    </a:solidFill>
                  </a:tcPr>
                </a:tc>
                <a:tc>
                  <a:txBody>
                    <a:bodyPr wrap="square"/>
                    <a:lstStyle/>
                    <a:p>
                      <a:r>
                        <a:rPr sz="1400" b="0">
                          <a:solidFill>
                            <a:srgbClr val="0F2A33"/>
                          </a:solidFill>
                          <a:latin typeface="Calibri"/>
                        </a:rPr>
                        <a:t>≈ 10–20 compares</a:t>
                      </a:r>
                    </a:p>
                  </a:txBody>
                  <a:tcPr marL="73152" marR="73152" marT="36576" marB="36576" anchor="ctr">
                    <a:solidFill>
                      <a:srgbClr val="EAF2F3"/>
                    </a:solidFill>
                  </a:tcPr>
                </a:tc>
                <a:tc>
                  <a:txBody>
                    <a:bodyPr wrap="square"/>
                    <a:lstStyle/>
                    <a:p>
                      <a:r>
                        <a:rPr sz="1400" b="0">
                          <a:solidFill>
                            <a:srgbClr val="0F2A33"/>
                          </a:solidFill>
                          <a:latin typeface="Calibri"/>
                        </a:rPr>
                        <a:t>0</a:t>
                      </a:r>
                    </a:p>
                  </a:txBody>
                  <a:tcPr marL="73152" marR="73152" marT="36576" marB="36576" anchor="ctr">
                    <a:solidFill>
                      <a:srgbClr val="EAF2F3"/>
                    </a:solidFill>
                  </a:tcPr>
                </a:tc>
                <a:tc>
                  <a:txBody>
                    <a:bodyPr wrap="square"/>
                    <a:lstStyle/>
                    <a:p>
                      <a:r>
                        <a:rPr sz="1400" b="0">
                          <a:solidFill>
                            <a:srgbClr val="0F2A33"/>
                          </a:solidFill>
                          <a:latin typeface="Calibri"/>
                        </a:rPr>
                        <a:t>small tables</a:t>
                      </a:r>
                    </a:p>
                  </a:txBody>
                  <a:tcPr marL="73152" marR="73152" marT="36576" marB="36576" anchor="ctr">
                    <a:solidFill>
                      <a:srgbClr val="EAF2F3"/>
                    </a:solidFill>
                  </a:tcPr>
                </a:tc>
                <a:tc>
                  <a:txBody>
                    <a:bodyPr wrap="square"/>
                    <a:lstStyle/>
                    <a:p>
                      <a:r>
                        <a:rPr sz="1400" b="0">
                          <a:solidFill>
                            <a:srgbClr val="0F2A33"/>
                          </a:solidFill>
                          <a:latin typeface="Calibri"/>
                        </a:rPr>
                        <a:t>few cycles</a:t>
                      </a:r>
                    </a:p>
                  </a:txBody>
                  <a:tcPr marL="73152" marR="73152" marT="36576" marB="36576" anchor="ctr">
                    <a:solidFill>
                      <a:srgbClr val="EAF2F3"/>
                    </a:solidFill>
                  </a:tcPr>
                </a:tc>
                <a:tc>
                  <a:txBody>
                    <a:bodyPr wrap="square"/>
                    <a:lstStyle/>
                    <a:p>
                      <a:r>
                        <a:rPr sz="1400" b="0">
                          <a:solidFill>
                            <a:srgbClr val="0F2A33"/>
                          </a:solidFill>
                          <a:latin typeface="Calibri"/>
                        </a:rPr>
                        <a:t>no time dynamics</a:t>
                      </a:r>
                    </a:p>
                  </a:txBody>
                  <a:tcPr marL="73152" marR="73152" marT="36576" marB="36576" anchor="ctr">
                    <a:solidFill>
                      <a:srgbClr val="EAF2F3"/>
                    </a:solidFill>
                  </a:tcPr>
                </a:tc>
              </a:tr>
              <a:tr h="566928">
                <a:tc>
                  <a:txBody>
                    <a:bodyPr wrap="square"/>
                    <a:lstStyle/>
                    <a:p>
                      <a:r>
                        <a:rPr sz="1400" b="1">
                          <a:solidFill>
                            <a:srgbClr val="0F2A33"/>
                          </a:solidFill>
                          <a:latin typeface="Calibri"/>
                        </a:rPr>
                        <a:t>Rules / ACL</a:t>
                      </a:r>
                    </a:p>
                  </a:txBody>
                  <a:tcPr marL="73152" marR="73152" marT="36576" marB="36576" anchor="ctr">
                    <a:solidFill>
                      <a:srgbClr val="FFFFFF"/>
                    </a:solidFill>
                  </a:tcPr>
                </a:tc>
                <a:tc>
                  <a:txBody>
                    <a:bodyPr wrap="square"/>
                    <a:lstStyle/>
                    <a:p>
                      <a:r>
                        <a:rPr sz="1400" b="0">
                          <a:solidFill>
                            <a:srgbClr val="0F2A33"/>
                          </a:solidFill>
                          <a:latin typeface="Calibri"/>
                        </a:rPr>
                        <a:t>table look-ups</a:t>
                      </a:r>
                    </a:p>
                  </a:txBody>
                  <a:tcPr marL="73152" marR="73152" marT="36576" marB="36576" anchor="ctr">
                    <a:solidFill>
                      <a:srgbClr val="FFFFFF"/>
                    </a:solidFill>
                  </a:tcPr>
                </a:tc>
                <a:tc>
                  <a:txBody>
                    <a:bodyPr wrap="square"/>
                    <a:lstStyle/>
                    <a:p>
                      <a:r>
                        <a:rPr sz="1400" b="0">
                          <a:solidFill>
                            <a:srgbClr val="0F2A33"/>
                          </a:solidFill>
                          <a:latin typeface="Calibri"/>
                        </a:rPr>
                        <a:t>0</a:t>
                      </a:r>
                    </a:p>
                  </a:txBody>
                  <a:tcPr marL="73152" marR="73152" marT="36576" marB="36576" anchor="ctr">
                    <a:solidFill>
                      <a:srgbClr val="FFFFFF"/>
                    </a:solidFill>
                  </a:tcPr>
                </a:tc>
                <a:tc>
                  <a:txBody>
                    <a:bodyPr wrap="square"/>
                    <a:lstStyle/>
                    <a:p>
                      <a:r>
                        <a:rPr sz="1400" b="0">
                          <a:solidFill>
                            <a:srgbClr val="0F2A33"/>
                          </a:solidFill>
                          <a:latin typeface="Calibri"/>
                        </a:rPr>
                        <a:t>TCAM / hash</a:t>
                      </a:r>
                    </a:p>
                  </a:txBody>
                  <a:tcPr marL="73152" marR="73152" marT="36576" marB="36576" anchor="ctr">
                    <a:solidFill>
                      <a:srgbClr val="FFFFFF"/>
                    </a:solidFill>
                  </a:tcPr>
                </a:tc>
                <a:tc>
                  <a:txBody>
                    <a:bodyPr wrap="square"/>
                    <a:lstStyle/>
                    <a:p>
                      <a:r>
                        <a:rPr sz="1400" b="0">
                          <a:solidFill>
                            <a:srgbClr val="0F2A33"/>
                          </a:solidFill>
                          <a:latin typeface="Calibri"/>
                        </a:rPr>
                        <a:t>1–few cycles</a:t>
                      </a:r>
                    </a:p>
                  </a:txBody>
                  <a:tcPr marL="73152" marR="73152" marT="36576" marB="36576" anchor="ctr">
                    <a:solidFill>
                      <a:srgbClr val="FFFFFF"/>
                    </a:solidFill>
                  </a:tcPr>
                </a:tc>
                <a:tc>
                  <a:txBody>
                    <a:bodyPr wrap="square"/>
                    <a:lstStyle/>
                    <a:p>
                      <a:r>
                        <a:rPr sz="1400" b="0">
                          <a:solidFill>
                            <a:srgbClr val="0F2A33"/>
                          </a:solidFill>
                          <a:latin typeface="Calibri"/>
                        </a:rPr>
                        <a:t>only known attacks</a:t>
                      </a:r>
                    </a:p>
                  </a:txBody>
                  <a:tcPr marL="73152" marR="73152" marT="36576" marB="36576" anchor="ctr">
                    <a:solidFill>
                      <a:srgbClr val="FFFFFF"/>
                    </a:solidFill>
                  </a:tcPr>
                </a:tc>
              </a:tr>
            </a:tbl>
          </a:graphicData>
        </a:graphic>
      </p:graphicFrame>
      <p:sp>
        <p:nvSpPr>
          <p:cNvPr id="6" name="Rounded Rectangle 5"/>
          <p:cNvSpPr/>
          <p:nvPr/>
        </p:nvSpPr>
        <p:spPr>
          <a:xfrm>
            <a:off x="548640" y="5029200"/>
            <a:ext cx="11109960" cy="100584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r>
              <a:rPr sz="1500" b="1" i="0">
                <a:solidFill>
                  <a:srgbClr val="0F2A33"/>
                </a:solidFill>
                <a:latin typeface="Calibri"/>
              </a:rPr>
              <a:t>Takeaway: </a:t>
            </a:r>
            <a:r>
              <a:rPr sz="1500" b="0" i="0">
                <a:solidFill>
                  <a:srgbClr val="0F2A33"/>
                </a:solidFill>
                <a:latin typeface="Calibri"/>
              </a:rPr>
              <a:t>for this tiny job an SNN and a same-size MLP do similar work; the SNN avoids all multipliers and adds memory over time. A CNN costs 100–1000× more operations. Trees and rules are cheapest but cannot learn new temporal patterns.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02975" y="6400800"/>
            <a:ext cx="822960" cy="274320"/>
          </a:xfrm>
          <a:prstGeom prst="rect">
            <a:avLst/>
          </a:prstGeom>
          <a:noFill/>
        </p:spPr>
        <p:txBody>
          <a:bodyPr wrap="square" anchor="t" lIns="45720" rIns="45720">
            <a:spAutoFit/>
          </a:bodyPr>
          <a:lstStyle/>
          <a:p>
            <a:pPr algn="r">
              <a:spcAft>
                <a:spcPts val="400"/>
              </a:spcAft>
            </a:pPr>
            <a:r>
              <a:rPr sz="1100" b="0" i="0">
                <a:solidFill>
                  <a:srgbClr val="5F6F78"/>
                </a:solidFill>
                <a:latin typeface="Calibri"/>
              </a:rPr>
              <a:t>36</a:t>
            </a:r>
          </a:p>
        </p:txBody>
      </p:sp>
      <p:sp>
        <p:nvSpPr>
          <p:cNvPr id="3" name="TextBox 2"/>
          <p:cNvSpPr txBox="1"/>
          <p:nvPr/>
        </p:nvSpPr>
        <p:spPr>
          <a:xfrm>
            <a:off x="548640" y="6400800"/>
            <a:ext cx="7315200" cy="274320"/>
          </a:xfrm>
          <a:prstGeom prst="rect">
            <a:avLst/>
          </a:prstGeom>
          <a:noFill/>
        </p:spPr>
        <p:txBody>
          <a:bodyPr wrap="square" anchor="t" lIns="45720" rIns="45720">
            <a:spAutoFit/>
          </a:bodyPr>
          <a:lstStyle/>
          <a:p>
            <a:pPr algn="l">
              <a:spcAft>
                <a:spcPts val="400"/>
              </a:spcAft>
            </a:pPr>
            <a:r>
              <a:rPr sz="1100" b="0" i="0">
                <a:solidFill>
                  <a:srgbClr val="5F6F78"/>
                </a:solidFill>
                <a:latin typeface="Calibri"/>
              </a:rPr>
              <a:t>4  Area, power, performance</a:t>
            </a:r>
          </a:p>
        </p:txBody>
      </p:sp>
      <p:sp>
        <p:nvSpPr>
          <p:cNvPr id="4" name="Title"/>
          <p:cNvSpPr txBox="1"/>
          <p:nvPr/>
        </p:nvSpPr>
        <p:spPr>
          <a:xfrm>
            <a:off x="548640" y="320040"/>
            <a:ext cx="11064240" cy="777240"/>
          </a:xfrm>
          <a:prstGeom prst="rect">
            <a:avLst/>
          </a:prstGeom>
          <a:noFill/>
        </p:spPr>
        <p:txBody>
          <a:bodyPr wrap="square" anchor="ctr" lIns="45720" rIns="45720">
            <a:spAutoFit/>
          </a:bodyPr>
          <a:lstStyle/>
          <a:p>
            <a:pPr algn="l">
              <a:spcAft>
                <a:spcPts val="400"/>
              </a:spcAft>
            </a:pPr>
            <a:r>
              <a:rPr sz="3400" b="1" i="0">
                <a:solidFill>
                  <a:srgbClr val="0F2A33"/>
                </a:solidFill>
                <a:latin typeface="Cambria"/>
              </a:rPr>
              <a:t>What is new compared with existing work</a:t>
            </a:r>
          </a:p>
        </p:txBody>
      </p:sp>
      <p:graphicFrame>
        <p:nvGraphicFramePr>
          <p:cNvPr id="5" name="Table 4"/>
          <p:cNvGraphicFramePr>
            <a:graphicFrameLocks noGrp="1"/>
          </p:cNvGraphicFramePr>
          <p:nvPr/>
        </p:nvGraphicFramePr>
        <p:xfrm>
          <a:off x="548640" y="1371600"/>
          <a:ext cx="6035040" cy="3657600"/>
        </p:xfrm>
        <a:graphic>
          <a:graphicData uri="http://schemas.openxmlformats.org/drawingml/2006/table">
            <a:tbl>
              <a:tblPr firstRow="1" bandRow="1">
                <a:tableStyleId>{5C22544A-7EE6-4342-B048-85BDC9FD1C3A}</a:tableStyleId>
              </a:tblPr>
              <a:tblGrid>
                <a:gridCol w="2377440"/>
                <a:gridCol w="3657600"/>
              </a:tblGrid>
              <a:tr h="731520">
                <a:tc>
                  <a:txBody>
                    <a:bodyPr wrap="square"/>
                    <a:lstStyle/>
                    <a:p>
                      <a:r>
                        <a:rPr sz="1400" b="1">
                          <a:solidFill>
                            <a:srgbClr val="FFFFFF"/>
                          </a:solidFill>
                          <a:latin typeface="Calibri"/>
                        </a:rPr>
                        <a:t>existing work</a:t>
                      </a:r>
                    </a:p>
                  </a:txBody>
                  <a:tcPr marL="73152" marR="73152" marT="36576" marB="36576" anchor="ctr">
                    <a:solidFill>
                      <a:srgbClr val="1B4D5C"/>
                    </a:solidFill>
                  </a:tcPr>
                </a:tc>
                <a:tc>
                  <a:txBody>
                    <a:bodyPr wrap="square"/>
                    <a:lstStyle/>
                    <a:p>
                      <a:r>
                        <a:rPr sz="1400" b="1">
                          <a:solidFill>
                            <a:srgbClr val="FFFFFF"/>
                          </a:solidFill>
                          <a:latin typeface="Calibri"/>
                        </a:rPr>
                        <a:t>how it differs</a:t>
                      </a:r>
                    </a:p>
                  </a:txBody>
                  <a:tcPr marL="73152" marR="73152" marT="36576" marB="36576" anchor="ctr">
                    <a:solidFill>
                      <a:srgbClr val="1B4D5C"/>
                    </a:solidFill>
                  </a:tcPr>
                </a:tc>
              </a:tr>
              <a:tr h="731520">
                <a:tc>
                  <a:txBody>
                    <a:bodyPr wrap="square"/>
                    <a:lstStyle/>
                    <a:p>
                      <a:r>
                        <a:rPr sz="1400" b="1">
                          <a:solidFill>
                            <a:srgbClr val="0F2A33"/>
                          </a:solidFill>
                          <a:latin typeface="Calibri"/>
                        </a:rPr>
                        <a:t>SNN IDS on IBM TrueNorth (Alom &amp; Taha)</a:t>
                      </a:r>
                    </a:p>
                  </a:txBody>
                  <a:tcPr marL="73152" marR="73152" marT="36576" marB="36576" anchor="ctr">
                    <a:solidFill>
                      <a:srgbClr val="FFFFFF"/>
                    </a:solidFill>
                  </a:tcPr>
                </a:tc>
                <a:tc>
                  <a:txBody>
                    <a:bodyPr wrap="square"/>
                    <a:lstStyle/>
                    <a:p>
                      <a:r>
                        <a:rPr sz="1400" b="0">
                          <a:solidFill>
                            <a:srgbClr val="0F2A33"/>
                          </a:solidFill>
                          <a:latin typeface="Calibri"/>
                        </a:rPr>
                        <a:t>off the data path; 90.12 % accuracy</a:t>
                      </a:r>
                    </a:p>
                  </a:txBody>
                  <a:tcPr marL="73152" marR="73152" marT="36576" marB="36576" anchor="ctr">
                    <a:solidFill>
                      <a:srgbClr val="FFFFFF"/>
                    </a:solidFill>
                  </a:tcPr>
                </a:tc>
              </a:tr>
              <a:tr h="731520">
                <a:tc>
                  <a:txBody>
                    <a:bodyPr wrap="square"/>
                    <a:lstStyle/>
                    <a:p>
                      <a:r>
                        <a:rPr sz="1400" b="1">
                          <a:solidFill>
                            <a:srgbClr val="0F2A33"/>
                          </a:solidFill>
                          <a:latin typeface="Calibri"/>
                        </a:rPr>
                        <a:t>SNN traffic classifiers (Zhou &amp; Li 2020, others)</a:t>
                      </a:r>
                    </a:p>
                  </a:txBody>
                  <a:tcPr marL="73152" marR="73152" marT="36576" marB="36576" anchor="ctr">
                    <a:solidFill>
                      <a:srgbClr val="EAF2F3"/>
                    </a:solidFill>
                  </a:tcPr>
                </a:tc>
                <a:tc>
                  <a:txBody>
                    <a:bodyPr wrap="square"/>
                    <a:lstStyle/>
                    <a:p>
                      <a:r>
                        <a:rPr sz="1400" b="0">
                          <a:solidFill>
                            <a:srgbClr val="0F2A33"/>
                          </a:solidFill>
                          <a:latin typeface="Calibri"/>
                        </a:rPr>
                        <a:t>software / simulators, no line-rate hardware</a:t>
                      </a:r>
                    </a:p>
                  </a:txBody>
                  <a:tcPr marL="73152" marR="73152" marT="36576" marB="36576" anchor="ctr">
                    <a:solidFill>
                      <a:srgbClr val="EAF2F3"/>
                    </a:solidFill>
                  </a:tcPr>
                </a:tc>
              </a:tr>
              <a:tr h="731520">
                <a:tc>
                  <a:txBody>
                    <a:bodyPr wrap="square"/>
                    <a:lstStyle/>
                    <a:p>
                      <a:r>
                        <a:rPr sz="1400" b="1">
                          <a:solidFill>
                            <a:srgbClr val="0F2A33"/>
                          </a:solidFill>
                          <a:latin typeface="Calibri"/>
                        </a:rPr>
                        <a:t>Taurus (per-packet ML in switches)</a:t>
                      </a:r>
                    </a:p>
                  </a:txBody>
                  <a:tcPr marL="73152" marR="73152" marT="36576" marB="36576" anchor="ctr">
                    <a:solidFill>
                      <a:srgbClr val="FFFFFF"/>
                    </a:solidFill>
                  </a:tcPr>
                </a:tc>
                <a:tc>
                  <a:txBody>
                    <a:bodyPr wrap="square"/>
                    <a:lstStyle/>
                    <a:p>
                      <a:r>
                        <a:rPr sz="1400" b="0">
                          <a:solidFill>
                            <a:srgbClr val="0F2A33"/>
                          </a:solidFill>
                          <a:latin typeface="Calibri"/>
                        </a:rPr>
                        <a:t>switch pipelines, non-spiking models</a:t>
                      </a:r>
                    </a:p>
                  </a:txBody>
                  <a:tcPr marL="73152" marR="73152" marT="36576" marB="36576" anchor="ctr">
                    <a:solidFill>
                      <a:srgbClr val="FFFFFF"/>
                    </a:solidFill>
                  </a:tcPr>
                </a:tc>
              </a:tr>
              <a:tr h="731520">
                <a:tc>
                  <a:txBody>
                    <a:bodyPr wrap="square"/>
                    <a:lstStyle/>
                    <a:p>
                      <a:r>
                        <a:rPr sz="1400" b="1">
                          <a:solidFill>
                            <a:srgbClr val="0F2A33"/>
                          </a:solidFill>
                          <a:latin typeface="Calibri"/>
                        </a:rPr>
                        <a:t>Generic FPGA SNN accelerators</a:t>
                      </a:r>
                    </a:p>
                  </a:txBody>
                  <a:tcPr marL="73152" marR="73152" marT="36576" marB="36576" anchor="ctr">
                    <a:solidFill>
                      <a:srgbClr val="EAF2F3"/>
                    </a:solidFill>
                  </a:tcPr>
                </a:tc>
                <a:tc>
                  <a:txBody>
                    <a:bodyPr wrap="square"/>
                    <a:lstStyle/>
                    <a:p>
                      <a:r>
                        <a:rPr sz="1400" b="0">
                          <a:solidFill>
                            <a:srgbClr val="0F2A33"/>
                          </a:solidFill>
                          <a:latin typeface="Calibri"/>
                        </a:rPr>
                        <a:t>image benchmarks, not fused with a MAC</a:t>
                      </a:r>
                    </a:p>
                  </a:txBody>
                  <a:tcPr marL="73152" marR="73152" marT="36576" marB="36576" anchor="ctr">
                    <a:solidFill>
                      <a:srgbClr val="EAF2F3"/>
                    </a:solidFill>
                  </a:tcPr>
                </a:tc>
              </a:tr>
            </a:tbl>
          </a:graphicData>
        </a:graphic>
      </p:graphicFrame>
      <p:sp>
        <p:nvSpPr>
          <p:cNvPr id="6" name="Rounded Rectangle 5"/>
          <p:cNvSpPr/>
          <p:nvPr/>
        </p:nvSpPr>
        <p:spPr>
          <a:xfrm>
            <a:off x="6903720" y="1371600"/>
            <a:ext cx="4754880" cy="484632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 name="TextBox 6"/>
          <p:cNvSpPr txBox="1"/>
          <p:nvPr/>
        </p:nvSpPr>
        <p:spPr>
          <a:xfrm>
            <a:off x="7132320" y="1554480"/>
            <a:ext cx="4343400" cy="502920"/>
          </a:xfrm>
          <a:prstGeom prst="rect">
            <a:avLst/>
          </a:prstGeom>
          <a:noFill/>
        </p:spPr>
        <p:txBody>
          <a:bodyPr wrap="square" anchor="ctr" lIns="45720" rIns="45720">
            <a:spAutoFit/>
          </a:bodyPr>
          <a:lstStyle/>
          <a:p>
            <a:pPr algn="l">
              <a:spcAft>
                <a:spcPts val="400"/>
              </a:spcAft>
            </a:pPr>
            <a:r>
              <a:rPr sz="1700" b="1" i="0">
                <a:solidFill>
                  <a:srgbClr val="0F2A33"/>
                </a:solidFill>
                <a:latin typeface="Calibri"/>
              </a:rPr>
              <a:t>Our contributions</a:t>
            </a:r>
          </a:p>
        </p:txBody>
      </p:sp>
      <p:sp>
        <p:nvSpPr>
          <p:cNvPr id="8" name="TextBox 7"/>
          <p:cNvSpPr txBox="1"/>
          <p:nvPr/>
        </p:nvSpPr>
        <p:spPr>
          <a:xfrm>
            <a:off x="7132320" y="2148840"/>
            <a:ext cx="4343400" cy="3931920"/>
          </a:xfrm>
          <a:prstGeom prst="rect">
            <a:avLst/>
          </a:prstGeom>
          <a:noFill/>
        </p:spPr>
        <p:txBody>
          <a:bodyPr wrap="square" anchor="t" lIns="45720" rIns="45720">
            <a:spAutoFit/>
          </a:bodyPr>
          <a:lstStyle/>
          <a:p>
            <a:pPr algn="l">
              <a:spcAft>
                <a:spcPts val="400"/>
              </a:spcAft>
            </a:pPr>
            <a:r>
              <a:rPr sz="1500" b="1" i="0">
                <a:solidFill>
                  <a:srgbClr val="B5761A"/>
                </a:solidFill>
                <a:latin typeface="Calibri"/>
              </a:rPr>
              <a:t>1  </a:t>
            </a:r>
            <a:r>
              <a:rPr sz="1500" b="0" i="0">
                <a:solidFill>
                  <a:srgbClr val="0F2A33"/>
                </a:solidFill>
                <a:latin typeface="Calibri"/>
              </a:rPr>
              <a:t>SNN fused into the NIC receive datapath: malicious frames erased before DMA</a:t>
            </a:r>
          </a:p>
          <a:p>
            <a:pPr algn="l">
              <a:spcAft>
                <a:spcPts val="400"/>
              </a:spcAft>
            </a:pPr>
            <a:r>
              <a:rPr sz="1500" b="1" i="0">
                <a:solidFill>
                  <a:srgbClr val="B5761A"/>
                </a:solidFill>
                <a:latin typeface="Calibri"/>
              </a:rPr>
              <a:t>2  </a:t>
            </a:r>
            <a:r>
              <a:rPr sz="1500" b="0" i="0">
                <a:solidFill>
                  <a:srgbClr val="0F2A33"/>
                </a:solidFill>
                <a:latin typeface="Calibri"/>
              </a:rPr>
              <a:t>event-driven SNN: one pass over active inputs, no multipliers</a:t>
            </a:r>
          </a:p>
          <a:p>
            <a:pPr algn="l">
              <a:spcAft>
                <a:spcPts val="400"/>
              </a:spcAft>
            </a:pPr>
            <a:r>
              <a:rPr sz="1500" b="1" i="0">
                <a:solidFill>
                  <a:srgbClr val="B5761A"/>
                </a:solidFill>
                <a:latin typeface="Calibri"/>
              </a:rPr>
              <a:t>3  </a:t>
            </a:r>
            <a:r>
              <a:rPr sz="1500" b="0" i="0">
                <a:solidFill>
                  <a:srgbClr val="0F2A33"/>
                </a:solidFill>
                <a:latin typeface="Calibri"/>
              </a:rPr>
              <a:t>hardware rate window feeds flood memory into per-packet spikes</a:t>
            </a:r>
          </a:p>
          <a:p>
            <a:pPr algn="l">
              <a:spcAft>
                <a:spcPts val="400"/>
              </a:spcAft>
            </a:pPr>
            <a:r>
              <a:rPr sz="1500" b="1" i="0">
                <a:solidFill>
                  <a:srgbClr val="B5761A"/>
                </a:solidFill>
                <a:latin typeface="Calibri"/>
              </a:rPr>
              <a:t>4  </a:t>
            </a:r>
            <a:r>
              <a:rPr sz="1500" b="0" i="0">
                <a:solidFill>
                  <a:srgbClr val="0F2A33"/>
                </a:solidFill>
                <a:latin typeface="Calibri"/>
              </a:rPr>
              <a:t>one engine, three targets, bit-exact with one golden model</a:t>
            </a:r>
          </a:p>
          <a:p>
            <a:pPr algn="l">
              <a:spcAft>
                <a:spcPts val="400"/>
              </a:spcAft>
            </a:pPr>
            <a:r>
              <a:rPr sz="1500" b="1" i="0">
                <a:solidFill>
                  <a:srgbClr val="0F2A33"/>
                </a:solidFill>
                <a:latin typeface="Calibri"/>
              </a:rPr>
              <a:t>Check before publishing: </a:t>
            </a:r>
            <a:r>
              <a:rPr sz="1500" b="0" i="0">
                <a:solidFill>
                  <a:srgbClr val="0F2A33"/>
                </a:solidFill>
                <a:latin typeface="Calibri"/>
              </a:rPr>
              <a:t>N3IC (NSDI 2022), IIsy (HotNets 2019)</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F2A33"/>
        </a:solidFill>
        <a:effectLst/>
      </p:bgPr>
    </p:bg>
    <p:spTree>
      <p:nvGrpSpPr>
        <p:cNvPr id="1" name=""/>
        <p:cNvGrpSpPr/>
        <p:nvPr/>
      </p:nvGrpSpPr>
      <p:grpSpPr/>
      <p:sp>
        <p:nvSpPr>
          <p:cNvPr id="2" name="TextBox 1"/>
          <p:cNvSpPr txBox="1"/>
          <p:nvPr/>
        </p:nvSpPr>
        <p:spPr>
          <a:xfrm>
            <a:off x="11002975" y="6400800"/>
            <a:ext cx="822960" cy="274320"/>
          </a:xfrm>
          <a:prstGeom prst="rect">
            <a:avLst/>
          </a:prstGeom>
          <a:noFill/>
        </p:spPr>
        <p:txBody>
          <a:bodyPr wrap="square" anchor="t" lIns="45720" rIns="45720">
            <a:spAutoFit/>
          </a:bodyPr>
          <a:lstStyle/>
          <a:p>
            <a:pPr algn="r">
              <a:spcAft>
                <a:spcPts val="400"/>
              </a:spcAft>
            </a:pPr>
            <a:r>
              <a:rPr sz="1100" b="0" i="0">
                <a:solidFill>
                  <a:srgbClr val="9FB3BA"/>
                </a:solidFill>
                <a:latin typeface="Calibri"/>
              </a:rPr>
              <a:t>37</a:t>
            </a:r>
          </a:p>
        </p:txBody>
      </p:sp>
      <p:sp>
        <p:nvSpPr>
          <p:cNvPr id="3" name="Oval 2"/>
          <p:cNvSpPr/>
          <p:nvPr/>
        </p:nvSpPr>
        <p:spPr>
          <a:xfrm>
            <a:off x="548640" y="2148840"/>
            <a:ext cx="914400" cy="9144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3400" b="1" i="0">
                <a:solidFill>
                  <a:srgbClr val="0F2A33"/>
                </a:solidFill>
                <a:latin typeface="Calibri"/>
              </a:rPr>
              <a:t>5</a:t>
            </a:r>
          </a:p>
        </p:txBody>
      </p:sp>
      <p:sp>
        <p:nvSpPr>
          <p:cNvPr id="4" name="TextBox 3"/>
          <p:cNvSpPr txBox="1"/>
          <p:nvPr/>
        </p:nvSpPr>
        <p:spPr>
          <a:xfrm>
            <a:off x="1737360" y="2057400"/>
            <a:ext cx="9601200" cy="1097280"/>
          </a:xfrm>
          <a:prstGeom prst="rect">
            <a:avLst/>
          </a:prstGeom>
          <a:noFill/>
        </p:spPr>
        <p:txBody>
          <a:bodyPr wrap="square" anchor="ctr" lIns="45720" rIns="45720">
            <a:spAutoFit/>
          </a:bodyPr>
          <a:lstStyle/>
          <a:p>
            <a:pPr algn="l">
              <a:spcAft>
                <a:spcPts val="400"/>
              </a:spcAft>
            </a:pPr>
            <a:r>
              <a:rPr sz="4000" b="1" i="0">
                <a:solidFill>
                  <a:srgbClr val="FFFFFF"/>
                </a:solidFill>
                <a:latin typeface="Cambria"/>
              </a:rPr>
              <a:t>Alternatives and next steps</a:t>
            </a:r>
          </a:p>
        </p:txBody>
      </p:sp>
      <p:sp>
        <p:nvSpPr>
          <p:cNvPr id="5" name="TextBox 4"/>
          <p:cNvSpPr txBox="1"/>
          <p:nvPr/>
        </p:nvSpPr>
        <p:spPr>
          <a:xfrm>
            <a:off x="1737360" y="3200400"/>
            <a:ext cx="9144000" cy="1280160"/>
          </a:xfrm>
          <a:prstGeom prst="rect">
            <a:avLst/>
          </a:prstGeom>
          <a:noFill/>
        </p:spPr>
        <p:txBody>
          <a:bodyPr wrap="square" anchor="t" lIns="45720" rIns="45720">
            <a:spAutoFit/>
          </a:bodyPr>
          <a:lstStyle/>
          <a:p>
            <a:pPr algn="l">
              <a:spcAft>
                <a:spcPts val="400"/>
              </a:spcAft>
            </a:pPr>
            <a:r>
              <a:rPr sz="1800" b="0" i="0">
                <a:solidFill>
                  <a:srgbClr val="B9CBD0"/>
                </a:solidFill>
                <a:latin typeface="Calibri"/>
              </a:rPr>
              <a:t>Other neuron models, other ways to build the whole project, and what to do next.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02975" y="6400800"/>
            <a:ext cx="822960" cy="274320"/>
          </a:xfrm>
          <a:prstGeom prst="rect">
            <a:avLst/>
          </a:prstGeom>
          <a:noFill/>
        </p:spPr>
        <p:txBody>
          <a:bodyPr wrap="square" anchor="t" lIns="45720" rIns="45720">
            <a:spAutoFit/>
          </a:bodyPr>
          <a:lstStyle/>
          <a:p>
            <a:pPr algn="r">
              <a:spcAft>
                <a:spcPts val="400"/>
              </a:spcAft>
            </a:pPr>
            <a:r>
              <a:rPr sz="1100" b="0" i="0">
                <a:solidFill>
                  <a:srgbClr val="5F6F78"/>
                </a:solidFill>
                <a:latin typeface="Calibri"/>
              </a:rPr>
              <a:t>38</a:t>
            </a:r>
          </a:p>
        </p:txBody>
      </p:sp>
      <p:sp>
        <p:nvSpPr>
          <p:cNvPr id="3" name="TextBox 2"/>
          <p:cNvSpPr txBox="1"/>
          <p:nvPr/>
        </p:nvSpPr>
        <p:spPr>
          <a:xfrm>
            <a:off x="548640" y="6400800"/>
            <a:ext cx="7315200" cy="274320"/>
          </a:xfrm>
          <a:prstGeom prst="rect">
            <a:avLst/>
          </a:prstGeom>
          <a:noFill/>
        </p:spPr>
        <p:txBody>
          <a:bodyPr wrap="square" anchor="t" lIns="45720" rIns="45720">
            <a:spAutoFit/>
          </a:bodyPr>
          <a:lstStyle/>
          <a:p>
            <a:pPr algn="l">
              <a:spcAft>
                <a:spcPts val="400"/>
              </a:spcAft>
            </a:pPr>
            <a:r>
              <a:rPr sz="1100" b="0" i="0">
                <a:solidFill>
                  <a:srgbClr val="5F6F78"/>
                </a:solidFill>
                <a:latin typeface="Calibri"/>
              </a:rPr>
              <a:t>5  Alternatives and next steps</a:t>
            </a:r>
          </a:p>
        </p:txBody>
      </p:sp>
      <p:sp>
        <p:nvSpPr>
          <p:cNvPr id="4" name="Title"/>
          <p:cNvSpPr txBox="1"/>
          <p:nvPr/>
        </p:nvSpPr>
        <p:spPr>
          <a:xfrm>
            <a:off x="548640" y="320040"/>
            <a:ext cx="11064240" cy="777240"/>
          </a:xfrm>
          <a:prstGeom prst="rect">
            <a:avLst/>
          </a:prstGeom>
          <a:noFill/>
        </p:spPr>
        <p:txBody>
          <a:bodyPr wrap="square" anchor="ctr" lIns="45720" rIns="45720">
            <a:spAutoFit/>
          </a:bodyPr>
          <a:lstStyle/>
          <a:p>
            <a:pPr algn="l">
              <a:spcAft>
                <a:spcPts val="400"/>
              </a:spcAft>
            </a:pPr>
            <a:r>
              <a:rPr sz="3400" b="1" i="0">
                <a:solidFill>
                  <a:srgbClr val="0F2A33"/>
                </a:solidFill>
                <a:latin typeface="Cambria"/>
              </a:rPr>
              <a:t>Alternative neuron models</a:t>
            </a:r>
          </a:p>
        </p:txBody>
      </p:sp>
      <p:graphicFrame>
        <p:nvGraphicFramePr>
          <p:cNvPr id="5" name="Table 4"/>
          <p:cNvGraphicFramePr>
            <a:graphicFrameLocks noGrp="1"/>
          </p:cNvGraphicFramePr>
          <p:nvPr/>
        </p:nvGraphicFramePr>
        <p:xfrm>
          <a:off x="548640" y="1371600"/>
          <a:ext cx="11109960" cy="4224528"/>
        </p:xfrm>
        <a:graphic>
          <a:graphicData uri="http://schemas.openxmlformats.org/drawingml/2006/table">
            <a:tbl>
              <a:tblPr firstRow="1" bandRow="1">
                <a:tableStyleId>{5C22544A-7EE6-4342-B048-85BDC9FD1C3A}</a:tableStyleId>
              </a:tblPr>
              <a:tblGrid>
                <a:gridCol w="2286000"/>
                <a:gridCol w="3291840"/>
                <a:gridCol w="2926080"/>
                <a:gridCol w="2606040"/>
              </a:tblGrid>
              <a:tr h="603504">
                <a:tc>
                  <a:txBody>
                    <a:bodyPr wrap="square"/>
                    <a:lstStyle/>
                    <a:p>
                      <a:r>
                        <a:rPr sz="1400" b="1">
                          <a:solidFill>
                            <a:srgbClr val="FFFFFF"/>
                          </a:solidFill>
                          <a:latin typeface="Calibri"/>
                        </a:rPr>
                        <a:t>neuron</a:t>
                      </a:r>
                    </a:p>
                  </a:txBody>
                  <a:tcPr marL="73152" marR="73152" marT="36576" marB="36576" anchor="ctr">
                    <a:solidFill>
                      <a:srgbClr val="1B4D5C"/>
                    </a:solidFill>
                  </a:tcPr>
                </a:tc>
                <a:tc>
                  <a:txBody>
                    <a:bodyPr wrap="square"/>
                    <a:lstStyle/>
                    <a:p>
                      <a:r>
                        <a:rPr sz="1400" b="1">
                          <a:solidFill>
                            <a:srgbClr val="FFFFFF"/>
                          </a:solidFill>
                          <a:latin typeface="Calibri"/>
                        </a:rPr>
                        <a:t>how it works</a:t>
                      </a:r>
                    </a:p>
                  </a:txBody>
                  <a:tcPr marL="73152" marR="73152" marT="36576" marB="36576" anchor="ctr">
                    <a:solidFill>
                      <a:srgbClr val="1B4D5C"/>
                    </a:solidFill>
                  </a:tcPr>
                </a:tc>
                <a:tc>
                  <a:txBody>
                    <a:bodyPr wrap="square"/>
                    <a:lstStyle/>
                    <a:p>
                      <a:r>
                        <a:rPr sz="1400" b="1">
                          <a:solidFill>
                            <a:srgbClr val="FFFFFF"/>
                          </a:solidFill>
                          <a:latin typeface="Calibri"/>
                        </a:rPr>
                        <a:t>hardware per neuron</a:t>
                      </a:r>
                    </a:p>
                  </a:txBody>
                  <a:tcPr marL="73152" marR="73152" marT="36576" marB="36576" anchor="ctr">
                    <a:solidFill>
                      <a:srgbClr val="1B4D5C"/>
                    </a:solidFill>
                  </a:tcPr>
                </a:tc>
                <a:tc>
                  <a:txBody>
                    <a:bodyPr wrap="square"/>
                    <a:lstStyle/>
                    <a:p>
                      <a:r>
                        <a:rPr sz="1400" b="1">
                          <a:solidFill>
                            <a:srgbClr val="FFFFFF"/>
                          </a:solidFill>
                          <a:latin typeface="Calibri"/>
                        </a:rPr>
                        <a:t>trade-off</a:t>
                      </a:r>
                    </a:p>
                  </a:txBody>
                  <a:tcPr marL="73152" marR="73152" marT="36576" marB="36576" anchor="ctr">
                    <a:solidFill>
                      <a:srgbClr val="1B4D5C"/>
                    </a:solidFill>
                  </a:tcPr>
                </a:tc>
              </a:tr>
              <a:tr h="603504">
                <a:tc>
                  <a:txBody>
                    <a:bodyPr wrap="square"/>
                    <a:lstStyle/>
                    <a:p>
                      <a:r>
                        <a:rPr sz="1400" b="1">
                          <a:solidFill>
                            <a:srgbClr val="0F2A33"/>
                          </a:solidFill>
                          <a:latin typeface="Calibri"/>
                        </a:rPr>
                        <a:t>IF (integrate-and-fire)</a:t>
                      </a:r>
                    </a:p>
                  </a:txBody>
                  <a:tcPr marL="73152" marR="73152" marT="36576" marB="36576" anchor="ctr">
                    <a:solidFill>
                      <a:srgbClr val="FFFFFF"/>
                    </a:solidFill>
                  </a:tcPr>
                </a:tc>
                <a:tc>
                  <a:txBody>
                    <a:bodyPr wrap="square"/>
                    <a:lstStyle/>
                    <a:p>
                      <a:r>
                        <a:rPr sz="1400" b="0">
                          <a:solidFill>
                            <a:srgbClr val="0F2A33"/>
                          </a:solidFill>
                          <a:latin typeface="Calibri"/>
                        </a:rPr>
                        <a:t>like LIF, no leak</a:t>
                      </a:r>
                    </a:p>
                  </a:txBody>
                  <a:tcPr marL="73152" marR="73152" marT="36576" marB="36576" anchor="ctr">
                    <a:solidFill>
                      <a:srgbClr val="FFFFFF"/>
                    </a:solidFill>
                  </a:tcPr>
                </a:tc>
                <a:tc>
                  <a:txBody>
                    <a:bodyPr wrap="square"/>
                    <a:lstStyle/>
                    <a:p>
                      <a:r>
                        <a:rPr sz="1400" b="0">
                          <a:solidFill>
                            <a:srgbClr val="0F2A33"/>
                          </a:solidFill>
                          <a:latin typeface="Calibri"/>
                        </a:rPr>
                        <a:t>1 register, 1 adder, compare</a:t>
                      </a:r>
                    </a:p>
                  </a:txBody>
                  <a:tcPr marL="73152" marR="73152" marT="36576" marB="36576" anchor="ctr">
                    <a:solidFill>
                      <a:srgbClr val="FFFFFF"/>
                    </a:solidFill>
                  </a:tcPr>
                </a:tc>
                <a:tc>
                  <a:txBody>
                    <a:bodyPr wrap="square"/>
                    <a:lstStyle/>
                    <a:p>
                      <a:r>
                        <a:rPr sz="1400" b="0">
                          <a:solidFill>
                            <a:srgbClr val="0F2A33"/>
                          </a:solidFill>
                          <a:latin typeface="Calibri"/>
                        </a:rPr>
                        <a:t>cheapest; forgets nothing, noisier</a:t>
                      </a:r>
                    </a:p>
                  </a:txBody>
                  <a:tcPr marL="73152" marR="73152" marT="36576" marB="36576" anchor="ctr">
                    <a:solidFill>
                      <a:srgbClr val="FFFFFF"/>
                    </a:solidFill>
                  </a:tcPr>
                </a:tc>
              </a:tr>
              <a:tr h="603504">
                <a:tc>
                  <a:txBody>
                    <a:bodyPr wrap="square"/>
                    <a:lstStyle/>
                    <a:p>
                      <a:r>
                        <a:rPr sz="1400" b="1">
                          <a:solidFill>
                            <a:srgbClr val="B5761A"/>
                          </a:solidFill>
                          <a:latin typeface="Calibri"/>
                        </a:rPr>
                        <a:t>LIF (ours)</a:t>
                      </a:r>
                    </a:p>
                  </a:txBody>
                  <a:tcPr marL="73152" marR="73152" marT="36576" marB="36576" anchor="ctr">
                    <a:solidFill>
                      <a:srgbClr val="EAF2F3"/>
                    </a:solidFill>
                  </a:tcPr>
                </a:tc>
                <a:tc>
                  <a:txBody>
                    <a:bodyPr wrap="square"/>
                    <a:lstStyle/>
                    <a:p>
                      <a:r>
                        <a:rPr sz="1400" b="0">
                          <a:solidFill>
                            <a:srgbClr val="0F2A33"/>
                          </a:solidFill>
                          <a:latin typeface="Calibri"/>
                        </a:rPr>
                        <a:t>leak 1/4 per step, fire, reset</a:t>
                      </a:r>
                    </a:p>
                  </a:txBody>
                  <a:tcPr marL="73152" marR="73152" marT="36576" marB="36576" anchor="ctr">
                    <a:solidFill>
                      <a:srgbClr val="EAF2F3"/>
                    </a:solidFill>
                  </a:tcPr>
                </a:tc>
                <a:tc>
                  <a:txBody>
                    <a:bodyPr wrap="square"/>
                    <a:lstStyle/>
                    <a:p>
                      <a:r>
                        <a:rPr sz="1400" b="0">
                          <a:solidFill>
                            <a:srgbClr val="0F2A33"/>
                          </a:solidFill>
                          <a:latin typeface="Calibri"/>
                        </a:rPr>
                        <a:t>register, 2 adders, compare, mux</a:t>
                      </a:r>
                    </a:p>
                  </a:txBody>
                  <a:tcPr marL="73152" marR="73152" marT="36576" marB="36576" anchor="ctr">
                    <a:solidFill>
                      <a:srgbClr val="EAF2F3"/>
                    </a:solidFill>
                  </a:tcPr>
                </a:tc>
                <a:tc>
                  <a:txBody>
                    <a:bodyPr wrap="square"/>
                    <a:lstStyle/>
                    <a:p>
                      <a:r>
                        <a:rPr sz="1400" b="0">
                          <a:solidFill>
                            <a:srgbClr val="0F2A33"/>
                          </a:solidFill>
                          <a:latin typeface="Calibri"/>
                        </a:rPr>
                        <a:t>good balance; standard choice</a:t>
                      </a:r>
                    </a:p>
                  </a:txBody>
                  <a:tcPr marL="73152" marR="73152" marT="36576" marB="36576" anchor="ctr">
                    <a:solidFill>
                      <a:srgbClr val="EAF2F3"/>
                    </a:solidFill>
                  </a:tcPr>
                </a:tc>
              </a:tr>
              <a:tr h="603504">
                <a:tc>
                  <a:txBody>
                    <a:bodyPr wrap="square"/>
                    <a:lstStyle/>
                    <a:p>
                      <a:r>
                        <a:rPr sz="1400" b="1">
                          <a:solidFill>
                            <a:srgbClr val="0F2A33"/>
                          </a:solidFill>
                          <a:latin typeface="Calibri"/>
                        </a:rPr>
                        <a:t>Adaptive LIF (ALIF)</a:t>
                      </a:r>
                    </a:p>
                  </a:txBody>
                  <a:tcPr marL="73152" marR="73152" marT="36576" marB="36576" anchor="ctr">
                    <a:solidFill>
                      <a:srgbClr val="FFFFFF"/>
                    </a:solidFill>
                  </a:tcPr>
                </a:tc>
                <a:tc>
                  <a:txBody>
                    <a:bodyPr wrap="square"/>
                    <a:lstStyle/>
                    <a:p>
                      <a:r>
                        <a:rPr sz="1400" b="0">
                          <a:solidFill>
                            <a:srgbClr val="0F2A33"/>
                          </a:solidFill>
                          <a:latin typeface="Calibri"/>
                        </a:rPr>
                        <a:t>threshold rises after each spike</a:t>
                      </a:r>
                    </a:p>
                  </a:txBody>
                  <a:tcPr marL="73152" marR="73152" marT="36576" marB="36576" anchor="ctr">
                    <a:solidFill>
                      <a:srgbClr val="FFFFFF"/>
                    </a:solidFill>
                  </a:tcPr>
                </a:tc>
                <a:tc>
                  <a:txBody>
                    <a:bodyPr wrap="square"/>
                    <a:lstStyle/>
                    <a:p>
                      <a:r>
                        <a:rPr sz="1400" b="0">
                          <a:solidFill>
                            <a:srgbClr val="0F2A33"/>
                          </a:solidFill>
                          <a:latin typeface="Calibri"/>
                        </a:rPr>
                        <a:t>+ 1 threshold register, + adder</a:t>
                      </a:r>
                    </a:p>
                  </a:txBody>
                  <a:tcPr marL="73152" marR="73152" marT="36576" marB="36576" anchor="ctr">
                    <a:solidFill>
                      <a:srgbClr val="FFFFFF"/>
                    </a:solidFill>
                  </a:tcPr>
                </a:tc>
                <a:tc>
                  <a:txBody>
                    <a:bodyPr wrap="square"/>
                    <a:lstStyle/>
                    <a:p>
                      <a:r>
                        <a:rPr sz="1400" b="0">
                          <a:solidFill>
                            <a:srgbClr val="0F2A33"/>
                          </a:solidFill>
                          <a:latin typeface="Calibri"/>
                        </a:rPr>
                        <a:t>longer memory: slow scans, bursts</a:t>
                      </a:r>
                    </a:p>
                  </a:txBody>
                  <a:tcPr marL="73152" marR="73152" marT="36576" marB="36576" anchor="ctr">
                    <a:solidFill>
                      <a:srgbClr val="FFFFFF"/>
                    </a:solidFill>
                  </a:tcPr>
                </a:tc>
              </a:tr>
              <a:tr h="603504">
                <a:tc>
                  <a:txBody>
                    <a:bodyPr wrap="square"/>
                    <a:lstStyle/>
                    <a:p>
                      <a:r>
                        <a:rPr sz="1400" b="1">
                          <a:solidFill>
                            <a:srgbClr val="0F2A33"/>
                          </a:solidFill>
                          <a:latin typeface="Calibri"/>
                        </a:rPr>
                        <a:t>Time-to-first-spike</a:t>
                      </a:r>
                    </a:p>
                  </a:txBody>
                  <a:tcPr marL="73152" marR="73152" marT="36576" marB="36576" anchor="ctr">
                    <a:solidFill>
                      <a:srgbClr val="EAF2F3"/>
                    </a:solidFill>
                  </a:tcPr>
                </a:tc>
                <a:tc>
                  <a:txBody>
                    <a:bodyPr wrap="square"/>
                    <a:lstStyle/>
                    <a:p>
                      <a:r>
                        <a:rPr sz="1400" b="0">
                          <a:solidFill>
                            <a:srgbClr val="0F2A33"/>
                          </a:solidFill>
                          <a:latin typeface="Calibri"/>
                        </a:rPr>
                        <a:t>information in WHEN a neuron fires (1 spike max)</a:t>
                      </a:r>
                    </a:p>
                  </a:txBody>
                  <a:tcPr marL="73152" marR="73152" marT="36576" marB="36576" anchor="ctr">
                    <a:solidFill>
                      <a:srgbClr val="EAF2F3"/>
                    </a:solidFill>
                  </a:tcPr>
                </a:tc>
                <a:tc>
                  <a:txBody>
                    <a:bodyPr wrap="square"/>
                    <a:lstStyle/>
                    <a:p>
                      <a:r>
                        <a:rPr sz="1400" b="0">
                          <a:solidFill>
                            <a:srgbClr val="0F2A33"/>
                          </a:solidFill>
                          <a:latin typeface="Calibri"/>
                        </a:rPr>
                        <a:t>LIF + a timer</a:t>
                      </a:r>
                    </a:p>
                  </a:txBody>
                  <a:tcPr marL="73152" marR="73152" marT="36576" marB="36576" anchor="ctr">
                    <a:solidFill>
                      <a:srgbClr val="EAF2F3"/>
                    </a:solidFill>
                  </a:tcPr>
                </a:tc>
                <a:tc>
                  <a:txBody>
                    <a:bodyPr wrap="square"/>
                    <a:lstStyle/>
                    <a:p>
                      <a:r>
                        <a:rPr sz="1400" b="0">
                          <a:solidFill>
                            <a:srgbClr val="0F2A33"/>
                          </a:solidFill>
                          <a:latin typeface="Calibri"/>
                        </a:rPr>
                        <a:t>fewer events, lower power (Zhou &amp; Li 2020)</a:t>
                      </a:r>
                    </a:p>
                  </a:txBody>
                  <a:tcPr marL="73152" marR="73152" marT="36576" marB="36576" anchor="ctr">
                    <a:solidFill>
                      <a:srgbClr val="EAF2F3"/>
                    </a:solidFill>
                  </a:tcPr>
                </a:tc>
              </a:tr>
              <a:tr h="603504">
                <a:tc>
                  <a:txBody>
                    <a:bodyPr wrap="square"/>
                    <a:lstStyle/>
                    <a:p>
                      <a:r>
                        <a:rPr sz="1400" b="1">
                          <a:solidFill>
                            <a:srgbClr val="0F2A33"/>
                          </a:solidFill>
                          <a:latin typeface="Calibri"/>
                        </a:rPr>
                        <a:t>Izhikevich</a:t>
                      </a:r>
                    </a:p>
                  </a:txBody>
                  <a:tcPr marL="73152" marR="73152" marT="36576" marB="36576" anchor="ctr">
                    <a:solidFill>
                      <a:srgbClr val="FFFFFF"/>
                    </a:solidFill>
                  </a:tcPr>
                </a:tc>
                <a:tc>
                  <a:txBody>
                    <a:bodyPr wrap="square"/>
                    <a:lstStyle/>
                    <a:p>
                      <a:r>
                        <a:rPr sz="1400" b="0">
                          <a:solidFill>
                            <a:srgbClr val="0F2A33"/>
                          </a:solidFill>
                          <a:latin typeface="Calibri"/>
                        </a:rPr>
                        <a:t>2 coupled variables, quadratic</a:t>
                      </a:r>
                    </a:p>
                  </a:txBody>
                  <a:tcPr marL="73152" marR="73152" marT="36576" marB="36576" anchor="ctr">
                    <a:solidFill>
                      <a:srgbClr val="FFFFFF"/>
                    </a:solidFill>
                  </a:tcPr>
                </a:tc>
                <a:tc>
                  <a:txBody>
                    <a:bodyPr wrap="square"/>
                    <a:lstStyle/>
                    <a:p>
                      <a:r>
                        <a:rPr sz="1400" b="0">
                          <a:solidFill>
                            <a:srgbClr val="0F2A33"/>
                          </a:solidFill>
                          <a:latin typeface="Calibri"/>
                        </a:rPr>
                        <a:t>multipliers, 2 registers</a:t>
                      </a:r>
                    </a:p>
                  </a:txBody>
                  <a:tcPr marL="73152" marR="73152" marT="36576" marB="36576" anchor="ctr">
                    <a:solidFill>
                      <a:srgbClr val="FFFFFF"/>
                    </a:solidFill>
                  </a:tcPr>
                </a:tc>
                <a:tc>
                  <a:txBody>
                    <a:bodyPr wrap="square"/>
                    <a:lstStyle/>
                    <a:p>
                      <a:r>
                        <a:rPr sz="1400" b="0">
                          <a:solidFill>
                            <a:srgbClr val="0F2A33"/>
                          </a:solidFill>
                          <a:latin typeface="Calibri"/>
                        </a:rPr>
                        <a:t>rich behaviour, much bigger</a:t>
                      </a:r>
                    </a:p>
                  </a:txBody>
                  <a:tcPr marL="73152" marR="73152" marT="36576" marB="36576" anchor="ctr">
                    <a:solidFill>
                      <a:srgbClr val="FFFFFF"/>
                    </a:solidFill>
                  </a:tcPr>
                </a:tc>
              </a:tr>
              <a:tr h="603504">
                <a:tc>
                  <a:txBody>
                    <a:bodyPr wrap="square"/>
                    <a:lstStyle/>
                    <a:p>
                      <a:r>
                        <a:rPr sz="1400" b="1">
                          <a:solidFill>
                            <a:srgbClr val="0F2A33"/>
                          </a:solidFill>
                          <a:latin typeface="Calibri"/>
                        </a:rPr>
                        <a:t>Binary MLP neuron (not spiking)</a:t>
                      </a:r>
                    </a:p>
                  </a:txBody>
                  <a:tcPr marL="73152" marR="73152" marT="36576" marB="36576" anchor="ctr">
                    <a:solidFill>
                      <a:srgbClr val="EAF2F3"/>
                    </a:solidFill>
                  </a:tcPr>
                </a:tc>
                <a:tc>
                  <a:txBody>
                    <a:bodyPr wrap="square"/>
                    <a:lstStyle/>
                    <a:p>
                      <a:r>
                        <a:rPr sz="1400" b="0">
                          <a:solidFill>
                            <a:srgbClr val="0F2A33"/>
                          </a:solidFill>
                          <a:latin typeface="Calibri"/>
                        </a:rPr>
                        <a:t>XNOR + popcount, one pass</a:t>
                      </a:r>
                    </a:p>
                  </a:txBody>
                  <a:tcPr marL="73152" marR="73152" marT="36576" marB="36576" anchor="ctr">
                    <a:solidFill>
                      <a:srgbClr val="EAF2F3"/>
                    </a:solidFill>
                  </a:tcPr>
                </a:tc>
                <a:tc>
                  <a:txBody>
                    <a:bodyPr wrap="square"/>
                    <a:lstStyle/>
                    <a:p>
                      <a:r>
                        <a:rPr sz="1400" b="0">
                          <a:solidFill>
                            <a:srgbClr val="0F2A33"/>
                          </a:solidFill>
                          <a:latin typeface="Calibri"/>
                        </a:rPr>
                        <a:t>popcount tree, no state</a:t>
                      </a:r>
                    </a:p>
                  </a:txBody>
                  <a:tcPr marL="73152" marR="73152" marT="36576" marB="36576" anchor="ctr">
                    <a:solidFill>
                      <a:srgbClr val="EAF2F3"/>
                    </a:solidFill>
                  </a:tcPr>
                </a:tc>
                <a:tc>
                  <a:txBody>
                    <a:bodyPr wrap="square"/>
                    <a:lstStyle/>
                    <a:p>
                      <a:r>
                        <a:rPr sz="1400" b="0">
                          <a:solidFill>
                            <a:srgbClr val="0F2A33"/>
                          </a:solidFill>
                          <a:latin typeface="Calibri"/>
                        </a:rPr>
                        <a:t>fast one-pass alternative (N3IC style)</a:t>
                      </a:r>
                    </a:p>
                  </a:txBody>
                  <a:tcPr marL="73152" marR="73152" marT="36576" marB="36576" anchor="ctr">
                    <a:solidFill>
                      <a:srgbClr val="EAF2F3"/>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02975" y="6400800"/>
            <a:ext cx="822960" cy="274320"/>
          </a:xfrm>
          <a:prstGeom prst="rect">
            <a:avLst/>
          </a:prstGeom>
          <a:noFill/>
        </p:spPr>
        <p:txBody>
          <a:bodyPr wrap="square" anchor="t" lIns="45720" rIns="45720">
            <a:spAutoFit/>
          </a:bodyPr>
          <a:lstStyle/>
          <a:p>
            <a:pPr algn="r">
              <a:spcAft>
                <a:spcPts val="400"/>
              </a:spcAft>
            </a:pPr>
            <a:r>
              <a:rPr sz="1100" b="0" i="0">
                <a:solidFill>
                  <a:srgbClr val="5F6F78"/>
                </a:solidFill>
                <a:latin typeface="Calibri"/>
              </a:rPr>
              <a:t>39</a:t>
            </a:r>
          </a:p>
        </p:txBody>
      </p:sp>
      <p:sp>
        <p:nvSpPr>
          <p:cNvPr id="3" name="TextBox 2"/>
          <p:cNvSpPr txBox="1"/>
          <p:nvPr/>
        </p:nvSpPr>
        <p:spPr>
          <a:xfrm>
            <a:off x="548640" y="6400800"/>
            <a:ext cx="7315200" cy="274320"/>
          </a:xfrm>
          <a:prstGeom prst="rect">
            <a:avLst/>
          </a:prstGeom>
          <a:noFill/>
        </p:spPr>
        <p:txBody>
          <a:bodyPr wrap="square" anchor="t" lIns="45720" rIns="45720">
            <a:spAutoFit/>
          </a:bodyPr>
          <a:lstStyle/>
          <a:p>
            <a:pPr algn="l">
              <a:spcAft>
                <a:spcPts val="400"/>
              </a:spcAft>
            </a:pPr>
            <a:r>
              <a:rPr sz="1100" b="0" i="0">
                <a:solidFill>
                  <a:srgbClr val="5F6F78"/>
                </a:solidFill>
                <a:latin typeface="Calibri"/>
              </a:rPr>
              <a:t>5  Alternatives and next steps</a:t>
            </a:r>
          </a:p>
        </p:txBody>
      </p:sp>
      <p:sp>
        <p:nvSpPr>
          <p:cNvPr id="4" name="Title"/>
          <p:cNvSpPr txBox="1"/>
          <p:nvPr/>
        </p:nvSpPr>
        <p:spPr>
          <a:xfrm>
            <a:off x="548640" y="320040"/>
            <a:ext cx="11064240" cy="777240"/>
          </a:xfrm>
          <a:prstGeom prst="rect">
            <a:avLst/>
          </a:prstGeom>
          <a:noFill/>
        </p:spPr>
        <p:txBody>
          <a:bodyPr wrap="square" anchor="ctr" lIns="45720" rIns="45720">
            <a:spAutoFit/>
          </a:bodyPr>
          <a:lstStyle/>
          <a:p>
            <a:pPr algn="l">
              <a:spcAft>
                <a:spcPts val="400"/>
              </a:spcAft>
            </a:pPr>
            <a:r>
              <a:rPr sz="3400" b="1" i="0">
                <a:solidFill>
                  <a:srgbClr val="0F2A33"/>
                </a:solidFill>
                <a:latin typeface="Cambria"/>
              </a:rPr>
              <a:t>Alternative project architectures</a:t>
            </a:r>
          </a:p>
        </p:txBody>
      </p:sp>
      <p:sp>
        <p:nvSpPr>
          <p:cNvPr id="5" name="Rounded Rectangle 4"/>
          <p:cNvSpPr/>
          <p:nvPr/>
        </p:nvSpPr>
        <p:spPr>
          <a:xfrm>
            <a:off x="548640" y="1463040"/>
            <a:ext cx="3566160" cy="214884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6" name="Oval 5"/>
          <p:cNvSpPr/>
          <p:nvPr/>
        </p:nvSpPr>
        <p:spPr>
          <a:xfrm>
            <a:off x="731520" y="1645920"/>
            <a:ext cx="457200" cy="457200"/>
          </a:xfrm>
          <a:prstGeom prst="ellipse">
            <a:avLst/>
          </a:prstGeom>
          <a:solidFill>
            <a:srgbClr val="1B99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600" b="1" i="0">
                <a:solidFill>
                  <a:srgbClr val="FFFFFF"/>
                </a:solidFill>
                <a:latin typeface="Calibri"/>
              </a:rPr>
              <a:t>1</a:t>
            </a:r>
          </a:p>
        </p:txBody>
      </p:sp>
      <p:sp>
        <p:nvSpPr>
          <p:cNvPr id="7" name="TextBox 6"/>
          <p:cNvSpPr txBox="1"/>
          <p:nvPr/>
        </p:nvSpPr>
        <p:spPr>
          <a:xfrm>
            <a:off x="1325880" y="1645920"/>
            <a:ext cx="2606039" cy="502920"/>
          </a:xfrm>
          <a:prstGeom prst="rect">
            <a:avLst/>
          </a:prstGeom>
          <a:noFill/>
        </p:spPr>
        <p:txBody>
          <a:bodyPr wrap="square" anchor="ctr" lIns="45720" rIns="45720">
            <a:spAutoFit/>
          </a:bodyPr>
          <a:lstStyle/>
          <a:p>
            <a:pPr algn="l">
              <a:spcAft>
                <a:spcPts val="400"/>
              </a:spcAft>
            </a:pPr>
            <a:r>
              <a:rPr sz="1700" b="1" i="0">
                <a:solidFill>
                  <a:srgbClr val="0F2A33"/>
                </a:solidFill>
                <a:latin typeface="Calibri"/>
              </a:rPr>
              <a:t>SRAM + clock gating</a:t>
            </a:r>
          </a:p>
        </p:txBody>
      </p:sp>
      <p:sp>
        <p:nvSpPr>
          <p:cNvPr id="8" name="TextBox 7"/>
          <p:cNvSpPr txBox="1"/>
          <p:nvPr/>
        </p:nvSpPr>
        <p:spPr>
          <a:xfrm>
            <a:off x="777240" y="2240280"/>
            <a:ext cx="3154679" cy="1234440"/>
          </a:xfrm>
          <a:prstGeom prst="rect">
            <a:avLst/>
          </a:prstGeom>
          <a:noFill/>
        </p:spPr>
        <p:txBody>
          <a:bodyPr wrap="square" anchor="t" lIns="45720" rIns="45720">
            <a:spAutoFit/>
          </a:bodyPr>
          <a:lstStyle/>
          <a:p>
            <a:pPr algn="l">
              <a:spcAft>
                <a:spcPts val="400"/>
              </a:spcAft>
            </a:pPr>
            <a:r>
              <a:rPr sz="1500" b="0" i="0">
                <a:solidFill>
                  <a:srgbClr val="0F2A33"/>
                </a:solidFill>
                <a:latin typeface="Calibri"/>
              </a:rPr>
              <a:t>same design, memories in SRAM, weights clock-gated: about −40 to −65 % area and a large power cut</a:t>
            </a:r>
          </a:p>
        </p:txBody>
      </p:sp>
      <p:sp>
        <p:nvSpPr>
          <p:cNvPr id="9" name="Rounded Rectangle 8"/>
          <p:cNvSpPr/>
          <p:nvPr/>
        </p:nvSpPr>
        <p:spPr>
          <a:xfrm>
            <a:off x="4297679" y="1463040"/>
            <a:ext cx="3566160" cy="214884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0" name="Oval 9"/>
          <p:cNvSpPr/>
          <p:nvPr/>
        </p:nvSpPr>
        <p:spPr>
          <a:xfrm>
            <a:off x="4480559" y="1645920"/>
            <a:ext cx="457200" cy="457200"/>
          </a:xfrm>
          <a:prstGeom prst="ellipse">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600" b="1" i="0">
                <a:solidFill>
                  <a:srgbClr val="FFFFFF"/>
                </a:solidFill>
                <a:latin typeface="Calibri"/>
              </a:rPr>
              <a:t>2</a:t>
            </a:r>
          </a:p>
        </p:txBody>
      </p:sp>
      <p:sp>
        <p:nvSpPr>
          <p:cNvPr id="11" name="TextBox 10"/>
          <p:cNvSpPr txBox="1"/>
          <p:nvPr/>
        </p:nvSpPr>
        <p:spPr>
          <a:xfrm>
            <a:off x="5074919" y="1645920"/>
            <a:ext cx="2606040" cy="502920"/>
          </a:xfrm>
          <a:prstGeom prst="rect">
            <a:avLst/>
          </a:prstGeom>
          <a:noFill/>
        </p:spPr>
        <p:txBody>
          <a:bodyPr wrap="square" anchor="ctr" lIns="45720" rIns="45720">
            <a:spAutoFit/>
          </a:bodyPr>
          <a:lstStyle/>
          <a:p>
            <a:pPr algn="l">
              <a:spcAft>
                <a:spcPts val="400"/>
              </a:spcAft>
            </a:pPr>
            <a:r>
              <a:rPr sz="1700" b="1" i="0">
                <a:solidFill>
                  <a:srgbClr val="0F2A33"/>
                </a:solidFill>
                <a:latin typeface="Calibri"/>
              </a:rPr>
              <a:t>Time-multiplexed neuron</a:t>
            </a:r>
          </a:p>
        </p:txBody>
      </p:sp>
      <p:sp>
        <p:nvSpPr>
          <p:cNvPr id="12" name="TextBox 11"/>
          <p:cNvSpPr txBox="1"/>
          <p:nvPr/>
        </p:nvSpPr>
        <p:spPr>
          <a:xfrm>
            <a:off x="4526279" y="2240280"/>
            <a:ext cx="3154679" cy="1234440"/>
          </a:xfrm>
          <a:prstGeom prst="rect">
            <a:avLst/>
          </a:prstGeom>
          <a:noFill/>
        </p:spPr>
        <p:txBody>
          <a:bodyPr wrap="square" anchor="t" lIns="45720" rIns="45720">
            <a:spAutoFit/>
          </a:bodyPr>
          <a:lstStyle/>
          <a:p>
            <a:pPr algn="l">
              <a:spcAft>
                <a:spcPts val="400"/>
              </a:spcAft>
            </a:pPr>
            <a:r>
              <a:rPr sz="1500" b="0" i="0">
                <a:solidFill>
                  <a:srgbClr val="0F2A33"/>
                </a:solidFill>
                <a:latin typeface="Calibri"/>
              </a:rPr>
              <a:t>one LIF unit reused for all 16 neurons: far smaller, 16× more cycles (lower line rate)</a:t>
            </a:r>
          </a:p>
        </p:txBody>
      </p:sp>
      <p:sp>
        <p:nvSpPr>
          <p:cNvPr id="13" name="Rounded Rectangle 12"/>
          <p:cNvSpPr/>
          <p:nvPr/>
        </p:nvSpPr>
        <p:spPr>
          <a:xfrm>
            <a:off x="8046719" y="1463040"/>
            <a:ext cx="3566160" cy="214884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4" name="Oval 13"/>
          <p:cNvSpPr/>
          <p:nvPr/>
        </p:nvSpPr>
        <p:spPr>
          <a:xfrm>
            <a:off x="8229599" y="1645920"/>
            <a:ext cx="457200" cy="457200"/>
          </a:xfrm>
          <a:prstGeom prst="ellipse">
            <a:avLst/>
          </a:prstGeom>
          <a:solidFill>
            <a:srgbClr val="7A5C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600" b="1" i="0">
                <a:solidFill>
                  <a:srgbClr val="FFFFFF"/>
                </a:solidFill>
                <a:latin typeface="Calibri"/>
              </a:rPr>
              <a:t>3</a:t>
            </a:r>
          </a:p>
        </p:txBody>
      </p:sp>
      <p:sp>
        <p:nvSpPr>
          <p:cNvPr id="15" name="TextBox 14"/>
          <p:cNvSpPr txBox="1"/>
          <p:nvPr/>
        </p:nvSpPr>
        <p:spPr>
          <a:xfrm>
            <a:off x="8823959" y="1645920"/>
            <a:ext cx="2606040" cy="502920"/>
          </a:xfrm>
          <a:prstGeom prst="rect">
            <a:avLst/>
          </a:prstGeom>
          <a:noFill/>
        </p:spPr>
        <p:txBody>
          <a:bodyPr wrap="square" anchor="ctr" lIns="45720" rIns="45720">
            <a:spAutoFit/>
          </a:bodyPr>
          <a:lstStyle/>
          <a:p>
            <a:pPr algn="l">
              <a:spcAft>
                <a:spcPts val="400"/>
              </a:spcAft>
            </a:pPr>
            <a:r>
              <a:rPr sz="1700" b="1" i="0">
                <a:solidFill>
                  <a:srgbClr val="0F2A33"/>
                </a:solidFill>
                <a:latin typeface="Calibri"/>
              </a:rPr>
              <a:t>Flow-level classifier</a:t>
            </a:r>
          </a:p>
        </p:txBody>
      </p:sp>
      <p:sp>
        <p:nvSpPr>
          <p:cNvPr id="16" name="TextBox 15"/>
          <p:cNvSpPr txBox="1"/>
          <p:nvPr/>
        </p:nvSpPr>
        <p:spPr>
          <a:xfrm>
            <a:off x="8275319" y="2240280"/>
            <a:ext cx="3154679" cy="1234440"/>
          </a:xfrm>
          <a:prstGeom prst="rect">
            <a:avLst/>
          </a:prstGeom>
          <a:noFill/>
        </p:spPr>
        <p:txBody>
          <a:bodyPr wrap="square" anchor="t" lIns="45720" rIns="45720">
            <a:spAutoFit/>
          </a:bodyPr>
          <a:lstStyle/>
          <a:p>
            <a:pPr algn="l">
              <a:spcAft>
                <a:spcPts val="400"/>
              </a:spcAft>
            </a:pPr>
            <a:r>
              <a:rPr sz="1500" b="0" i="0">
                <a:solidFill>
                  <a:srgbClr val="0F2A33"/>
                </a:solidFill>
                <a:latin typeface="Calibri"/>
              </a:rPr>
              <a:t>per-flow tables (counts, timings) instead of a 32-frame window: catches slow scans</a:t>
            </a:r>
          </a:p>
        </p:txBody>
      </p:sp>
      <p:sp>
        <p:nvSpPr>
          <p:cNvPr id="17" name="Rounded Rectangle 16"/>
          <p:cNvSpPr/>
          <p:nvPr/>
        </p:nvSpPr>
        <p:spPr>
          <a:xfrm>
            <a:off x="548640" y="3794760"/>
            <a:ext cx="3566160" cy="214884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8" name="Oval 17"/>
          <p:cNvSpPr/>
          <p:nvPr/>
        </p:nvSpPr>
        <p:spPr>
          <a:xfrm>
            <a:off x="731520" y="3977640"/>
            <a:ext cx="457200" cy="4572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600" b="1" i="0">
                <a:solidFill>
                  <a:srgbClr val="0F2A33"/>
                </a:solidFill>
                <a:latin typeface="Calibri"/>
              </a:rPr>
              <a:t>4</a:t>
            </a:r>
          </a:p>
        </p:txBody>
      </p:sp>
      <p:sp>
        <p:nvSpPr>
          <p:cNvPr id="19" name="TextBox 18"/>
          <p:cNvSpPr txBox="1"/>
          <p:nvPr/>
        </p:nvSpPr>
        <p:spPr>
          <a:xfrm>
            <a:off x="1325880" y="3977640"/>
            <a:ext cx="2606039" cy="502920"/>
          </a:xfrm>
          <a:prstGeom prst="rect">
            <a:avLst/>
          </a:prstGeom>
          <a:noFill/>
        </p:spPr>
        <p:txBody>
          <a:bodyPr wrap="square" anchor="ctr" lIns="45720" rIns="45720">
            <a:spAutoFit/>
          </a:bodyPr>
          <a:lstStyle/>
          <a:p>
            <a:pPr algn="l">
              <a:spcAft>
                <a:spcPts val="400"/>
              </a:spcAft>
            </a:pPr>
            <a:r>
              <a:rPr sz="1700" b="1" i="0">
                <a:solidFill>
                  <a:srgbClr val="0F2A33"/>
                </a:solidFill>
                <a:latin typeface="Calibri"/>
              </a:rPr>
              <a:t>Decision trees in the pipeline</a:t>
            </a:r>
          </a:p>
        </p:txBody>
      </p:sp>
      <p:sp>
        <p:nvSpPr>
          <p:cNvPr id="20" name="TextBox 19"/>
          <p:cNvSpPr txBox="1"/>
          <p:nvPr/>
        </p:nvSpPr>
        <p:spPr>
          <a:xfrm>
            <a:off x="777240" y="4572000"/>
            <a:ext cx="3154679" cy="1234440"/>
          </a:xfrm>
          <a:prstGeom prst="rect">
            <a:avLst/>
          </a:prstGeom>
          <a:noFill/>
        </p:spPr>
        <p:txBody>
          <a:bodyPr wrap="square" anchor="t" lIns="45720" rIns="45720">
            <a:spAutoFit/>
          </a:bodyPr>
          <a:lstStyle/>
          <a:p>
            <a:pPr algn="l">
              <a:spcAft>
                <a:spcPts val="400"/>
              </a:spcAft>
            </a:pPr>
            <a:r>
              <a:rPr sz="1500" b="0" i="0">
                <a:solidFill>
                  <a:srgbClr val="0F2A33"/>
                </a:solidFill>
                <a:latin typeface="Calibri"/>
              </a:rPr>
              <a:t>match-action tables as in programmable switches (IIsy, Planter): tiny, very fast, no learning on chip</a:t>
            </a:r>
          </a:p>
        </p:txBody>
      </p:sp>
      <p:sp>
        <p:nvSpPr>
          <p:cNvPr id="21" name="Rounded Rectangle 20"/>
          <p:cNvSpPr/>
          <p:nvPr/>
        </p:nvSpPr>
        <p:spPr>
          <a:xfrm>
            <a:off x="4297679" y="3794760"/>
            <a:ext cx="3566160" cy="214884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2" name="Oval 21"/>
          <p:cNvSpPr/>
          <p:nvPr/>
        </p:nvSpPr>
        <p:spPr>
          <a:xfrm>
            <a:off x="4480559" y="3977640"/>
            <a:ext cx="457200" cy="457200"/>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600" b="1" i="0">
                <a:solidFill>
                  <a:srgbClr val="FFFFFF"/>
                </a:solidFill>
                <a:latin typeface="Calibri"/>
              </a:rPr>
              <a:t>5</a:t>
            </a:r>
          </a:p>
        </p:txBody>
      </p:sp>
      <p:sp>
        <p:nvSpPr>
          <p:cNvPr id="23" name="TextBox 22"/>
          <p:cNvSpPr txBox="1"/>
          <p:nvPr/>
        </p:nvSpPr>
        <p:spPr>
          <a:xfrm>
            <a:off x="5074919" y="3977640"/>
            <a:ext cx="2606040" cy="502920"/>
          </a:xfrm>
          <a:prstGeom prst="rect">
            <a:avLst/>
          </a:prstGeom>
          <a:noFill/>
        </p:spPr>
        <p:txBody>
          <a:bodyPr wrap="square" anchor="ctr" lIns="45720" rIns="45720">
            <a:spAutoFit/>
          </a:bodyPr>
          <a:lstStyle/>
          <a:p>
            <a:pPr algn="l">
              <a:spcAft>
                <a:spcPts val="400"/>
              </a:spcAft>
            </a:pPr>
            <a:r>
              <a:rPr sz="1700" b="1" i="0">
                <a:solidFill>
                  <a:srgbClr val="0F2A33"/>
                </a:solidFill>
                <a:latin typeface="Calibri"/>
              </a:rPr>
              <a:t>On-chip STDP learning</a:t>
            </a:r>
          </a:p>
        </p:txBody>
      </p:sp>
      <p:sp>
        <p:nvSpPr>
          <p:cNvPr id="24" name="TextBox 23"/>
          <p:cNvSpPr txBox="1"/>
          <p:nvPr/>
        </p:nvSpPr>
        <p:spPr>
          <a:xfrm>
            <a:off x="4526279" y="4572000"/>
            <a:ext cx="3154679" cy="1234440"/>
          </a:xfrm>
          <a:prstGeom prst="rect">
            <a:avLst/>
          </a:prstGeom>
          <a:noFill/>
        </p:spPr>
        <p:txBody>
          <a:bodyPr wrap="square" anchor="t" lIns="45720" rIns="45720">
            <a:spAutoFit/>
          </a:bodyPr>
          <a:lstStyle/>
          <a:p>
            <a:pPr algn="l">
              <a:spcAft>
                <a:spcPts val="400"/>
              </a:spcAft>
            </a:pPr>
            <a:r>
              <a:rPr sz="1500" b="0" i="0">
                <a:solidFill>
                  <a:srgbClr val="0F2A33"/>
                </a:solidFill>
                <a:latin typeface="Calibri"/>
              </a:rPr>
              <a:t>adapt weights in the field with spike-timing rules, from the original snn_stdp design</a:t>
            </a:r>
          </a:p>
        </p:txBody>
      </p:sp>
      <p:sp>
        <p:nvSpPr>
          <p:cNvPr id="25" name="Rounded Rectangle 24"/>
          <p:cNvSpPr/>
          <p:nvPr/>
        </p:nvSpPr>
        <p:spPr>
          <a:xfrm>
            <a:off x="8046719" y="3794760"/>
            <a:ext cx="3566160" cy="2148840"/>
          </a:xfrm>
          <a:prstGeom prst="roundRect">
            <a:avLst>
              <a:gd name="adj" fmla="val 12000"/>
            </a:avLst>
          </a:prstGeom>
          <a:solidFill>
            <a:srgbClr val="EA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6" name="Oval 25"/>
          <p:cNvSpPr/>
          <p:nvPr/>
        </p:nvSpPr>
        <p:spPr>
          <a:xfrm>
            <a:off x="8229599" y="3977640"/>
            <a:ext cx="457200" cy="457200"/>
          </a:xfrm>
          <a:prstGeom prst="ellipse">
            <a:avLst/>
          </a:prstGeom>
          <a:solidFill>
            <a:srgbClr val="1B4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600" b="1" i="0">
                <a:solidFill>
                  <a:srgbClr val="FFFFFF"/>
                </a:solidFill>
                <a:latin typeface="Calibri"/>
              </a:rPr>
              <a:t>6</a:t>
            </a:r>
          </a:p>
        </p:txBody>
      </p:sp>
      <p:sp>
        <p:nvSpPr>
          <p:cNvPr id="27" name="TextBox 26"/>
          <p:cNvSpPr txBox="1"/>
          <p:nvPr/>
        </p:nvSpPr>
        <p:spPr>
          <a:xfrm>
            <a:off x="8823959" y="3977640"/>
            <a:ext cx="2606040" cy="502920"/>
          </a:xfrm>
          <a:prstGeom prst="rect">
            <a:avLst/>
          </a:prstGeom>
          <a:noFill/>
        </p:spPr>
        <p:txBody>
          <a:bodyPr wrap="square" anchor="ctr" lIns="45720" rIns="45720">
            <a:spAutoFit/>
          </a:bodyPr>
          <a:lstStyle/>
          <a:p>
            <a:pPr algn="l">
              <a:spcAft>
                <a:spcPts val="400"/>
              </a:spcAft>
            </a:pPr>
            <a:r>
              <a:rPr sz="1700" b="1" i="0">
                <a:solidFill>
                  <a:srgbClr val="0F2A33"/>
                </a:solidFill>
                <a:latin typeface="Calibri"/>
              </a:rPr>
              <a:t>Software baseline</a:t>
            </a:r>
          </a:p>
        </p:txBody>
      </p:sp>
      <p:sp>
        <p:nvSpPr>
          <p:cNvPr id="28" name="TextBox 27"/>
          <p:cNvSpPr txBox="1"/>
          <p:nvPr/>
        </p:nvSpPr>
        <p:spPr>
          <a:xfrm>
            <a:off x="8275319" y="4572000"/>
            <a:ext cx="3154679" cy="1234440"/>
          </a:xfrm>
          <a:prstGeom prst="rect">
            <a:avLst/>
          </a:prstGeom>
          <a:noFill/>
        </p:spPr>
        <p:txBody>
          <a:bodyPr wrap="square" anchor="t" lIns="45720" rIns="45720">
            <a:spAutoFit/>
          </a:bodyPr>
          <a:lstStyle/>
          <a:p>
            <a:pPr algn="l">
              <a:spcAft>
                <a:spcPts val="400"/>
              </a:spcAft>
            </a:pPr>
            <a:r>
              <a:rPr sz="1500" b="0" i="0">
                <a:solidFill>
                  <a:srgbClr val="0F2A33"/>
                </a:solidFill>
                <a:latin typeface="Calibri"/>
              </a:rPr>
              <a:t>the same model in Linux XDP/eBPF on the CPU: a fair yardstick for the hardware's benefit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F2A33"/>
        </a:solidFill>
        <a:effectLst/>
      </p:bgPr>
    </p:bg>
    <p:spTree>
      <p:nvGrpSpPr>
        <p:cNvPr id="1" name=""/>
        <p:cNvGrpSpPr/>
        <p:nvPr/>
      </p:nvGrpSpPr>
      <p:grpSpPr/>
      <p:sp>
        <p:nvSpPr>
          <p:cNvPr id="2" name="TextBox 1"/>
          <p:cNvSpPr txBox="1"/>
          <p:nvPr/>
        </p:nvSpPr>
        <p:spPr>
          <a:xfrm>
            <a:off x="11002975" y="6400800"/>
            <a:ext cx="822960" cy="274320"/>
          </a:xfrm>
          <a:prstGeom prst="rect">
            <a:avLst/>
          </a:prstGeom>
          <a:noFill/>
        </p:spPr>
        <p:txBody>
          <a:bodyPr wrap="square" anchor="t" lIns="45720" rIns="45720">
            <a:spAutoFit/>
          </a:bodyPr>
          <a:lstStyle/>
          <a:p>
            <a:pPr algn="r">
              <a:spcAft>
                <a:spcPts val="400"/>
              </a:spcAft>
            </a:pPr>
            <a:r>
              <a:rPr sz="1100" b="0" i="0">
                <a:solidFill>
                  <a:srgbClr val="9FB3BA"/>
                </a:solidFill>
                <a:latin typeface="Calibri"/>
              </a:rPr>
              <a:t>40</a:t>
            </a:r>
          </a:p>
        </p:txBody>
      </p:sp>
      <p:sp>
        <p:nvSpPr>
          <p:cNvPr id="3" name="TextBox 2"/>
          <p:cNvSpPr txBox="1"/>
          <p:nvPr/>
        </p:nvSpPr>
        <p:spPr>
          <a:xfrm>
            <a:off x="548640" y="457200"/>
            <a:ext cx="10972800" cy="822960"/>
          </a:xfrm>
          <a:prstGeom prst="rect">
            <a:avLst/>
          </a:prstGeom>
          <a:noFill/>
        </p:spPr>
        <p:txBody>
          <a:bodyPr wrap="square" anchor="t" lIns="45720" rIns="45720">
            <a:spAutoFit/>
          </a:bodyPr>
          <a:lstStyle/>
          <a:p>
            <a:pPr algn="l">
              <a:spcAft>
                <a:spcPts val="400"/>
              </a:spcAft>
            </a:pPr>
            <a:r>
              <a:rPr sz="3600" b="1" i="0">
                <a:solidFill>
                  <a:srgbClr val="FFFFFF"/>
                </a:solidFill>
                <a:latin typeface="Cambria"/>
              </a:rPr>
              <a:t>Where we are, and what comes next</a:t>
            </a:r>
          </a:p>
        </p:txBody>
      </p:sp>
      <p:sp>
        <p:nvSpPr>
          <p:cNvPr id="4" name="TextBox 3"/>
          <p:cNvSpPr txBox="1"/>
          <p:nvPr/>
        </p:nvSpPr>
        <p:spPr>
          <a:xfrm>
            <a:off x="548640" y="1463040"/>
            <a:ext cx="5394960" cy="548640"/>
          </a:xfrm>
          <a:prstGeom prst="rect">
            <a:avLst/>
          </a:prstGeom>
          <a:noFill/>
        </p:spPr>
        <p:txBody>
          <a:bodyPr wrap="square" anchor="t" lIns="45720" rIns="45720">
            <a:spAutoFit/>
          </a:bodyPr>
          <a:lstStyle/>
          <a:p>
            <a:pPr algn="l">
              <a:spcAft>
                <a:spcPts val="400"/>
              </a:spcAft>
            </a:pPr>
            <a:r>
              <a:rPr sz="2400" b="1" i="0">
                <a:solidFill>
                  <a:srgbClr val="1B998B"/>
                </a:solidFill>
                <a:latin typeface="Cambria"/>
              </a:rPr>
              <a:t>Done</a:t>
            </a:r>
          </a:p>
        </p:txBody>
      </p:sp>
      <p:sp>
        <p:nvSpPr>
          <p:cNvPr id="5" name="Oval 4"/>
          <p:cNvSpPr/>
          <p:nvPr/>
        </p:nvSpPr>
        <p:spPr>
          <a:xfrm>
            <a:off x="548640" y="2148840"/>
            <a:ext cx="292608" cy="292608"/>
          </a:xfrm>
          <a:prstGeom prst="ellipse">
            <a:avLst/>
          </a:prstGeom>
          <a:solidFill>
            <a:srgbClr val="1B99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800" b="1" i="0">
                <a:solidFill>
                  <a:srgbClr val="0F2A33"/>
                </a:solidFill>
                <a:latin typeface="Calibri"/>
              </a:rPr>
              <a:t/>
            </a:r>
          </a:p>
        </p:txBody>
      </p:sp>
      <p:sp>
        <p:nvSpPr>
          <p:cNvPr id="6" name="TextBox 5"/>
          <p:cNvSpPr txBox="1"/>
          <p:nvPr/>
        </p:nvSpPr>
        <p:spPr>
          <a:xfrm>
            <a:off x="1005840" y="2011680"/>
            <a:ext cx="4846320" cy="822960"/>
          </a:xfrm>
          <a:prstGeom prst="rect">
            <a:avLst/>
          </a:prstGeom>
          <a:noFill/>
        </p:spPr>
        <p:txBody>
          <a:bodyPr wrap="square" anchor="t" lIns="45720" rIns="45720">
            <a:spAutoFit/>
          </a:bodyPr>
          <a:lstStyle/>
          <a:p>
            <a:pPr algn="l">
              <a:spcAft>
                <a:spcPts val="400"/>
              </a:spcAft>
            </a:pPr>
            <a:r>
              <a:rPr sz="1700" b="0" i="0">
                <a:solidFill>
                  <a:srgbClr val="FFFFFF"/>
                </a:solidFill>
                <a:latin typeface="Calibri"/>
              </a:rPr>
              <a:t>SNN design, three hardware targets, all bit-exact</a:t>
            </a:r>
          </a:p>
        </p:txBody>
      </p:sp>
      <p:sp>
        <p:nvSpPr>
          <p:cNvPr id="7" name="Oval 6"/>
          <p:cNvSpPr/>
          <p:nvPr/>
        </p:nvSpPr>
        <p:spPr>
          <a:xfrm>
            <a:off x="548640" y="3108960"/>
            <a:ext cx="292608" cy="292608"/>
          </a:xfrm>
          <a:prstGeom prst="ellipse">
            <a:avLst/>
          </a:prstGeom>
          <a:solidFill>
            <a:srgbClr val="1B99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800" b="1" i="0">
                <a:solidFill>
                  <a:srgbClr val="0F2A33"/>
                </a:solidFill>
                <a:latin typeface="Calibri"/>
              </a:rPr>
              <a:t/>
            </a:r>
          </a:p>
        </p:txBody>
      </p:sp>
      <p:sp>
        <p:nvSpPr>
          <p:cNvPr id="8" name="TextBox 7"/>
          <p:cNvSpPr txBox="1"/>
          <p:nvPr/>
        </p:nvSpPr>
        <p:spPr>
          <a:xfrm>
            <a:off x="1005840" y="2971800"/>
            <a:ext cx="4846320" cy="822960"/>
          </a:xfrm>
          <a:prstGeom prst="rect">
            <a:avLst/>
          </a:prstGeom>
          <a:noFill/>
        </p:spPr>
        <p:txBody>
          <a:bodyPr wrap="square" anchor="t" lIns="45720" rIns="45720">
            <a:spAutoFit/>
          </a:bodyPr>
          <a:lstStyle/>
          <a:p>
            <a:pPr algn="l">
              <a:spcAft>
                <a:spcPts val="400"/>
              </a:spcAft>
            </a:pPr>
            <a:r>
              <a:rPr sz="1700" b="0" i="0">
                <a:solidFill>
                  <a:srgbClr val="FFFFFF"/>
                </a:solidFill>
                <a:latin typeface="Calibri"/>
              </a:rPr>
              <a:t>10/10 functional tests in xrun, Questa, gate level</a:t>
            </a:r>
          </a:p>
        </p:txBody>
      </p:sp>
      <p:sp>
        <p:nvSpPr>
          <p:cNvPr id="9" name="Oval 8"/>
          <p:cNvSpPr/>
          <p:nvPr/>
        </p:nvSpPr>
        <p:spPr>
          <a:xfrm>
            <a:off x="548640" y="4069080"/>
            <a:ext cx="292608" cy="292608"/>
          </a:xfrm>
          <a:prstGeom prst="ellipse">
            <a:avLst/>
          </a:prstGeom>
          <a:solidFill>
            <a:srgbClr val="1B99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800" b="1" i="0">
                <a:solidFill>
                  <a:srgbClr val="0F2A33"/>
                </a:solidFill>
                <a:latin typeface="Calibri"/>
              </a:rPr>
              <a:t/>
            </a:r>
          </a:p>
        </p:txBody>
      </p:sp>
      <p:sp>
        <p:nvSpPr>
          <p:cNvPr id="10" name="TextBox 9"/>
          <p:cNvSpPr txBox="1"/>
          <p:nvPr/>
        </p:nvSpPr>
        <p:spPr>
          <a:xfrm>
            <a:off x="1005840" y="3931920"/>
            <a:ext cx="4846320" cy="822960"/>
          </a:xfrm>
          <a:prstGeom prst="rect">
            <a:avLst/>
          </a:prstGeom>
          <a:noFill/>
        </p:spPr>
        <p:txBody>
          <a:bodyPr wrap="square" anchor="t" lIns="45720" rIns="45720">
            <a:spAutoFit/>
          </a:bodyPr>
          <a:lstStyle/>
          <a:p>
            <a:pPr algn="l">
              <a:spcAft>
                <a:spcPts val="400"/>
              </a:spcAft>
            </a:pPr>
            <a:r>
              <a:rPr sz="1700" b="0" i="0">
                <a:solidFill>
                  <a:srgbClr val="FFFFFF"/>
                </a:solidFill>
                <a:latin typeface="Calibri"/>
              </a:rPr>
              <a:t>sky130 layout: 1.28 mm², 0 DRC / 0 LVS</a:t>
            </a:r>
          </a:p>
        </p:txBody>
      </p:sp>
      <p:sp>
        <p:nvSpPr>
          <p:cNvPr id="11" name="Oval 10"/>
          <p:cNvSpPr/>
          <p:nvPr/>
        </p:nvSpPr>
        <p:spPr>
          <a:xfrm>
            <a:off x="548640" y="5029200"/>
            <a:ext cx="292608" cy="292608"/>
          </a:xfrm>
          <a:prstGeom prst="ellipse">
            <a:avLst/>
          </a:prstGeom>
          <a:solidFill>
            <a:srgbClr val="1B99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800" b="1" i="0">
                <a:solidFill>
                  <a:srgbClr val="0F2A33"/>
                </a:solidFill>
                <a:latin typeface="Calibri"/>
              </a:rPr>
              <a:t/>
            </a:r>
          </a:p>
        </p:txBody>
      </p:sp>
      <p:sp>
        <p:nvSpPr>
          <p:cNvPr id="12" name="TextBox 11"/>
          <p:cNvSpPr txBox="1"/>
          <p:nvPr/>
        </p:nvSpPr>
        <p:spPr>
          <a:xfrm>
            <a:off x="1005840" y="4892040"/>
            <a:ext cx="4846320" cy="822960"/>
          </a:xfrm>
          <a:prstGeom prst="rect">
            <a:avLst/>
          </a:prstGeom>
          <a:noFill/>
        </p:spPr>
        <p:txBody>
          <a:bodyPr wrap="square" anchor="t" lIns="45720" rIns="45720">
            <a:spAutoFit/>
          </a:bodyPr>
          <a:lstStyle/>
          <a:p>
            <a:pPr algn="l">
              <a:spcAft>
                <a:spcPts val="400"/>
              </a:spcAft>
            </a:pPr>
            <a:r>
              <a:rPr sz="1700" b="0" i="0">
                <a:solidFill>
                  <a:srgbClr val="FFFFFF"/>
                </a:solidFill>
                <a:latin typeface="Calibri"/>
              </a:rPr>
              <a:t>Chameleon96 RBF built and running (heartbeat LED)</a:t>
            </a:r>
          </a:p>
        </p:txBody>
      </p:sp>
      <p:sp>
        <p:nvSpPr>
          <p:cNvPr id="13" name="TextBox 12"/>
          <p:cNvSpPr txBox="1"/>
          <p:nvPr/>
        </p:nvSpPr>
        <p:spPr>
          <a:xfrm>
            <a:off x="6263640" y="1463040"/>
            <a:ext cx="5394960" cy="548640"/>
          </a:xfrm>
          <a:prstGeom prst="rect">
            <a:avLst/>
          </a:prstGeom>
          <a:noFill/>
        </p:spPr>
        <p:txBody>
          <a:bodyPr wrap="square" anchor="t" lIns="45720" rIns="45720">
            <a:spAutoFit/>
          </a:bodyPr>
          <a:lstStyle/>
          <a:p>
            <a:pPr algn="l">
              <a:spcAft>
                <a:spcPts val="400"/>
              </a:spcAft>
            </a:pPr>
            <a:r>
              <a:rPr sz="2400" b="1" i="0">
                <a:solidFill>
                  <a:srgbClr val="F2A541"/>
                </a:solidFill>
                <a:latin typeface="Cambria"/>
              </a:rPr>
              <a:t>Next</a:t>
            </a:r>
          </a:p>
        </p:txBody>
      </p:sp>
      <p:sp>
        <p:nvSpPr>
          <p:cNvPr id="14" name="Oval 13"/>
          <p:cNvSpPr/>
          <p:nvPr/>
        </p:nvSpPr>
        <p:spPr>
          <a:xfrm>
            <a:off x="6263640" y="2148840"/>
            <a:ext cx="292608" cy="292608"/>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800" b="1" i="0">
                <a:solidFill>
                  <a:srgbClr val="0F2A33"/>
                </a:solidFill>
                <a:latin typeface="Calibri"/>
              </a:rPr>
              <a:t/>
            </a:r>
          </a:p>
        </p:txBody>
      </p:sp>
      <p:sp>
        <p:nvSpPr>
          <p:cNvPr id="15" name="TextBox 14"/>
          <p:cNvSpPr txBox="1"/>
          <p:nvPr/>
        </p:nvSpPr>
        <p:spPr>
          <a:xfrm>
            <a:off x="6720840" y="2011680"/>
            <a:ext cx="4846320" cy="822960"/>
          </a:xfrm>
          <a:prstGeom prst="rect">
            <a:avLst/>
          </a:prstGeom>
          <a:noFill/>
        </p:spPr>
        <p:txBody>
          <a:bodyPr wrap="square" anchor="t" lIns="45720" rIns="45720">
            <a:spAutoFit/>
          </a:bodyPr>
          <a:lstStyle/>
          <a:p>
            <a:pPr algn="l">
              <a:spcAft>
                <a:spcPts val="400"/>
              </a:spcAft>
            </a:pPr>
            <a:r>
              <a:rPr sz="1700" b="0" i="0">
                <a:solidFill>
                  <a:srgbClr val="FFFFFF"/>
                </a:solidFill>
                <a:latin typeface="Calibri"/>
              </a:rPr>
              <a:t>Board tests: snn_test on the Chameleon96, demo on the Tang Nano 9K</a:t>
            </a:r>
          </a:p>
        </p:txBody>
      </p:sp>
      <p:sp>
        <p:nvSpPr>
          <p:cNvPr id="16" name="Oval 15"/>
          <p:cNvSpPr/>
          <p:nvPr/>
        </p:nvSpPr>
        <p:spPr>
          <a:xfrm>
            <a:off x="6263640" y="3108960"/>
            <a:ext cx="292608" cy="292608"/>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800" b="1" i="0">
                <a:solidFill>
                  <a:srgbClr val="0F2A33"/>
                </a:solidFill>
                <a:latin typeface="Calibri"/>
              </a:rPr>
              <a:t/>
            </a:r>
          </a:p>
        </p:txBody>
      </p:sp>
      <p:sp>
        <p:nvSpPr>
          <p:cNvPr id="17" name="TextBox 16"/>
          <p:cNvSpPr txBox="1"/>
          <p:nvPr/>
        </p:nvSpPr>
        <p:spPr>
          <a:xfrm>
            <a:off x="6720840" y="2971800"/>
            <a:ext cx="4846320" cy="822960"/>
          </a:xfrm>
          <a:prstGeom prst="rect">
            <a:avLst/>
          </a:prstGeom>
          <a:noFill/>
        </p:spPr>
        <p:txBody>
          <a:bodyPr wrap="square" anchor="t" lIns="45720" rIns="45720">
            <a:spAutoFit/>
          </a:bodyPr>
          <a:lstStyle/>
          <a:p>
            <a:pPr algn="l">
              <a:spcAft>
                <a:spcPts val="400"/>
              </a:spcAft>
            </a:pPr>
            <a:r>
              <a:rPr sz="1700" b="0" i="0">
                <a:solidFill>
                  <a:srgbClr val="FFFFFF"/>
                </a:solidFill>
                <a:latin typeface="Calibri"/>
              </a:rPr>
              <a:t>Train and test on real traffic (UNSW-NB15, CIC-IDS2017)</a:t>
            </a:r>
          </a:p>
        </p:txBody>
      </p:sp>
      <p:sp>
        <p:nvSpPr>
          <p:cNvPr id="18" name="Oval 17"/>
          <p:cNvSpPr/>
          <p:nvPr/>
        </p:nvSpPr>
        <p:spPr>
          <a:xfrm>
            <a:off x="6263640" y="4069080"/>
            <a:ext cx="292608" cy="292608"/>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800" b="1" i="0">
                <a:solidFill>
                  <a:srgbClr val="0F2A33"/>
                </a:solidFill>
                <a:latin typeface="Calibri"/>
              </a:rPr>
              <a:t/>
            </a:r>
          </a:p>
        </p:txBody>
      </p:sp>
      <p:sp>
        <p:nvSpPr>
          <p:cNvPr id="19" name="TextBox 18"/>
          <p:cNvSpPr txBox="1"/>
          <p:nvPr/>
        </p:nvSpPr>
        <p:spPr>
          <a:xfrm>
            <a:off x="6720840" y="3931920"/>
            <a:ext cx="4846320" cy="822960"/>
          </a:xfrm>
          <a:prstGeom prst="rect">
            <a:avLst/>
          </a:prstGeom>
          <a:noFill/>
        </p:spPr>
        <p:txBody>
          <a:bodyPr wrap="square" anchor="t" lIns="45720" rIns="45720">
            <a:spAutoFit/>
          </a:bodyPr>
          <a:lstStyle/>
          <a:p>
            <a:pPr algn="l">
              <a:spcAft>
                <a:spcPts val="400"/>
              </a:spcAft>
            </a:pPr>
            <a:r>
              <a:rPr sz="1700" b="0" i="0">
                <a:solidFill>
                  <a:srgbClr val="FFFFFF"/>
                </a:solidFill>
                <a:latin typeface="Calibri"/>
              </a:rPr>
              <a:t>SRAM + clock gating; timing at the slow corner</a:t>
            </a:r>
          </a:p>
        </p:txBody>
      </p:sp>
      <p:sp>
        <p:nvSpPr>
          <p:cNvPr id="20" name="Oval 19"/>
          <p:cNvSpPr/>
          <p:nvPr/>
        </p:nvSpPr>
        <p:spPr>
          <a:xfrm>
            <a:off x="6263640" y="5029200"/>
            <a:ext cx="292608" cy="292608"/>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800" b="1" i="0">
                <a:solidFill>
                  <a:srgbClr val="0F2A33"/>
                </a:solidFill>
                <a:latin typeface="Calibri"/>
              </a:rPr>
              <a:t/>
            </a:r>
          </a:p>
        </p:txBody>
      </p:sp>
      <p:sp>
        <p:nvSpPr>
          <p:cNvPr id="21" name="TextBox 20"/>
          <p:cNvSpPr txBox="1"/>
          <p:nvPr/>
        </p:nvSpPr>
        <p:spPr>
          <a:xfrm>
            <a:off x="6720840" y="4892040"/>
            <a:ext cx="4846320" cy="822960"/>
          </a:xfrm>
          <a:prstGeom prst="rect">
            <a:avLst/>
          </a:prstGeom>
          <a:noFill/>
        </p:spPr>
        <p:txBody>
          <a:bodyPr wrap="square" anchor="t" lIns="45720" rIns="45720">
            <a:spAutoFit/>
          </a:bodyPr>
          <a:lstStyle/>
          <a:p>
            <a:pPr algn="l">
              <a:spcAft>
                <a:spcPts val="400"/>
              </a:spcAft>
            </a:pPr>
            <a:r>
              <a:rPr sz="1700" b="0" i="0">
                <a:solidFill>
                  <a:srgbClr val="FFFFFF"/>
                </a:solidFill>
                <a:latin typeface="Calibri"/>
              </a:rPr>
              <a:t>Cadence 90 nm area / timing / power into the 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