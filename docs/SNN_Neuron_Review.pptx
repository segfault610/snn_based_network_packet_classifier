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t>spikes in 8 steps vs input strength</a:t>
            </a:r>
          </a:p>
        </c:rich>
      </c:tx>
      <c:layout/>
      <c:overlay val="0"/>
    </c:title>
    <c:autoTitleDeleted val="0"/>
    <c:plotArea>
      <c:barChart>
        <c:barDir val="bar"/>
        <c:grouping val="clustered"/>
        <c:varyColors/>
        <c:ser>
          <c:idx val="0"/>
          <c:order val="0"/>
          <c:tx>
            <c:strRef>
              <c:f>Sheet1!$B$1</c:f>
              <c:strCache>
                <c:ptCount val="1"/>
                <c:pt idx="0">
                  <c:v>value</c:v>
                </c:pt>
              </c:strCache>
            </c:strRef>
          </c:tx>
          <c:dPt>
            <c:idx val="0"/>
            <c:spPr>
              <a:solidFill>
                <a:srgbClr val="5F6F78"/>
              </a:solidFill>
            </c:spPr>
          </c:dPt>
          <c:dPt>
            <c:idx val="1"/>
            <c:spPr>
              <a:solidFill>
                <a:srgbClr val="2E86AB"/>
              </a:solidFill>
            </c:spPr>
          </c:dPt>
          <c:dPt>
            <c:idx val="2"/>
            <c:spPr>
              <a:solidFill>
                <a:srgbClr val="7A5C99"/>
              </a:solidFill>
            </c:spPr>
          </c:dPt>
          <c:dPt>
            <c:idx val="3"/>
            <c:spPr>
              <a:solidFill>
                <a:srgbClr val="D1495B"/>
              </a:solidFill>
            </c:spPr>
          </c:dPt>
          <c:cat>
            <c:strRef>
              <c:f>Sheet1!$A$2:$A$5</c:f>
              <c:strCache>
                <c:ptCount val="4"/>
                <c:pt idx="0">
                  <c:v>no input</c:v>
                </c:pt>
                <c:pt idx="1">
                  <c:v>weak</c:v>
                </c:pt>
                <c:pt idx="2">
                  <c:v>medium</c:v>
                </c:pt>
                <c:pt idx="3">
                  <c:v>strong</c:v>
                </c:pt>
              </c:strCache>
            </c:strRef>
          </c:cat>
          <c:val>
            <c:numRef>
              <c:f>Sheet1!$B$2:$B$5</c:f>
              <c:numCache>
                <c:formatCode>General</c:formatCode>
                <c:ptCount val="4"/>
                <c:pt idx="0">
                  <c:v>0</c:v>
                </c:pt>
                <c:pt idx="1">
                  <c:v>2</c:v>
                </c:pt>
                <c:pt idx="2">
                  <c:v>4</c:v>
                </c:pt>
                <c:pt idx="3">
                  <c:v>8</c:v>
                </c:pt>
              </c:numCache>
            </c:numRef>
          </c:val>
        </c:ser>
        <c:dLbls>
          <c:numFmt formatCode="0" sourceLinked="0"/>
          <c:txPr>
            <a:bodyPr/>
            <a:lstStyle/>
            <a:p>
              <a:pPr>
                <a:defRPr sz="1300">
                  <a:solidFill>
                    <a:srgbClr val="0F2A33"/>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9D6DA"/>
            </a:solidFill>
          </a:ln>
        </c:spPr>
        <c:txPr>
          <a:bodyPr/>
          <a:lstStyle/>
          <a:p>
            <a:pPr>
              <a:defRPr sz="1300">
                <a:solidFill>
                  <a:srgbClr val="5F6F78"/>
                </a:solidFill>
              </a:defRPr>
            </a:pPr>
          </a:p>
        </c:txPr>
        <c:crossAx val="-2113994440"/>
        <c:crosses val="autoZero"/>
        <c:auto val="1"/>
        <c:lblAlgn val="ctr"/>
        <c:lblOffset val="100"/>
        <c:noMultiLvlLbl val="0"/>
      </c:catAx>
      <c:valAx>
        <c:axId val="-2113994440"/>
        <c:scaling/>
        <c:delete val="0"/>
        <c:axPos val="b"/>
        <c:majorGridlines>
          <c:spPr>
            <a:ln>
              <a:solidFill>
                <a:srgbClr val="E3EAEC"/>
              </a:solidFill>
            </a:ln>
          </c:spPr>
        </c:majorGridlines>
        <c:majorTickMark val="out"/>
        <c:minorTickMark val="none"/>
        <c:tickLblPos val="nextTo"/>
        <c:spPr>
          <a:ln>
            <a:solidFill>
              <a:srgbClr val="C9D6DA"/>
            </a:solidFill>
          </a:ln>
        </c:spPr>
        <c:txPr>
          <a:bodyPr/>
          <a:lstStyle/>
          <a:p>
            <a:pPr>
              <a:defRPr sz="1300">
                <a:solidFill>
                  <a:srgbClr val="5F6F78"/>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deck. Focus: what a single spiking neuron is, how LIF works, how it is built in hardware, how it compares with other neuron models, and why it fits an in-NIC packet classifier.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build from the bottom: one neuron first, then compare neuron models, then the network, the hardware, and the numbers against the literature.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neuron is a tiny decision unit. A biological neuron collects electrical charge from its inputs and fires a pulse when charged enough. An artificial neuron copies this: inputs times weights, summed, passed through a function.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spiking neuron is the brain-like version. Instead of one number, it works over time and outputs short 1/0 pulses, spikes. Inputs are also spikes. This is what makes the hardware cheap: a weight times a 1-bit spike is just add-the-weight-or-not, no multiplier.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LIF = Leaky Integrate-and-Fire. The leaky bucket: inputs pour charge in (integrate), a quarter drains away each step (leak), and when it crosses the line it tips over (fire) and empties. The fired spike is what goes to the next neuron, not the leaked charge.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numbers: each step v loses a quarter then adds the input current; fire and reset at the threshold. Over 8 steps the number of spikes grows with the input strength: 0 for no/negative input, 2 for weak, 4 for medium, 8 for strong. The spike count is the neuron's output.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neuron as logic: the register holds the charge; a shift (free wiring) and a subtract do the leak; an adder adds the input current; a comparator checks the threshold; a mux resets to 0 on a spike. The green path writes the new charge back each clock. Sixteen of these run in parallel in our chip.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 tool-drawn schematic from Quartus RTL Viewer: snn_core, which holds 16 hidden + 2 output LIF neurons. The teal flip-flop out_mal~reg0 is the register that holds the final verdict bit.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LIF sits between the too-simple IF and the too-expensive Izhikevich. IF has no leak so it never forgets. ALIF adds an adaptive threshold (more memory, +1 register). TTFS fires once and encodes timing (Zhou &amp; Li use temporal coding for intrusion detection). Izhikevich is biologically rich but needs a multiplier. We chose LIF: the standard balance, no multiplier, and it forgets old input.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of three alternatives, side by side: IF is the simplest, LIF adds the leak, Izhikevich needs a multiplier (the red block), which is why it is far larger.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spiking neural network is just many of these neurons wired in layers. Ours is tiny: 64 inputs, 16 hidden LIF neurons, 2 output LIF neurons (benign / malicious). The winner is whichever output fired more over the 8 steps.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application: classify every network packet, from its header, as benign or malicious, inside the network card, before the OS sees it. Why an SNN fits: no multipliers, works only on active inputs, and its built-in memory catches floods.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measured hardware cost. On open-source sky130 the classifier places and routes to 1.28 mm2 and 125 mW at 100 MHz, with zero multipliers. On FPGA it is tiny: 6% of a Cyclone V, 0 DSP blocks. The Cadence 90nm (Genus) numbers are being finalised on the university server.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our approach compares with the literature. Most SNN intrusion-detection work runs off the data path (software or a neuromorphic chip fed by software). Taurus puts ML in a switch but uses non-spiking models. Generic FPGA SNN accelerators target images. Our step: an SNN fused into the NIC datapath, no multipliers, at line rate.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four journal papers and four conference papers, plus the two datasets.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33"/>
        </a:solidFill>
        <a:effectLst/>
      </p:bgPr>
    </p:bg>
    <p:spTree>
      <p:nvGrpSpPr>
        <p:cNvPr id="1" name=""/>
        <p:cNvGrpSpPr/>
        <p:nvPr/>
      </p:nvGrpSpPr>
      <p:grpSpPr/>
      <p:sp>
        <p:nvSpPr>
          <p:cNvPr id="2" name="Oval 1"/>
          <p:cNvSpPr/>
          <p:nvPr/>
        </p:nvSpPr>
        <p:spPr>
          <a:xfrm>
            <a:off x="9509760" y="118872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3" name="Oval 2"/>
          <p:cNvSpPr/>
          <p:nvPr/>
        </p:nvSpPr>
        <p:spPr>
          <a:xfrm>
            <a:off x="10424160" y="1920240"/>
            <a:ext cx="457200" cy="45720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4" name="Oval 3"/>
          <p:cNvSpPr/>
          <p:nvPr/>
        </p:nvSpPr>
        <p:spPr>
          <a:xfrm>
            <a:off x="9784080" y="292608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5" name="Oval 4"/>
          <p:cNvSpPr/>
          <p:nvPr/>
        </p:nvSpPr>
        <p:spPr>
          <a:xfrm>
            <a:off x="10881360" y="3383280"/>
            <a:ext cx="457200" cy="45720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6" name="Oval 5"/>
          <p:cNvSpPr/>
          <p:nvPr/>
        </p:nvSpPr>
        <p:spPr>
          <a:xfrm>
            <a:off x="9235440" y="402336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cxnSp>
        <p:nvCxnSpPr>
          <p:cNvPr id="7" name="Connector 6"/>
          <p:cNvCxnSpPr/>
          <p:nvPr/>
        </p:nvCxnSpPr>
        <p:spPr>
          <a:xfrm>
            <a:off x="9784080" y="1463040"/>
            <a:ext cx="822960" cy="640080"/>
          </a:xfrm>
          <a:prstGeom prst="line">
            <a:avLst/>
          </a:prstGeom>
          <a:ln w="25400">
            <a:solidFill>
              <a:srgbClr val="3E6A7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0058400" y="2103120"/>
            <a:ext cx="548640" cy="1097280"/>
          </a:xfrm>
          <a:prstGeom prst="line">
            <a:avLst/>
          </a:prstGeom>
          <a:ln w="25400">
            <a:solidFill>
              <a:srgbClr val="3E6A7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058400" y="3200400"/>
            <a:ext cx="1005840" cy="365760"/>
          </a:xfrm>
          <a:prstGeom prst="line">
            <a:avLst/>
          </a:prstGeom>
          <a:ln w="25400">
            <a:solidFill>
              <a:srgbClr val="3E6A7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9509760" y="3200400"/>
            <a:ext cx="548640" cy="1097280"/>
          </a:xfrm>
          <a:prstGeom prst="line">
            <a:avLst/>
          </a:prstGeom>
          <a:ln w="25400">
            <a:solidFill>
              <a:srgbClr val="3E6A7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1554480"/>
            <a:ext cx="8412480" cy="1737360"/>
          </a:xfrm>
          <a:prstGeom prst="rect">
            <a:avLst/>
          </a:prstGeom>
          <a:noFill/>
        </p:spPr>
        <p:txBody>
          <a:bodyPr wrap="square" anchor="t" lIns="45720" rIns="45720">
            <a:spAutoFit/>
          </a:bodyPr>
          <a:lstStyle/>
          <a:p>
            <a:pPr algn="l">
              <a:spcAft>
                <a:spcPts val="400"/>
              </a:spcAft>
            </a:pPr>
            <a:r>
              <a:rPr sz="4600" b="1" i="0">
                <a:solidFill>
                  <a:srgbClr val="FFFFFF"/>
                </a:solidFill>
                <a:latin typeface="Cambria"/>
              </a:rPr>
              <a:t>The spiking neuron,</a:t>
            </a:r>
          </a:p>
          <a:p>
            <a:pPr algn="l">
              <a:spcAft>
                <a:spcPts val="400"/>
              </a:spcAft>
            </a:pPr>
            <a:r>
              <a:rPr sz="4600" b="1" i="0">
                <a:solidFill>
                  <a:srgbClr val="FFFFFF"/>
                </a:solidFill>
                <a:latin typeface="Cambria"/>
              </a:rPr>
              <a:t>in hardware</a:t>
            </a:r>
          </a:p>
        </p:txBody>
      </p:sp>
      <p:sp>
        <p:nvSpPr>
          <p:cNvPr id="12" name="TextBox 11"/>
          <p:cNvSpPr txBox="1"/>
          <p:nvPr/>
        </p:nvSpPr>
        <p:spPr>
          <a:xfrm>
            <a:off x="548640" y="3566160"/>
            <a:ext cx="8046720" cy="1097280"/>
          </a:xfrm>
          <a:prstGeom prst="rect">
            <a:avLst/>
          </a:prstGeom>
          <a:noFill/>
        </p:spPr>
        <p:txBody>
          <a:bodyPr wrap="square" anchor="t" lIns="45720" rIns="45720">
            <a:spAutoFit/>
          </a:bodyPr>
          <a:lstStyle/>
          <a:p>
            <a:pPr algn="l">
              <a:spcAft>
                <a:spcPts val="400"/>
              </a:spcAft>
            </a:pPr>
            <a:r>
              <a:rPr sz="2000" b="0" i="0">
                <a:solidFill>
                  <a:srgbClr val="B9CBD0"/>
                </a:solidFill>
                <a:latin typeface="Calibri"/>
              </a:rPr>
              <a:t>What a neuron is, what LIF means, how it is built in logic, and why it fits a line-rate packet classifier</a:t>
            </a:r>
          </a:p>
        </p:txBody>
      </p:sp>
      <p:sp>
        <p:nvSpPr>
          <p:cNvPr id="13" name="TextBox 12"/>
          <p:cNvSpPr txBox="1"/>
          <p:nvPr/>
        </p:nvSpPr>
        <p:spPr>
          <a:xfrm>
            <a:off x="548640" y="5760720"/>
            <a:ext cx="8229600" cy="365760"/>
          </a:xfrm>
          <a:prstGeom prst="rect">
            <a:avLst/>
          </a:prstGeom>
          <a:noFill/>
        </p:spPr>
        <p:txBody>
          <a:bodyPr wrap="square" anchor="t" lIns="45720" rIns="45720">
            <a:spAutoFit/>
          </a:bodyPr>
          <a:lstStyle/>
          <a:p>
            <a:pPr algn="l">
              <a:spcAft>
                <a:spcPts val="400"/>
              </a:spcAft>
            </a:pPr>
            <a:r>
              <a:rPr sz="1400" b="0" i="0">
                <a:solidFill>
                  <a:srgbClr val="8FA8AF"/>
                </a:solidFill>
                <a:latin typeface="Calibri"/>
              </a:rPr>
              <a:t>SNN-based network packet classifier ·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2</a:t>
            </a:r>
          </a:p>
        </p:txBody>
      </p:sp>
      <p:sp>
        <p:nvSpPr>
          <p:cNvPr id="3"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What this review covers</a:t>
            </a:r>
          </a:p>
        </p:txBody>
      </p:sp>
      <p:sp>
        <p:nvSpPr>
          <p:cNvPr id="4" name="Rounded Rectangle 3"/>
          <p:cNvSpPr/>
          <p:nvPr/>
        </p:nvSpPr>
        <p:spPr>
          <a:xfrm>
            <a:off x="548640" y="1645920"/>
            <a:ext cx="2103120" cy="411480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Oval 4"/>
          <p:cNvSpPr/>
          <p:nvPr/>
        </p:nvSpPr>
        <p:spPr>
          <a:xfrm>
            <a:off x="731520" y="1828800"/>
            <a:ext cx="594360" cy="59436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2200" b="1" i="0">
                <a:solidFill>
                  <a:srgbClr val="0F2A33"/>
                </a:solidFill>
                <a:latin typeface="Calibri"/>
              </a:rPr>
              <a:t>1</a:t>
            </a:r>
          </a:p>
        </p:txBody>
      </p:sp>
      <p:sp>
        <p:nvSpPr>
          <p:cNvPr id="6" name="TextBox 5"/>
          <p:cNvSpPr txBox="1"/>
          <p:nvPr/>
        </p:nvSpPr>
        <p:spPr>
          <a:xfrm>
            <a:off x="731520" y="2606040"/>
            <a:ext cx="1783080" cy="822960"/>
          </a:xfrm>
          <a:prstGeom prst="rect">
            <a:avLst/>
          </a:prstGeom>
          <a:noFill/>
        </p:spPr>
        <p:txBody>
          <a:bodyPr wrap="square" anchor="t" lIns="45720" rIns="45720">
            <a:spAutoFit/>
          </a:bodyPr>
          <a:lstStyle/>
          <a:p>
            <a:pPr algn="l">
              <a:spcAft>
                <a:spcPts val="400"/>
              </a:spcAft>
            </a:pPr>
            <a:r>
              <a:rPr sz="1900" b="1" i="0">
                <a:solidFill>
                  <a:srgbClr val="0F2A33"/>
                </a:solidFill>
                <a:latin typeface="Cambria"/>
              </a:rPr>
              <a:t>A neuron</a:t>
            </a:r>
          </a:p>
        </p:txBody>
      </p:sp>
      <p:sp>
        <p:nvSpPr>
          <p:cNvPr id="7" name="TextBox 6"/>
          <p:cNvSpPr txBox="1"/>
          <p:nvPr/>
        </p:nvSpPr>
        <p:spPr>
          <a:xfrm>
            <a:off x="731520" y="3429000"/>
            <a:ext cx="1783080" cy="2103120"/>
          </a:xfrm>
          <a:prstGeom prst="rect">
            <a:avLst/>
          </a:prstGeom>
          <a:noFill/>
        </p:spPr>
        <p:txBody>
          <a:bodyPr wrap="square" anchor="t" lIns="45720" rIns="45720">
            <a:spAutoFit/>
          </a:bodyPr>
          <a:lstStyle/>
          <a:p>
            <a:pPr algn="l">
              <a:spcAft>
                <a:spcPts val="400"/>
              </a:spcAft>
            </a:pPr>
            <a:r>
              <a:rPr sz="1400" b="0" i="0">
                <a:solidFill>
                  <a:srgbClr val="0F2A33"/>
                </a:solidFill>
                <a:latin typeface="Calibri"/>
              </a:rPr>
              <a:t>biological idea → artificial neuron → the spiking neuron</a:t>
            </a:r>
          </a:p>
        </p:txBody>
      </p:sp>
      <p:sp>
        <p:nvSpPr>
          <p:cNvPr id="8" name="Rounded Rectangle 7"/>
          <p:cNvSpPr/>
          <p:nvPr/>
        </p:nvSpPr>
        <p:spPr>
          <a:xfrm>
            <a:off x="2816352" y="1645920"/>
            <a:ext cx="2103120" cy="411480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Oval 8"/>
          <p:cNvSpPr/>
          <p:nvPr/>
        </p:nvSpPr>
        <p:spPr>
          <a:xfrm>
            <a:off x="2999232" y="1828800"/>
            <a:ext cx="594360" cy="59436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2200" b="1" i="0">
                <a:solidFill>
                  <a:srgbClr val="FFFFFF"/>
                </a:solidFill>
                <a:latin typeface="Calibri"/>
              </a:rPr>
              <a:t>2</a:t>
            </a:r>
          </a:p>
        </p:txBody>
      </p:sp>
      <p:sp>
        <p:nvSpPr>
          <p:cNvPr id="10" name="TextBox 9"/>
          <p:cNvSpPr txBox="1"/>
          <p:nvPr/>
        </p:nvSpPr>
        <p:spPr>
          <a:xfrm>
            <a:off x="2999232" y="2606040"/>
            <a:ext cx="1783080" cy="822960"/>
          </a:xfrm>
          <a:prstGeom prst="rect">
            <a:avLst/>
          </a:prstGeom>
          <a:noFill/>
        </p:spPr>
        <p:txBody>
          <a:bodyPr wrap="square" anchor="t" lIns="45720" rIns="45720">
            <a:spAutoFit/>
          </a:bodyPr>
          <a:lstStyle/>
          <a:p>
            <a:pPr algn="l">
              <a:spcAft>
                <a:spcPts val="400"/>
              </a:spcAft>
            </a:pPr>
            <a:r>
              <a:rPr sz="1900" b="1" i="0">
                <a:solidFill>
                  <a:srgbClr val="0F2A33"/>
                </a:solidFill>
                <a:latin typeface="Cambria"/>
              </a:rPr>
              <a:t>LIF</a:t>
            </a:r>
          </a:p>
        </p:txBody>
      </p:sp>
      <p:sp>
        <p:nvSpPr>
          <p:cNvPr id="11" name="TextBox 10"/>
          <p:cNvSpPr txBox="1"/>
          <p:nvPr/>
        </p:nvSpPr>
        <p:spPr>
          <a:xfrm>
            <a:off x="2999232" y="3429000"/>
            <a:ext cx="1783080" cy="2103120"/>
          </a:xfrm>
          <a:prstGeom prst="rect">
            <a:avLst/>
          </a:prstGeom>
          <a:noFill/>
        </p:spPr>
        <p:txBody>
          <a:bodyPr wrap="square" anchor="t" lIns="45720" rIns="45720">
            <a:spAutoFit/>
          </a:bodyPr>
          <a:lstStyle/>
          <a:p>
            <a:pPr algn="l">
              <a:spcAft>
                <a:spcPts val="400"/>
              </a:spcAft>
            </a:pPr>
            <a:r>
              <a:rPr sz="1400" b="0" i="0">
                <a:solidFill>
                  <a:srgbClr val="0F2A33"/>
                </a:solidFill>
                <a:latin typeface="Calibri"/>
              </a:rPr>
              <a:t>leak, integrate, fire; the model our chip uses</a:t>
            </a:r>
          </a:p>
        </p:txBody>
      </p:sp>
      <p:sp>
        <p:nvSpPr>
          <p:cNvPr id="12" name="Rounded Rectangle 11"/>
          <p:cNvSpPr/>
          <p:nvPr/>
        </p:nvSpPr>
        <p:spPr>
          <a:xfrm>
            <a:off x="5084064" y="1645920"/>
            <a:ext cx="2103120" cy="411480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Oval 12"/>
          <p:cNvSpPr/>
          <p:nvPr/>
        </p:nvSpPr>
        <p:spPr>
          <a:xfrm>
            <a:off x="5266944" y="1828800"/>
            <a:ext cx="594360" cy="594360"/>
          </a:xfrm>
          <a:prstGeom prst="ellipse">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2200" b="1" i="0">
                <a:solidFill>
                  <a:srgbClr val="FFFFFF"/>
                </a:solidFill>
                <a:latin typeface="Calibri"/>
              </a:rPr>
              <a:t>3</a:t>
            </a:r>
          </a:p>
        </p:txBody>
      </p:sp>
      <p:sp>
        <p:nvSpPr>
          <p:cNvPr id="14" name="TextBox 13"/>
          <p:cNvSpPr txBox="1"/>
          <p:nvPr/>
        </p:nvSpPr>
        <p:spPr>
          <a:xfrm>
            <a:off x="5266944" y="2606040"/>
            <a:ext cx="1783080" cy="822960"/>
          </a:xfrm>
          <a:prstGeom prst="rect">
            <a:avLst/>
          </a:prstGeom>
          <a:noFill/>
        </p:spPr>
        <p:txBody>
          <a:bodyPr wrap="square" anchor="t" lIns="45720" rIns="45720">
            <a:spAutoFit/>
          </a:bodyPr>
          <a:lstStyle/>
          <a:p>
            <a:pPr algn="l">
              <a:spcAft>
                <a:spcPts val="400"/>
              </a:spcAft>
            </a:pPr>
            <a:r>
              <a:rPr sz="1900" b="1" i="0">
                <a:solidFill>
                  <a:srgbClr val="0F2A33"/>
                </a:solidFill>
                <a:latin typeface="Cambria"/>
              </a:rPr>
              <a:t>In hardware</a:t>
            </a:r>
          </a:p>
        </p:txBody>
      </p:sp>
      <p:sp>
        <p:nvSpPr>
          <p:cNvPr id="15" name="TextBox 14"/>
          <p:cNvSpPr txBox="1"/>
          <p:nvPr/>
        </p:nvSpPr>
        <p:spPr>
          <a:xfrm>
            <a:off x="5266944" y="3429000"/>
            <a:ext cx="1783080" cy="2103120"/>
          </a:xfrm>
          <a:prstGeom prst="rect">
            <a:avLst/>
          </a:prstGeom>
          <a:noFill/>
        </p:spPr>
        <p:txBody>
          <a:bodyPr wrap="square" anchor="t" lIns="45720" rIns="45720">
            <a:spAutoFit/>
          </a:bodyPr>
          <a:lstStyle/>
          <a:p>
            <a:pPr algn="l">
              <a:spcAft>
                <a:spcPts val="400"/>
              </a:spcAft>
            </a:pPr>
            <a:r>
              <a:rPr sz="1400" b="0" i="0">
                <a:solidFill>
                  <a:srgbClr val="0F2A33"/>
                </a:solidFill>
                <a:latin typeface="Calibri"/>
              </a:rPr>
              <a:t>one neuron as a logic diagram; the real RTL</a:t>
            </a:r>
          </a:p>
        </p:txBody>
      </p:sp>
      <p:sp>
        <p:nvSpPr>
          <p:cNvPr id="16" name="Rounded Rectangle 15"/>
          <p:cNvSpPr/>
          <p:nvPr/>
        </p:nvSpPr>
        <p:spPr>
          <a:xfrm>
            <a:off x="7351775" y="1645920"/>
            <a:ext cx="2103120" cy="411480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Oval 16"/>
          <p:cNvSpPr/>
          <p:nvPr/>
        </p:nvSpPr>
        <p:spPr>
          <a:xfrm>
            <a:off x="7534655" y="1828800"/>
            <a:ext cx="594360" cy="594360"/>
          </a:xfrm>
          <a:prstGeom prst="ellipse">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2200" b="1" i="0">
                <a:solidFill>
                  <a:srgbClr val="FFFFFF"/>
                </a:solidFill>
                <a:latin typeface="Calibri"/>
              </a:rPr>
              <a:t>4</a:t>
            </a:r>
          </a:p>
        </p:txBody>
      </p:sp>
      <p:sp>
        <p:nvSpPr>
          <p:cNvPr id="18" name="TextBox 17"/>
          <p:cNvSpPr txBox="1"/>
          <p:nvPr/>
        </p:nvSpPr>
        <p:spPr>
          <a:xfrm>
            <a:off x="7534655" y="2606040"/>
            <a:ext cx="1783080" cy="822960"/>
          </a:xfrm>
          <a:prstGeom prst="rect">
            <a:avLst/>
          </a:prstGeom>
          <a:noFill/>
        </p:spPr>
        <p:txBody>
          <a:bodyPr wrap="square" anchor="t" lIns="45720" rIns="45720">
            <a:spAutoFit/>
          </a:bodyPr>
          <a:lstStyle/>
          <a:p>
            <a:pPr algn="l">
              <a:spcAft>
                <a:spcPts val="400"/>
              </a:spcAft>
            </a:pPr>
            <a:r>
              <a:rPr sz="1900" b="1" i="0">
                <a:solidFill>
                  <a:srgbClr val="0F2A33"/>
                </a:solidFill>
                <a:latin typeface="Cambria"/>
              </a:rPr>
              <a:t>Vs other models</a:t>
            </a:r>
          </a:p>
        </p:txBody>
      </p:sp>
      <p:sp>
        <p:nvSpPr>
          <p:cNvPr id="19" name="TextBox 18"/>
          <p:cNvSpPr txBox="1"/>
          <p:nvPr/>
        </p:nvSpPr>
        <p:spPr>
          <a:xfrm>
            <a:off x="7534655" y="3429000"/>
            <a:ext cx="1783080" cy="2103120"/>
          </a:xfrm>
          <a:prstGeom prst="rect">
            <a:avLst/>
          </a:prstGeom>
          <a:noFill/>
        </p:spPr>
        <p:txBody>
          <a:bodyPr wrap="square" anchor="t" lIns="45720" rIns="45720">
            <a:spAutoFit/>
          </a:bodyPr>
          <a:lstStyle/>
          <a:p>
            <a:pPr algn="l">
              <a:spcAft>
                <a:spcPts val="400"/>
              </a:spcAft>
            </a:pPr>
            <a:r>
              <a:rPr sz="1400" b="0" i="0">
                <a:solidFill>
                  <a:srgbClr val="0F2A33"/>
                </a:solidFill>
                <a:latin typeface="Calibri"/>
              </a:rPr>
              <a:t>IF, ALIF, TTFS, Izhikevich — and why LIF fits</a:t>
            </a:r>
          </a:p>
        </p:txBody>
      </p:sp>
      <p:sp>
        <p:nvSpPr>
          <p:cNvPr id="20" name="Rounded Rectangle 19"/>
          <p:cNvSpPr/>
          <p:nvPr/>
        </p:nvSpPr>
        <p:spPr>
          <a:xfrm>
            <a:off x="9619488" y="1645920"/>
            <a:ext cx="2103120" cy="411480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1" name="Oval 20"/>
          <p:cNvSpPr/>
          <p:nvPr/>
        </p:nvSpPr>
        <p:spPr>
          <a:xfrm>
            <a:off x="9802367" y="1828800"/>
            <a:ext cx="594360" cy="59436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2200" b="1" i="0">
                <a:solidFill>
                  <a:srgbClr val="FFFFFF"/>
                </a:solidFill>
                <a:latin typeface="Calibri"/>
              </a:rPr>
              <a:t>5</a:t>
            </a:r>
          </a:p>
        </p:txBody>
      </p:sp>
      <p:sp>
        <p:nvSpPr>
          <p:cNvPr id="22" name="TextBox 21"/>
          <p:cNvSpPr txBox="1"/>
          <p:nvPr/>
        </p:nvSpPr>
        <p:spPr>
          <a:xfrm>
            <a:off x="9802367" y="2606040"/>
            <a:ext cx="1783080" cy="822960"/>
          </a:xfrm>
          <a:prstGeom prst="rect">
            <a:avLst/>
          </a:prstGeom>
          <a:noFill/>
        </p:spPr>
        <p:txBody>
          <a:bodyPr wrap="square" anchor="t" lIns="45720" rIns="45720">
            <a:spAutoFit/>
          </a:bodyPr>
          <a:lstStyle/>
          <a:p>
            <a:pPr algn="l">
              <a:spcAft>
                <a:spcPts val="400"/>
              </a:spcAft>
            </a:pPr>
            <a:r>
              <a:rPr sz="1900" b="1" i="0">
                <a:solidFill>
                  <a:srgbClr val="0F2A33"/>
                </a:solidFill>
                <a:latin typeface="Cambria"/>
              </a:rPr>
              <a:t>Numbers</a:t>
            </a:r>
          </a:p>
        </p:txBody>
      </p:sp>
      <p:sp>
        <p:nvSpPr>
          <p:cNvPr id="23" name="TextBox 22"/>
          <p:cNvSpPr txBox="1"/>
          <p:nvPr/>
        </p:nvSpPr>
        <p:spPr>
          <a:xfrm>
            <a:off x="9802367" y="3429000"/>
            <a:ext cx="1783080" cy="2103120"/>
          </a:xfrm>
          <a:prstGeom prst="rect">
            <a:avLst/>
          </a:prstGeom>
          <a:noFill/>
        </p:spPr>
        <p:txBody>
          <a:bodyPr wrap="square" anchor="t" lIns="45720" rIns="45720">
            <a:spAutoFit/>
          </a:bodyPr>
          <a:lstStyle/>
          <a:p>
            <a:pPr algn="l">
              <a:spcAft>
                <a:spcPts val="400"/>
              </a:spcAft>
            </a:pPr>
            <a:r>
              <a:rPr sz="1400" b="0" i="0">
                <a:solidFill>
                  <a:srgbClr val="0F2A33"/>
                </a:solidFill>
                <a:latin typeface="Calibri"/>
              </a:rPr>
              <a:t>power &amp; area, compared with the literature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3</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The single neuron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What is a neuron?</a:t>
            </a:r>
          </a:p>
        </p:txBody>
      </p:sp>
      <p:sp>
        <p:nvSpPr>
          <p:cNvPr id="5" name="Subtitle"/>
          <p:cNvSpPr txBox="1"/>
          <p:nvPr/>
        </p:nvSpPr>
        <p:spPr>
          <a:xfrm>
            <a:off x="548640" y="1051560"/>
            <a:ext cx="11064240" cy="411480"/>
          </a:xfrm>
          <a:prstGeom prst="rect">
            <a:avLst/>
          </a:prstGeom>
          <a:noFill/>
        </p:spPr>
        <p:txBody>
          <a:bodyPr wrap="square" anchor="t" lIns="45720" rIns="45720">
            <a:spAutoFit/>
          </a:bodyPr>
          <a:lstStyle/>
          <a:p>
            <a:pPr algn="l">
              <a:spcAft>
                <a:spcPts val="400"/>
              </a:spcAft>
            </a:pPr>
            <a:r>
              <a:rPr sz="1600" b="0" i="1">
                <a:solidFill>
                  <a:srgbClr val="5F6F78"/>
                </a:solidFill>
                <a:latin typeface="Calibri"/>
              </a:rPr>
              <a:t>The basic decision unit of every neural network</a:t>
            </a:r>
          </a:p>
        </p:txBody>
      </p:sp>
      <p:sp>
        <p:nvSpPr>
          <p:cNvPr id="6" name="Rounded Rectangle 5"/>
          <p:cNvSpPr/>
          <p:nvPr/>
        </p:nvSpPr>
        <p:spPr>
          <a:xfrm>
            <a:off x="548640" y="1554480"/>
            <a:ext cx="5394960" cy="429768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822960" y="1737360"/>
            <a:ext cx="4937760" cy="457200"/>
          </a:xfrm>
          <a:prstGeom prst="rect">
            <a:avLst/>
          </a:prstGeom>
          <a:noFill/>
        </p:spPr>
        <p:txBody>
          <a:bodyPr wrap="square" anchor="t" lIns="45720" rIns="45720">
            <a:spAutoFit/>
          </a:bodyPr>
          <a:lstStyle/>
          <a:p>
            <a:pPr algn="l">
              <a:spcAft>
                <a:spcPts val="400"/>
              </a:spcAft>
            </a:pPr>
            <a:r>
              <a:rPr sz="2000" b="1" i="0">
                <a:solidFill>
                  <a:srgbClr val="1B998B"/>
                </a:solidFill>
                <a:latin typeface="Cambria"/>
              </a:rPr>
              <a:t>Biological</a:t>
            </a:r>
          </a:p>
        </p:txBody>
      </p:sp>
      <p:sp>
        <p:nvSpPr>
          <p:cNvPr id="8" name="TextBox 7"/>
          <p:cNvSpPr txBox="1"/>
          <p:nvPr/>
        </p:nvSpPr>
        <p:spPr>
          <a:xfrm>
            <a:off x="822960" y="2286000"/>
            <a:ext cx="4846320" cy="3291840"/>
          </a:xfrm>
          <a:prstGeom prst="rect">
            <a:avLst/>
          </a:prstGeom>
          <a:noFill/>
        </p:spPr>
        <p:txBody>
          <a:bodyPr wrap="square" lIns="45720" rIns="45720">
            <a:spAutoFit/>
          </a:bodyPr>
          <a:lstStyle/>
          <a:p>
            <a:pPr algn="l" marL="274320" indent="-219456">
              <a:spcAft>
                <a:spcPts val="800"/>
              </a:spcAft>
              <a:buClr>
                <a:srgbClr val="F2A541"/>
              </a:buClr>
              <a:buChar char="•"/>
            </a:pPr>
            <a:r>
              <a:rPr sz="1500" b="0" i="0">
                <a:solidFill>
                  <a:srgbClr val="0F2A33"/>
                </a:solidFill>
                <a:latin typeface="Calibri"/>
              </a:rPr>
              <a:t>Dendrites collect electrical charge from other neurons</a:t>
            </a:r>
          </a:p>
          <a:p>
            <a:pPr algn="l" marL="274320" indent="-219456">
              <a:spcAft>
                <a:spcPts val="800"/>
              </a:spcAft>
              <a:buClr>
                <a:srgbClr val="F2A541"/>
              </a:buClr>
              <a:buChar char="•"/>
            </a:pPr>
            <a:r>
              <a:rPr sz="1500" b="0" i="0">
                <a:solidFill>
                  <a:srgbClr val="0F2A33"/>
                </a:solidFill>
                <a:latin typeface="Calibri"/>
              </a:rPr>
              <a:t>The cell body adds it up</a:t>
            </a:r>
          </a:p>
          <a:p>
            <a:pPr algn="l" marL="274320" indent="-219456">
              <a:spcAft>
                <a:spcPts val="800"/>
              </a:spcAft>
              <a:buClr>
                <a:srgbClr val="F2A541"/>
              </a:buClr>
              <a:buChar char="•"/>
            </a:pPr>
            <a:r>
              <a:rPr sz="1500" b="0" i="0">
                <a:solidFill>
                  <a:srgbClr val="0F2A33"/>
                </a:solidFill>
                <a:latin typeface="Calibri"/>
              </a:rPr>
              <a:t>When the charge passes a threshold, the neuron fires a short pulse (a spike) down its axon</a:t>
            </a:r>
          </a:p>
          <a:p>
            <a:pPr algn="l" marL="274320" indent="-219456">
              <a:spcAft>
                <a:spcPts val="800"/>
              </a:spcAft>
              <a:buClr>
                <a:srgbClr val="F2A541"/>
              </a:buClr>
              <a:buChar char="•"/>
            </a:pPr>
            <a:r>
              <a:rPr sz="1500" b="0" i="0">
                <a:solidFill>
                  <a:srgbClr val="0F2A33"/>
                </a:solidFill>
                <a:latin typeface="Calibri"/>
              </a:rPr>
              <a:t>Then it resets and starts again</a:t>
            </a:r>
          </a:p>
        </p:txBody>
      </p:sp>
      <p:sp>
        <p:nvSpPr>
          <p:cNvPr id="9" name="Rounded Rectangle 8"/>
          <p:cNvSpPr/>
          <p:nvPr/>
        </p:nvSpPr>
        <p:spPr>
          <a:xfrm>
            <a:off x="6263640" y="1554480"/>
            <a:ext cx="5394960" cy="429768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6537960" y="1737360"/>
            <a:ext cx="4937760" cy="457200"/>
          </a:xfrm>
          <a:prstGeom prst="rect">
            <a:avLst/>
          </a:prstGeom>
          <a:noFill/>
        </p:spPr>
        <p:txBody>
          <a:bodyPr wrap="square" anchor="t" lIns="45720" rIns="45720">
            <a:spAutoFit/>
          </a:bodyPr>
          <a:lstStyle/>
          <a:p>
            <a:pPr algn="l">
              <a:spcAft>
                <a:spcPts val="400"/>
              </a:spcAft>
            </a:pPr>
            <a:r>
              <a:rPr sz="2000" b="1" i="0">
                <a:solidFill>
                  <a:srgbClr val="2E86AB"/>
                </a:solidFill>
                <a:latin typeface="Cambria"/>
              </a:rPr>
              <a:t>Artificial (what we build)</a:t>
            </a:r>
          </a:p>
        </p:txBody>
      </p:sp>
      <p:sp>
        <p:nvSpPr>
          <p:cNvPr id="11" name="Rounded Rectangle 10"/>
          <p:cNvSpPr/>
          <p:nvPr/>
        </p:nvSpPr>
        <p:spPr>
          <a:xfrm>
            <a:off x="6675120" y="2286000"/>
            <a:ext cx="4663440" cy="731520"/>
          </a:xfrm>
          <a:prstGeom prst="roundRect">
            <a:avLst>
              <a:gd name="adj" fmla="val 12000"/>
            </a:avLst>
          </a:prstGeom>
          <a:solidFill>
            <a:srgbClr val="FFFFFF"/>
          </a:solidFill>
          <a:ln w="25400">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0" i="0">
                <a:solidFill>
                  <a:srgbClr val="0F2A33"/>
                </a:solidFill>
                <a:latin typeface="Cambria"/>
              </a:rPr>
              <a:t>output = f( Σ wᵢ · xᵢ + b )</a:t>
            </a:r>
          </a:p>
        </p:txBody>
      </p:sp>
      <p:sp>
        <p:nvSpPr>
          <p:cNvPr id="12" name="TextBox 11"/>
          <p:cNvSpPr txBox="1"/>
          <p:nvPr/>
        </p:nvSpPr>
        <p:spPr>
          <a:xfrm>
            <a:off x="6537960" y="3200400"/>
            <a:ext cx="4937760" cy="2560320"/>
          </a:xfrm>
          <a:prstGeom prst="rect">
            <a:avLst/>
          </a:prstGeom>
          <a:noFill/>
        </p:spPr>
        <p:txBody>
          <a:bodyPr wrap="square" lIns="45720" rIns="45720">
            <a:spAutoFit/>
          </a:bodyPr>
          <a:lstStyle/>
          <a:p>
            <a:pPr algn="l" marL="274320" indent="-219456">
              <a:spcAft>
                <a:spcPts val="800"/>
              </a:spcAft>
              <a:buClr>
                <a:srgbClr val="F2A541"/>
              </a:buClr>
              <a:buChar char="•"/>
            </a:pPr>
            <a:r>
              <a:rPr sz="1500" b="1" i="0">
                <a:solidFill>
                  <a:srgbClr val="0F2A33"/>
                </a:solidFill>
                <a:latin typeface="Calibri"/>
              </a:rPr>
              <a:t>Inputs xᵢ </a:t>
            </a:r>
            <a:r>
              <a:rPr sz="1500" b="0" i="0">
                <a:solidFill>
                  <a:srgbClr val="0F2A33"/>
                </a:solidFill>
                <a:latin typeface="Calibri"/>
              </a:rPr>
              <a:t>× weights wᵢ, summed</a:t>
            </a:r>
          </a:p>
          <a:p>
            <a:pPr algn="l" marL="274320" indent="-219456">
              <a:spcAft>
                <a:spcPts val="800"/>
              </a:spcAft>
              <a:buClr>
                <a:srgbClr val="F2A541"/>
              </a:buClr>
              <a:buChar char="•"/>
            </a:pPr>
            <a:r>
              <a:rPr sz="1500" b="1" i="0">
                <a:solidFill>
                  <a:srgbClr val="0F2A33"/>
                </a:solidFill>
                <a:latin typeface="Calibri"/>
              </a:rPr>
              <a:t>Weights </a:t>
            </a:r>
            <a:r>
              <a:rPr sz="1500" b="0" i="0">
                <a:solidFill>
                  <a:srgbClr val="0F2A33"/>
                </a:solidFill>
                <a:latin typeface="Calibri"/>
              </a:rPr>
              <a:t>are what training learns</a:t>
            </a:r>
          </a:p>
          <a:p>
            <a:pPr algn="l" marL="274320" indent="-219456">
              <a:spcAft>
                <a:spcPts val="800"/>
              </a:spcAft>
              <a:buClr>
                <a:srgbClr val="F2A541"/>
              </a:buClr>
              <a:buChar char="•"/>
            </a:pPr>
            <a:r>
              <a:rPr sz="1500" b="1" i="0">
                <a:solidFill>
                  <a:srgbClr val="0F2A33"/>
                </a:solidFill>
                <a:latin typeface="Calibri"/>
              </a:rPr>
              <a:t>A function f </a:t>
            </a:r>
            <a:r>
              <a:rPr sz="1500" b="0" i="0">
                <a:solidFill>
                  <a:srgbClr val="0F2A33"/>
                </a:solidFill>
                <a:latin typeface="Calibri"/>
              </a:rPr>
              <a:t>decides the output</a:t>
            </a:r>
          </a:p>
          <a:p>
            <a:pPr algn="l" marL="274320" indent="-219456">
              <a:spcAft>
                <a:spcPts val="800"/>
              </a:spcAft>
              <a:buClr>
                <a:srgbClr val="F2A541"/>
              </a:buClr>
              <a:buChar char="•"/>
            </a:pPr>
            <a:r>
              <a:rPr sz="1500" b="0" i="0">
                <a:solidFill>
                  <a:srgbClr val="0F2A33"/>
                </a:solidFill>
                <a:latin typeface="Calibri"/>
              </a:rPr>
              <a:t>A standard (ANN) neuron outputs one number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4</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The single neuron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The spiking neuron: pulses, not numbers</a:t>
            </a:r>
          </a:p>
        </p:txBody>
      </p:sp>
      <p:sp>
        <p:nvSpPr>
          <p:cNvPr id="5" name="Rounded Rectangle 4"/>
          <p:cNvSpPr/>
          <p:nvPr/>
        </p:nvSpPr>
        <p:spPr>
          <a:xfrm>
            <a:off x="548640" y="1508760"/>
            <a:ext cx="5394960" cy="39319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 name="TextBox 5"/>
          <p:cNvSpPr txBox="1"/>
          <p:nvPr/>
        </p:nvSpPr>
        <p:spPr>
          <a:xfrm>
            <a:off x="822959" y="1691640"/>
            <a:ext cx="4937760" cy="457200"/>
          </a:xfrm>
          <a:prstGeom prst="rect">
            <a:avLst/>
          </a:prstGeom>
          <a:noFill/>
        </p:spPr>
        <p:txBody>
          <a:bodyPr wrap="square" anchor="t" lIns="45720" rIns="45720">
            <a:spAutoFit/>
          </a:bodyPr>
          <a:lstStyle/>
          <a:p>
            <a:pPr algn="l">
              <a:spcAft>
                <a:spcPts val="400"/>
              </a:spcAft>
            </a:pPr>
            <a:r>
              <a:rPr sz="2100" b="1" i="0">
                <a:solidFill>
                  <a:srgbClr val="2E86AB"/>
                </a:solidFill>
                <a:latin typeface="Cambria"/>
              </a:rPr>
              <a:t>Standard neuron</a:t>
            </a:r>
          </a:p>
        </p:txBody>
      </p:sp>
      <p:sp>
        <p:nvSpPr>
          <p:cNvPr id="7" name="TextBox 6"/>
          <p:cNvSpPr txBox="1"/>
          <p:nvPr/>
        </p:nvSpPr>
        <p:spPr>
          <a:xfrm>
            <a:off x="822959" y="2331720"/>
            <a:ext cx="4937760" cy="2926080"/>
          </a:xfrm>
          <a:prstGeom prst="rect">
            <a:avLst/>
          </a:prstGeom>
          <a:noFill/>
        </p:spPr>
        <p:txBody>
          <a:bodyPr wrap="square" lIns="45720" rIns="45720">
            <a:spAutoFit/>
          </a:bodyPr>
          <a:lstStyle/>
          <a:p>
            <a:pPr algn="l" marL="274320" indent="-219456">
              <a:spcAft>
                <a:spcPts val="800"/>
              </a:spcAft>
              <a:buClr>
                <a:srgbClr val="F2A541"/>
              </a:buClr>
              <a:buChar char="•"/>
            </a:pPr>
            <a:r>
              <a:rPr sz="1600" b="0" i="0">
                <a:solidFill>
                  <a:srgbClr val="0F2A33"/>
                </a:solidFill>
                <a:latin typeface="Calibri"/>
              </a:rPr>
              <a:t>Outputs one number (e.g. 0.73)</a:t>
            </a:r>
          </a:p>
          <a:p>
            <a:pPr algn="l" marL="274320" indent="-219456">
              <a:spcAft>
                <a:spcPts val="800"/>
              </a:spcAft>
              <a:buClr>
                <a:srgbClr val="F2A541"/>
              </a:buClr>
              <a:buChar char="•"/>
            </a:pPr>
            <a:r>
              <a:rPr sz="1600" b="0" i="0">
                <a:solidFill>
                  <a:srgbClr val="0F2A33"/>
                </a:solidFill>
                <a:latin typeface="Calibri"/>
              </a:rPr>
              <a:t>Inputs are numbers</a:t>
            </a:r>
          </a:p>
          <a:p>
            <a:pPr algn="l" marL="274320" indent="-219456">
              <a:spcAft>
                <a:spcPts val="800"/>
              </a:spcAft>
              <a:buClr>
                <a:srgbClr val="F2A541"/>
              </a:buClr>
              <a:buChar char="•"/>
            </a:pPr>
            <a:r>
              <a:rPr sz="1600" b="0" i="0">
                <a:solidFill>
                  <a:srgbClr val="0F2A33"/>
                </a:solidFill>
                <a:latin typeface="Calibri"/>
              </a:rPr>
              <a:t>Needs multiplications</a:t>
            </a:r>
          </a:p>
          <a:p>
            <a:pPr algn="l" marL="274320" indent="-219456">
              <a:spcAft>
                <a:spcPts val="800"/>
              </a:spcAft>
              <a:buClr>
                <a:srgbClr val="F2A541"/>
              </a:buClr>
              <a:buChar char="•"/>
            </a:pPr>
            <a:r>
              <a:rPr sz="1600" b="0" i="0">
                <a:solidFill>
                  <a:srgbClr val="0F2A33"/>
                </a:solidFill>
                <a:latin typeface="Calibri"/>
              </a:rPr>
              <a:t>No sense of time / no memory</a:t>
            </a:r>
          </a:p>
        </p:txBody>
      </p:sp>
      <p:sp>
        <p:nvSpPr>
          <p:cNvPr id="8" name="Rounded Rectangle 7"/>
          <p:cNvSpPr/>
          <p:nvPr/>
        </p:nvSpPr>
        <p:spPr>
          <a:xfrm>
            <a:off x="6263640" y="1508760"/>
            <a:ext cx="5394960" cy="39319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TextBox 8"/>
          <p:cNvSpPr txBox="1"/>
          <p:nvPr/>
        </p:nvSpPr>
        <p:spPr>
          <a:xfrm>
            <a:off x="6537959" y="1691640"/>
            <a:ext cx="4937760" cy="457200"/>
          </a:xfrm>
          <a:prstGeom prst="rect">
            <a:avLst/>
          </a:prstGeom>
          <a:noFill/>
        </p:spPr>
        <p:txBody>
          <a:bodyPr wrap="square" anchor="t" lIns="45720" rIns="45720">
            <a:spAutoFit/>
          </a:bodyPr>
          <a:lstStyle/>
          <a:p>
            <a:pPr algn="l">
              <a:spcAft>
                <a:spcPts val="400"/>
              </a:spcAft>
            </a:pPr>
            <a:r>
              <a:rPr sz="2100" b="1" i="0">
                <a:solidFill>
                  <a:srgbClr val="B5761A"/>
                </a:solidFill>
                <a:latin typeface="Cambria"/>
              </a:rPr>
              <a:t>Spiking neuron (ours)</a:t>
            </a:r>
          </a:p>
        </p:txBody>
      </p:sp>
      <p:sp>
        <p:nvSpPr>
          <p:cNvPr id="10" name="TextBox 9"/>
          <p:cNvSpPr txBox="1"/>
          <p:nvPr/>
        </p:nvSpPr>
        <p:spPr>
          <a:xfrm>
            <a:off x="6537959" y="2331720"/>
            <a:ext cx="4937760" cy="2926080"/>
          </a:xfrm>
          <a:prstGeom prst="rect">
            <a:avLst/>
          </a:prstGeom>
          <a:noFill/>
        </p:spPr>
        <p:txBody>
          <a:bodyPr wrap="square" lIns="45720" rIns="45720">
            <a:spAutoFit/>
          </a:bodyPr>
          <a:lstStyle/>
          <a:p>
            <a:pPr algn="l" marL="274320" indent="-219456">
              <a:spcAft>
                <a:spcPts val="800"/>
              </a:spcAft>
              <a:buClr>
                <a:srgbClr val="F2A541"/>
              </a:buClr>
              <a:buChar char="•"/>
            </a:pPr>
            <a:r>
              <a:rPr sz="1600" b="0" i="0">
                <a:solidFill>
                  <a:srgbClr val="0F2A33"/>
                </a:solidFill>
                <a:latin typeface="Calibri"/>
              </a:rPr>
              <a:t>Outputs spikes: 1 or 0 at each time step</a:t>
            </a:r>
          </a:p>
          <a:p>
            <a:pPr algn="l" marL="274320" indent="-219456">
              <a:spcAft>
                <a:spcPts val="800"/>
              </a:spcAft>
              <a:buClr>
                <a:srgbClr val="F2A541"/>
              </a:buClr>
              <a:buChar char="•"/>
            </a:pPr>
            <a:r>
              <a:rPr sz="1600" b="0" i="0">
                <a:solidFill>
                  <a:srgbClr val="0F2A33"/>
                </a:solidFill>
                <a:latin typeface="Calibri"/>
              </a:rPr>
              <a:t>Inputs are spikes too</a:t>
            </a:r>
          </a:p>
          <a:p>
            <a:pPr algn="l" marL="274320" indent="-219456">
              <a:spcAft>
                <a:spcPts val="800"/>
              </a:spcAft>
              <a:buClr>
                <a:srgbClr val="F2A541"/>
              </a:buClr>
              <a:buChar char="•"/>
            </a:pPr>
            <a:r>
              <a:rPr sz="1600" b="0" i="0">
                <a:solidFill>
                  <a:srgbClr val="0F2A33"/>
                </a:solidFill>
                <a:latin typeface="Calibri"/>
              </a:rPr>
              <a:t>Weight × spike = add the weight, or not</a:t>
            </a:r>
          </a:p>
          <a:p>
            <a:pPr algn="l" marL="274320" indent="-219456">
              <a:spcAft>
                <a:spcPts val="800"/>
              </a:spcAft>
              <a:buClr>
                <a:srgbClr val="F2A541"/>
              </a:buClr>
              <a:buChar char="•"/>
            </a:pPr>
            <a:r>
              <a:rPr sz="1600" b="0" i="0">
                <a:solidFill>
                  <a:srgbClr val="0F2A33"/>
                </a:solidFill>
                <a:latin typeface="Calibri"/>
              </a:rPr>
              <a:t>Keeps a charge over time (memory)</a:t>
            </a:r>
          </a:p>
        </p:txBody>
      </p:sp>
      <p:sp>
        <p:nvSpPr>
          <p:cNvPr id="11" name="Rounded Rectangle 10"/>
          <p:cNvSpPr/>
          <p:nvPr/>
        </p:nvSpPr>
        <p:spPr>
          <a:xfrm>
            <a:off x="548640" y="5623560"/>
            <a:ext cx="11109960" cy="640080"/>
          </a:xfrm>
          <a:prstGeom prst="roundRect">
            <a:avLst>
              <a:gd name="adj" fmla="val 12000"/>
            </a:avLst>
          </a:prstGeom>
          <a:solidFill>
            <a:srgbClr val="0F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500" b="1" i="0">
                <a:solidFill>
                  <a:srgbClr val="F2A541"/>
                </a:solidFill>
                <a:latin typeface="Calibri"/>
              </a:rPr>
              <a:t>Key point:  </a:t>
            </a:r>
            <a:r>
              <a:rPr sz="1500" b="0" i="0">
                <a:solidFill>
                  <a:srgbClr val="FFFFFF"/>
                </a:solidFill>
                <a:latin typeface="Calibri"/>
              </a:rPr>
              <a:t>because inputs are 1-bit spikes, a spiking neuron needs NO multipliers — only adders. That is why it is cheap in silicon.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5</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The single neuron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LIF = Leak, Integrate, Fire</a:t>
            </a:r>
          </a:p>
        </p:txBody>
      </p:sp>
      <p:sp>
        <p:nvSpPr>
          <p:cNvPr id="5" name="Subtitle"/>
          <p:cNvSpPr txBox="1"/>
          <p:nvPr/>
        </p:nvSpPr>
        <p:spPr>
          <a:xfrm>
            <a:off x="548640" y="1051560"/>
            <a:ext cx="11064240" cy="411480"/>
          </a:xfrm>
          <a:prstGeom prst="rect">
            <a:avLst/>
          </a:prstGeom>
          <a:noFill/>
        </p:spPr>
        <p:txBody>
          <a:bodyPr wrap="square" anchor="t" lIns="45720" rIns="45720">
            <a:spAutoFit/>
          </a:bodyPr>
          <a:lstStyle/>
          <a:p>
            <a:pPr algn="l">
              <a:spcAft>
                <a:spcPts val="400"/>
              </a:spcAft>
            </a:pPr>
            <a:r>
              <a:rPr sz="1600" b="0" i="1">
                <a:solidFill>
                  <a:srgbClr val="5F6F78"/>
                </a:solidFill>
                <a:latin typeface="Calibri"/>
              </a:rPr>
              <a:t>The neuron model our chip uses, shown as a leaky bucket</a:t>
            </a:r>
          </a:p>
        </p:txBody>
      </p:sp>
      <p:pic>
        <p:nvPicPr>
          <p:cNvPr id="6" name="Picture 5" descr="LIF step 2"/>
          <p:cNvPicPr>
            <a:picLocks noChangeAspect="1"/>
          </p:cNvPicPr>
          <p:nvPr/>
        </p:nvPicPr>
        <p:blipFill>
          <a:blip r:embed="rId3"/>
          <a:stretch>
            <a:fillRect/>
          </a:stretch>
        </p:blipFill>
        <p:spPr>
          <a:xfrm>
            <a:off x="685800" y="1463040"/>
            <a:ext cx="5486400" cy="2457450"/>
          </a:xfrm>
          <a:prstGeom prst="rect">
            <a:avLst/>
          </a:prstGeom>
        </p:spPr>
      </p:pic>
      <p:pic>
        <p:nvPicPr>
          <p:cNvPr id="7" name="Picture 6" descr="LIF step 3"/>
          <p:cNvPicPr>
            <a:picLocks noChangeAspect="1"/>
          </p:cNvPicPr>
          <p:nvPr/>
        </p:nvPicPr>
        <p:blipFill>
          <a:blip r:embed="rId4"/>
          <a:stretch>
            <a:fillRect/>
          </a:stretch>
        </p:blipFill>
        <p:spPr>
          <a:xfrm>
            <a:off x="6400800" y="1463040"/>
            <a:ext cx="5486400" cy="2457450"/>
          </a:xfrm>
          <a:prstGeom prst="rect">
            <a:avLst/>
          </a:prstGeom>
        </p:spPr>
      </p:pic>
      <p:pic>
        <p:nvPicPr>
          <p:cNvPr id="8" name="Picture 7" descr="LIF step 5"/>
          <p:cNvPicPr>
            <a:picLocks noChangeAspect="1"/>
          </p:cNvPicPr>
          <p:nvPr/>
        </p:nvPicPr>
        <p:blipFill>
          <a:blip r:embed="rId5"/>
          <a:stretch>
            <a:fillRect/>
          </a:stretch>
        </p:blipFill>
        <p:spPr>
          <a:xfrm>
            <a:off x="685800" y="3767328"/>
            <a:ext cx="5486400" cy="2457450"/>
          </a:xfrm>
          <a:prstGeom prst="rect">
            <a:avLst/>
          </a:prstGeom>
        </p:spPr>
      </p:pic>
      <p:pic>
        <p:nvPicPr>
          <p:cNvPr id="9" name="Picture 8" descr="LIF step 6"/>
          <p:cNvPicPr>
            <a:picLocks noChangeAspect="1"/>
          </p:cNvPicPr>
          <p:nvPr/>
        </p:nvPicPr>
        <p:blipFill>
          <a:blip r:embed="rId6"/>
          <a:stretch>
            <a:fillRect/>
          </a:stretch>
        </p:blipFill>
        <p:spPr>
          <a:xfrm>
            <a:off x="6400800" y="3767328"/>
            <a:ext cx="5486400" cy="245745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6</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The single neuron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How a LIF neuron behaves</a:t>
            </a:r>
          </a:p>
        </p:txBody>
      </p:sp>
      <p:sp>
        <p:nvSpPr>
          <p:cNvPr id="5" name="Rounded Rectangle 4"/>
          <p:cNvSpPr/>
          <p:nvPr/>
        </p:nvSpPr>
        <p:spPr>
          <a:xfrm>
            <a:off x="548640" y="1554480"/>
            <a:ext cx="5486400" cy="1371600"/>
          </a:xfrm>
          <a:prstGeom prst="roundRect">
            <a:avLst>
              <a:gd name="adj" fmla="val 12000"/>
            </a:avLst>
          </a:prstGeom>
          <a:solidFill>
            <a:srgbClr val="FFFFFF"/>
          </a:solidFill>
          <a:ln w="25400">
            <a:solidFill>
              <a:srgbClr val="7A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2000" b="0" i="0">
                <a:solidFill>
                  <a:srgbClr val="0F2A33"/>
                </a:solidFill>
                <a:latin typeface="Calibri"/>
              </a:rPr>
              <a:t>v ← v − v/4 + I</a:t>
            </a:r>
          </a:p>
          <a:p>
            <a:pPr algn="ctr"/>
            <a:r>
              <a:rPr sz="1800" b="0" i="0">
                <a:solidFill>
                  <a:srgbClr val="0F2A33"/>
                </a:solidFill>
                <a:latin typeface="Calibri"/>
              </a:rPr>
              <a:t>if v ≥ θ:  spike, then v ← 0</a:t>
            </a:r>
          </a:p>
        </p:txBody>
      </p:sp>
      <p:sp>
        <p:nvSpPr>
          <p:cNvPr id="6" name="TextBox 5"/>
          <p:cNvSpPr txBox="1"/>
          <p:nvPr/>
        </p:nvSpPr>
        <p:spPr>
          <a:xfrm>
            <a:off x="548640" y="3063240"/>
            <a:ext cx="5486400" cy="457200"/>
          </a:xfrm>
          <a:prstGeom prst="rect">
            <a:avLst/>
          </a:prstGeom>
          <a:noFill/>
        </p:spPr>
        <p:txBody>
          <a:bodyPr wrap="square" anchor="t" lIns="45720" rIns="45720">
            <a:spAutoFit/>
          </a:bodyPr>
          <a:lstStyle/>
          <a:p>
            <a:pPr algn="l">
              <a:spcAft>
                <a:spcPts val="400"/>
              </a:spcAft>
            </a:pPr>
            <a:r>
              <a:rPr sz="1400" b="0" i="1">
                <a:solidFill>
                  <a:srgbClr val="5F6F78"/>
                </a:solidFill>
                <a:latin typeface="Calibri"/>
              </a:rPr>
              <a:t>leak (÷4) · integrate (+I) · fire &amp; reset, repeated 8 times</a:t>
            </a:r>
          </a:p>
        </p:txBody>
      </p:sp>
      <p:graphicFrame>
        <p:nvGraphicFramePr>
          <p:cNvPr id="7" name="Chart 6"/>
          <p:cNvGraphicFramePr>
            <a:graphicFrameLocks noGrp="1"/>
          </p:cNvGraphicFramePr>
          <p:nvPr/>
        </p:nvGraphicFramePr>
        <p:xfrm>
          <a:off x="457200" y="3566160"/>
          <a:ext cx="5760720" cy="2651760"/>
        </p:xfrm>
        <a:graphic>
          <a:graphicData uri="http://schemas.openxmlformats.org/drawingml/2006/chart">
            <c:chart xmlns:c="http://schemas.openxmlformats.org/drawingml/2006/chart" r:id="rId3"/>
          </a:graphicData>
        </a:graphic>
      </p:graphicFrame>
      <p:sp>
        <p:nvSpPr>
          <p:cNvPr id="8" name="Rounded Rectangle 7"/>
          <p:cNvSpPr/>
          <p:nvPr/>
        </p:nvSpPr>
        <p:spPr>
          <a:xfrm>
            <a:off x="6492240" y="1554480"/>
            <a:ext cx="5166360" cy="46634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TextBox 8"/>
          <p:cNvSpPr txBox="1"/>
          <p:nvPr/>
        </p:nvSpPr>
        <p:spPr>
          <a:xfrm>
            <a:off x="6720840" y="1737360"/>
            <a:ext cx="475488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What this means</a:t>
            </a:r>
          </a:p>
        </p:txBody>
      </p:sp>
      <p:sp>
        <p:nvSpPr>
          <p:cNvPr id="10" name="TextBox 9"/>
          <p:cNvSpPr txBox="1"/>
          <p:nvPr/>
        </p:nvSpPr>
        <p:spPr>
          <a:xfrm>
            <a:off x="6720840" y="2331720"/>
            <a:ext cx="4754880" cy="3749039"/>
          </a:xfrm>
          <a:prstGeom prst="rect">
            <a:avLst/>
          </a:prstGeom>
          <a:noFill/>
        </p:spPr>
        <p:txBody>
          <a:bodyPr wrap="square" anchor="t" lIns="45720" rIns="45720">
            <a:spAutoFit/>
          </a:bodyPr>
          <a:lstStyle/>
          <a:p>
            <a:pPr algn="l">
              <a:spcAft>
                <a:spcPts val="400"/>
              </a:spcAft>
            </a:pPr>
            <a:r>
              <a:rPr sz="1400" b="1" i="0">
                <a:solidFill>
                  <a:srgbClr val="0F2A33"/>
                </a:solidFill>
                <a:latin typeface="Calibri"/>
              </a:rPr>
              <a:t>No / negative input </a:t>
            </a:r>
            <a:r>
              <a:rPr sz="1400" b="0" i="0">
                <a:solidFill>
                  <a:srgbClr val="0F2A33"/>
                </a:solidFill>
                <a:latin typeface="Calibri"/>
              </a:rPr>
              <a:t>→ 0 spikes (stays quiet)</a:t>
            </a:r>
          </a:p>
          <a:p>
            <a:pPr algn="l">
              <a:spcAft>
                <a:spcPts val="400"/>
              </a:spcAft>
            </a:pPr>
            <a:r>
              <a:rPr sz="1400" b="1" i="0">
                <a:solidFill>
                  <a:srgbClr val="0F2A33"/>
                </a:solidFill>
                <a:latin typeface="Calibri"/>
              </a:rPr>
              <a:t>Weak input </a:t>
            </a:r>
            <a:r>
              <a:rPr sz="1400" b="0" i="0">
                <a:solidFill>
                  <a:srgbClr val="0F2A33"/>
                </a:solidFill>
                <a:latin typeface="Calibri"/>
              </a:rPr>
              <a:t>→ fires slowly (2 of 8)</a:t>
            </a:r>
          </a:p>
          <a:p>
            <a:pPr algn="l">
              <a:spcAft>
                <a:spcPts val="400"/>
              </a:spcAft>
            </a:pPr>
            <a:r>
              <a:rPr sz="1400" b="1" i="0">
                <a:solidFill>
                  <a:srgbClr val="0F2A33"/>
                </a:solidFill>
                <a:latin typeface="Calibri"/>
              </a:rPr>
              <a:t>Strong input </a:t>
            </a:r>
            <a:r>
              <a:rPr sz="1400" b="0" i="0">
                <a:solidFill>
                  <a:srgbClr val="0F2A33"/>
                </a:solidFill>
                <a:latin typeface="Calibri"/>
              </a:rPr>
              <a:t>→ fires every step (8 of 8)</a:t>
            </a:r>
          </a:p>
          <a:p>
            <a:pPr algn="l">
              <a:spcAft>
                <a:spcPts val="400"/>
              </a:spcAft>
            </a:pPr>
            <a:r>
              <a:rPr sz="1400" b="0" i="0">
                <a:solidFill>
                  <a:srgbClr val="0F2A33"/>
                </a:solidFill>
                <a:latin typeface="Calibri"/>
              </a:rPr>
              <a:t/>
            </a:r>
          </a:p>
          <a:p>
            <a:pPr algn="l">
              <a:spcAft>
                <a:spcPts val="400"/>
              </a:spcAft>
            </a:pPr>
            <a:r>
              <a:rPr sz="1400" b="1" i="0">
                <a:solidFill>
                  <a:srgbClr val="0F2A33"/>
                </a:solidFill>
                <a:latin typeface="Calibri"/>
              </a:rPr>
              <a:t>The spike count encodes strength.</a:t>
            </a:r>
          </a:p>
          <a:p>
            <a:pPr algn="l">
              <a:spcAft>
                <a:spcPts val="400"/>
              </a:spcAft>
            </a:pPr>
            <a:r>
              <a:rPr sz="1400" b="0" i="0">
                <a:solidFill>
                  <a:srgbClr val="0F2A33"/>
                </a:solidFill>
                <a:latin typeface="Calibri"/>
              </a:rPr>
              <a:t>The 'leak' makes it forget old input, so it reacts to RECENT activity — useful for spotting bursts and floods.</a:t>
            </a:r>
          </a:p>
          <a:p>
            <a:pPr algn="l">
              <a:spcAft>
                <a:spcPts val="400"/>
              </a:spcAft>
            </a:pPr>
            <a:r>
              <a:rPr sz="1400" b="0" i="0">
                <a:solidFill>
                  <a:srgbClr val="0F2A33"/>
                </a:solidFill>
                <a:latin typeface="Calibri"/>
              </a:rPr>
              <a:t/>
            </a:r>
          </a:p>
          <a:p>
            <a:pPr algn="l">
              <a:spcAft>
                <a:spcPts val="400"/>
              </a:spcAft>
            </a:pPr>
            <a:r>
              <a:rPr sz="1400" b="0" i="0">
                <a:solidFill>
                  <a:srgbClr val="0F2A33"/>
                </a:solidFill>
                <a:latin typeface="Calibri"/>
              </a:rPr>
              <a:t>Hardware cost: 1 register + 2 adders + 1 comparator + 1 reset mux. No multiplier.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7</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The single neuron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One LIF neuron in hardware (logic diagram)</a:t>
            </a:r>
          </a:p>
        </p:txBody>
      </p:sp>
      <p:pic>
        <p:nvPicPr>
          <p:cNvPr id="5" name="Picture 4" descr="LIF neuron datapath: register, shift, subtract, adder, comparator, reset mux, feedback"/>
          <p:cNvPicPr>
            <a:picLocks noChangeAspect="1"/>
          </p:cNvPicPr>
          <p:nvPr/>
        </p:nvPicPr>
        <p:blipFill>
          <a:blip r:embed="rId3"/>
          <a:stretch>
            <a:fillRect/>
          </a:stretch>
        </p:blipFill>
        <p:spPr>
          <a:xfrm>
            <a:off x="548640" y="1371600"/>
            <a:ext cx="11064240" cy="4641726"/>
          </a:xfrm>
          <a:prstGeom prst="rect">
            <a:avLst/>
          </a:prstGeom>
        </p:spPr>
      </p:pic>
      <p:sp>
        <p:nvSpPr>
          <p:cNvPr id="6" name="TextBox 5"/>
          <p:cNvSpPr txBox="1"/>
          <p:nvPr/>
        </p:nvSpPr>
        <p:spPr>
          <a:xfrm>
            <a:off x="548640" y="5943600"/>
            <a:ext cx="11064240" cy="365760"/>
          </a:xfrm>
          <a:prstGeom prst="rect">
            <a:avLst/>
          </a:prstGeom>
          <a:noFill/>
        </p:spPr>
        <p:txBody>
          <a:bodyPr wrap="square" anchor="t" lIns="45720" rIns="45720">
            <a:spAutoFit/>
          </a:bodyPr>
          <a:lstStyle/>
          <a:p>
            <a:pPr algn="l">
              <a:spcAft>
                <a:spcPts val="400"/>
              </a:spcAft>
            </a:pPr>
            <a:r>
              <a:rPr sz="1400" b="0" i="1">
                <a:solidFill>
                  <a:srgbClr val="5F6F78"/>
                </a:solidFill>
                <a:latin typeface="Calibri"/>
              </a:rPr>
              <a:t>register (charge) → &gt;&gt;2 &amp; subtract (leak) → + I (integrate) → compare (fire) → reset mux · green = write-back each clock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8</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The single neuron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The real hardware: snn_core in Quartus RTL Viewer</a:t>
            </a:r>
          </a:p>
        </p:txBody>
      </p:sp>
      <p:pic>
        <p:nvPicPr>
          <p:cNvPr id="5" name="Picture 4" descr="Quartus RTL Viewer schematic of snn_core"/>
          <p:cNvPicPr>
            <a:picLocks noChangeAspect="1"/>
          </p:cNvPicPr>
          <p:nvPr/>
        </p:nvPicPr>
        <p:blipFill>
          <a:blip r:embed="rId3"/>
          <a:stretch>
            <a:fillRect/>
          </a:stretch>
        </p:blipFill>
        <p:spPr>
          <a:xfrm>
            <a:off x="548640" y="1325880"/>
            <a:ext cx="7406640" cy="4242756"/>
          </a:xfrm>
          <a:prstGeom prst="rect">
            <a:avLst/>
          </a:prstGeom>
        </p:spPr>
      </p:pic>
      <p:sp>
        <p:nvSpPr>
          <p:cNvPr id="6" name="Rounded Rectangle 5"/>
          <p:cNvSpPr/>
          <p:nvPr/>
        </p:nvSpPr>
        <p:spPr>
          <a:xfrm>
            <a:off x="8183879" y="1325880"/>
            <a:ext cx="3474720" cy="457200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8412480" y="1508760"/>
            <a:ext cx="3063239"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What you see</a:t>
            </a:r>
          </a:p>
        </p:txBody>
      </p:sp>
      <p:sp>
        <p:nvSpPr>
          <p:cNvPr id="8" name="TextBox 7"/>
          <p:cNvSpPr txBox="1"/>
          <p:nvPr/>
        </p:nvSpPr>
        <p:spPr>
          <a:xfrm>
            <a:off x="8412480" y="2103120"/>
            <a:ext cx="3063239" cy="3657600"/>
          </a:xfrm>
          <a:prstGeom prst="rect">
            <a:avLst/>
          </a:prstGeom>
          <a:noFill/>
        </p:spPr>
        <p:txBody>
          <a:bodyPr wrap="square" anchor="t" lIns="45720" rIns="45720">
            <a:spAutoFit/>
          </a:bodyPr>
          <a:lstStyle/>
          <a:p>
            <a:pPr algn="l">
              <a:spcAft>
                <a:spcPts val="400"/>
              </a:spcAft>
            </a:pPr>
            <a:r>
              <a:rPr sz="1400" b="1" i="0">
                <a:solidFill>
                  <a:srgbClr val="0F2A33"/>
                </a:solidFill>
                <a:latin typeface="Calibri"/>
              </a:rPr>
              <a:t>Left: </a:t>
            </a:r>
            <a:r>
              <a:rPr sz="1400" b="0" i="0">
                <a:solidFill>
                  <a:srgbClr val="0F2A33"/>
                </a:solidFill>
                <a:latin typeface="Calibri"/>
              </a:rPr>
              <a:t>in_spikes[63:0] and the weights (w1, w2, b2), thresholds, leak</a:t>
            </a:r>
          </a:p>
          <a:p>
            <a:pPr algn="l">
              <a:spcAft>
                <a:spcPts val="400"/>
              </a:spcAft>
            </a:pPr>
            <a:r>
              <a:rPr sz="1400" b="1" i="0">
                <a:solidFill>
                  <a:srgbClr val="0F2A33"/>
                </a:solidFill>
                <a:latin typeface="Calibri"/>
              </a:rPr>
              <a:t>Right: </a:t>
            </a:r>
            <a:r>
              <a:rPr sz="1400" b="0" i="0">
                <a:solidFill>
                  <a:srgbClr val="0F2A33"/>
                </a:solidFill>
                <a:latin typeface="Calibri"/>
              </a:rPr>
              <a:t>out_cnt0/1 (spike counts), out_mal (verdict)</a:t>
            </a:r>
          </a:p>
          <a:p>
            <a:pPr algn="l">
              <a:spcAft>
                <a:spcPts val="400"/>
              </a:spcAft>
            </a:pPr>
            <a:r>
              <a:rPr sz="1400" b="1" i="0">
                <a:solidFill>
                  <a:srgbClr val="0F2A33"/>
                </a:solidFill>
                <a:latin typeface="Calibri"/>
              </a:rPr>
              <a:t>out_mal~reg0: </a:t>
            </a:r>
            <a:r>
              <a:rPr sz="1400" b="0" i="0">
                <a:solidFill>
                  <a:srgbClr val="0F2A33"/>
                </a:solidFill>
                <a:latin typeface="Calibri"/>
              </a:rPr>
              <a:t>the single flip-flop holding the verdict</a:t>
            </a:r>
          </a:p>
          <a:p>
            <a:pPr algn="l">
              <a:spcAft>
                <a:spcPts val="400"/>
              </a:spcAft>
            </a:pPr>
            <a:r>
              <a:rPr sz="1400" b="0" i="0">
                <a:solidFill>
                  <a:srgbClr val="0F2A33"/>
                </a:solidFill>
                <a:latin typeface="Calibri"/>
              </a:rPr>
              <a:t>Inside: the IDLE/ACC/LIF/OUT state machine + 16+2 LIF neurons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9</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The single neuron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LIF vs other neuron models</a:t>
            </a:r>
          </a:p>
        </p:txBody>
      </p:sp>
      <p:graphicFrame>
        <p:nvGraphicFramePr>
          <p:cNvPr id="5" name="Table 4"/>
          <p:cNvGraphicFramePr>
            <a:graphicFrameLocks noGrp="1"/>
          </p:cNvGraphicFramePr>
          <p:nvPr/>
        </p:nvGraphicFramePr>
        <p:xfrm>
          <a:off x="548640" y="1463040"/>
          <a:ext cx="11109958" cy="3950208"/>
        </p:xfrm>
        <a:graphic>
          <a:graphicData uri="http://schemas.openxmlformats.org/drawingml/2006/table">
            <a:tbl>
              <a:tblPr firstRow="1" bandRow="1">
                <a:tableStyleId>{5C22544A-7EE6-4342-B048-85BDC9FD1C3A}</a:tableStyleId>
              </a:tblPr>
              <a:tblGrid>
                <a:gridCol w="2295446"/>
                <a:gridCol w="3213624"/>
                <a:gridCol w="2754535"/>
                <a:gridCol w="2846353"/>
              </a:tblGrid>
              <a:tr h="658368">
                <a:tc>
                  <a:txBody>
                    <a:bodyPr wrap="square"/>
                    <a:lstStyle/>
                    <a:p>
                      <a:r>
                        <a:rPr sz="1350" b="1">
                          <a:solidFill>
                            <a:srgbClr val="FFFFFF"/>
                          </a:solidFill>
                          <a:latin typeface="Calibri"/>
                        </a:rPr>
                        <a:t>model</a:t>
                      </a:r>
                    </a:p>
                  </a:txBody>
                  <a:tcPr marL="73152" marR="73152" marT="36576" marB="36576" anchor="ctr">
                    <a:solidFill>
                      <a:srgbClr val="1B4D5C"/>
                    </a:solidFill>
                  </a:tcPr>
                </a:tc>
                <a:tc>
                  <a:txBody>
                    <a:bodyPr wrap="square"/>
                    <a:lstStyle/>
                    <a:p>
                      <a:r>
                        <a:rPr sz="1350" b="1">
                          <a:solidFill>
                            <a:srgbClr val="FFFFFF"/>
                          </a:solidFill>
                          <a:latin typeface="Calibri"/>
                        </a:rPr>
                        <a:t>how it works</a:t>
                      </a:r>
                    </a:p>
                  </a:txBody>
                  <a:tcPr marL="73152" marR="73152" marT="36576" marB="36576" anchor="ctr">
                    <a:solidFill>
                      <a:srgbClr val="1B4D5C"/>
                    </a:solidFill>
                  </a:tcPr>
                </a:tc>
                <a:tc>
                  <a:txBody>
                    <a:bodyPr wrap="square"/>
                    <a:lstStyle/>
                    <a:p>
                      <a:r>
                        <a:rPr sz="1350" b="1">
                          <a:solidFill>
                            <a:srgbClr val="FFFFFF"/>
                          </a:solidFill>
                          <a:latin typeface="Calibri"/>
                        </a:rPr>
                        <a:t>hardware per neuron</a:t>
                      </a:r>
                    </a:p>
                  </a:txBody>
                  <a:tcPr marL="73152" marR="73152" marT="36576" marB="36576" anchor="ctr">
                    <a:solidFill>
                      <a:srgbClr val="1B4D5C"/>
                    </a:solidFill>
                  </a:tcPr>
                </a:tc>
                <a:tc>
                  <a:txBody>
                    <a:bodyPr wrap="square"/>
                    <a:lstStyle/>
                    <a:p>
                      <a:r>
                        <a:rPr sz="1350" b="1">
                          <a:solidFill>
                            <a:srgbClr val="FFFFFF"/>
                          </a:solidFill>
                          <a:latin typeface="Calibri"/>
                        </a:rPr>
                        <a:t>trade-off</a:t>
                      </a:r>
                    </a:p>
                  </a:txBody>
                  <a:tcPr marL="73152" marR="73152" marT="36576" marB="36576" anchor="ctr">
                    <a:solidFill>
                      <a:srgbClr val="1B4D5C"/>
                    </a:solidFill>
                  </a:tcPr>
                </a:tc>
              </a:tr>
              <a:tr h="658368">
                <a:tc>
                  <a:txBody>
                    <a:bodyPr wrap="square"/>
                    <a:lstStyle/>
                    <a:p>
                      <a:r>
                        <a:rPr sz="1350" b="1">
                          <a:solidFill>
                            <a:srgbClr val="0F2A33"/>
                          </a:solidFill>
                          <a:latin typeface="Calibri"/>
                        </a:rPr>
                        <a:t>IF (integrate-and-fire)</a:t>
                      </a:r>
                    </a:p>
                  </a:txBody>
                  <a:tcPr marL="73152" marR="73152" marT="36576" marB="36576" anchor="ctr">
                    <a:solidFill>
                      <a:srgbClr val="FFFFFF"/>
                    </a:solidFill>
                  </a:tcPr>
                </a:tc>
                <a:tc>
                  <a:txBody>
                    <a:bodyPr wrap="square"/>
                    <a:lstStyle/>
                    <a:p>
                      <a:r>
                        <a:rPr sz="1350" b="0">
                          <a:solidFill>
                            <a:srgbClr val="0F2A33"/>
                          </a:solidFill>
                          <a:latin typeface="Calibri"/>
                        </a:rPr>
                        <a:t>like LIF but no leak</a:t>
                      </a:r>
                    </a:p>
                  </a:txBody>
                  <a:tcPr marL="73152" marR="73152" marT="36576" marB="36576" anchor="ctr">
                    <a:solidFill>
                      <a:srgbClr val="FFFFFF"/>
                    </a:solidFill>
                  </a:tcPr>
                </a:tc>
                <a:tc>
                  <a:txBody>
                    <a:bodyPr wrap="square"/>
                    <a:lstStyle/>
                    <a:p>
                      <a:r>
                        <a:rPr sz="1350" b="0">
                          <a:solidFill>
                            <a:srgbClr val="0F2A33"/>
                          </a:solidFill>
                          <a:latin typeface="Calibri"/>
                        </a:rPr>
                        <a:t>register, adder, compare</a:t>
                      </a:r>
                    </a:p>
                  </a:txBody>
                  <a:tcPr marL="73152" marR="73152" marT="36576" marB="36576" anchor="ctr">
                    <a:solidFill>
                      <a:srgbClr val="FFFFFF"/>
                    </a:solidFill>
                  </a:tcPr>
                </a:tc>
                <a:tc>
                  <a:txBody>
                    <a:bodyPr wrap="square"/>
                    <a:lstStyle/>
                    <a:p>
                      <a:r>
                        <a:rPr sz="1350" b="0">
                          <a:solidFill>
                            <a:srgbClr val="0F2A33"/>
                          </a:solidFill>
                          <a:latin typeface="Calibri"/>
                        </a:rPr>
                        <a:t>cheapest; never forgets, noisy</a:t>
                      </a:r>
                    </a:p>
                  </a:txBody>
                  <a:tcPr marL="73152" marR="73152" marT="36576" marB="36576" anchor="ctr">
                    <a:solidFill>
                      <a:srgbClr val="FFFFFF"/>
                    </a:solidFill>
                  </a:tcPr>
                </a:tc>
              </a:tr>
              <a:tr h="658368">
                <a:tc>
                  <a:txBody>
                    <a:bodyPr wrap="square"/>
                    <a:lstStyle/>
                    <a:p>
                      <a:r>
                        <a:rPr sz="1350" b="1">
                          <a:solidFill>
                            <a:srgbClr val="B5761A"/>
                          </a:solidFill>
                          <a:latin typeface="Calibri"/>
                        </a:rPr>
                        <a:t>LIF (ours)</a:t>
                      </a:r>
                    </a:p>
                  </a:txBody>
                  <a:tcPr marL="73152" marR="73152" marT="36576" marB="36576" anchor="ctr">
                    <a:solidFill>
                      <a:srgbClr val="EAF2F3"/>
                    </a:solidFill>
                  </a:tcPr>
                </a:tc>
                <a:tc>
                  <a:txBody>
                    <a:bodyPr wrap="square"/>
                    <a:lstStyle/>
                    <a:p>
                      <a:r>
                        <a:rPr sz="1350" b="0">
                          <a:solidFill>
                            <a:srgbClr val="0F2A33"/>
                          </a:solidFill>
                          <a:latin typeface="Calibri"/>
                        </a:rPr>
                        <a:t>leak ¼ each step, fire, reset</a:t>
                      </a:r>
                    </a:p>
                  </a:txBody>
                  <a:tcPr marL="73152" marR="73152" marT="36576" marB="36576" anchor="ctr">
                    <a:solidFill>
                      <a:srgbClr val="EAF2F3"/>
                    </a:solidFill>
                  </a:tcPr>
                </a:tc>
                <a:tc>
                  <a:txBody>
                    <a:bodyPr wrap="square"/>
                    <a:lstStyle/>
                    <a:p>
                      <a:r>
                        <a:rPr sz="1350" b="0">
                          <a:solidFill>
                            <a:srgbClr val="0F2A33"/>
                          </a:solidFill>
                          <a:latin typeface="Calibri"/>
                        </a:rPr>
                        <a:t>register, 2 adders, compare, mux</a:t>
                      </a:r>
                    </a:p>
                  </a:txBody>
                  <a:tcPr marL="73152" marR="73152" marT="36576" marB="36576" anchor="ctr">
                    <a:solidFill>
                      <a:srgbClr val="EAF2F3"/>
                    </a:solidFill>
                  </a:tcPr>
                </a:tc>
                <a:tc>
                  <a:txBody>
                    <a:bodyPr wrap="square"/>
                    <a:lstStyle/>
                    <a:p>
                      <a:r>
                        <a:rPr sz="1350" b="0">
                          <a:solidFill>
                            <a:srgbClr val="0F2A33"/>
                          </a:solidFill>
                          <a:latin typeface="Calibri"/>
                        </a:rPr>
                        <a:t>good balance; standard choice</a:t>
                      </a:r>
                    </a:p>
                  </a:txBody>
                  <a:tcPr marL="73152" marR="73152" marT="36576" marB="36576" anchor="ctr">
                    <a:solidFill>
                      <a:srgbClr val="EAF2F3"/>
                    </a:solidFill>
                  </a:tcPr>
                </a:tc>
              </a:tr>
              <a:tr h="658368">
                <a:tc>
                  <a:txBody>
                    <a:bodyPr wrap="square"/>
                    <a:lstStyle/>
                    <a:p>
                      <a:r>
                        <a:rPr sz="1350" b="1">
                          <a:solidFill>
                            <a:srgbClr val="0F2A33"/>
                          </a:solidFill>
                          <a:latin typeface="Calibri"/>
                        </a:rPr>
                        <a:t>Adaptive LIF (ALIF)</a:t>
                      </a:r>
                    </a:p>
                  </a:txBody>
                  <a:tcPr marL="73152" marR="73152" marT="36576" marB="36576" anchor="ctr">
                    <a:solidFill>
                      <a:srgbClr val="FFFFFF"/>
                    </a:solidFill>
                  </a:tcPr>
                </a:tc>
                <a:tc>
                  <a:txBody>
                    <a:bodyPr wrap="square"/>
                    <a:lstStyle/>
                    <a:p>
                      <a:r>
                        <a:rPr sz="1350" b="0">
                          <a:solidFill>
                            <a:srgbClr val="0F2A33"/>
                          </a:solidFill>
                          <a:latin typeface="Calibri"/>
                        </a:rPr>
                        <a:t>threshold rises after a spike</a:t>
                      </a:r>
                    </a:p>
                  </a:txBody>
                  <a:tcPr marL="73152" marR="73152" marT="36576" marB="36576" anchor="ctr">
                    <a:solidFill>
                      <a:srgbClr val="FFFFFF"/>
                    </a:solidFill>
                  </a:tcPr>
                </a:tc>
                <a:tc>
                  <a:txBody>
                    <a:bodyPr wrap="square"/>
                    <a:lstStyle/>
                    <a:p>
                      <a:r>
                        <a:rPr sz="1350" b="0">
                          <a:solidFill>
                            <a:srgbClr val="0F2A33"/>
                          </a:solidFill>
                          <a:latin typeface="Calibri"/>
                        </a:rPr>
                        <a:t>+1 register, +1 adder</a:t>
                      </a:r>
                    </a:p>
                  </a:txBody>
                  <a:tcPr marL="73152" marR="73152" marT="36576" marB="36576" anchor="ctr">
                    <a:solidFill>
                      <a:srgbClr val="FFFFFF"/>
                    </a:solidFill>
                  </a:tcPr>
                </a:tc>
                <a:tc>
                  <a:txBody>
                    <a:bodyPr wrap="square"/>
                    <a:lstStyle/>
                    <a:p>
                      <a:r>
                        <a:rPr sz="1350" b="0">
                          <a:solidFill>
                            <a:srgbClr val="0F2A33"/>
                          </a:solidFill>
                          <a:latin typeface="Calibri"/>
                        </a:rPr>
                        <a:t>longer memory; for slow scans</a:t>
                      </a:r>
                    </a:p>
                  </a:txBody>
                  <a:tcPr marL="73152" marR="73152" marT="36576" marB="36576" anchor="ctr">
                    <a:solidFill>
                      <a:srgbClr val="FFFFFF"/>
                    </a:solidFill>
                  </a:tcPr>
                </a:tc>
              </a:tr>
              <a:tr h="658368">
                <a:tc>
                  <a:txBody>
                    <a:bodyPr wrap="square"/>
                    <a:lstStyle/>
                    <a:p>
                      <a:r>
                        <a:rPr sz="1350" b="1">
                          <a:solidFill>
                            <a:srgbClr val="0F2A33"/>
                          </a:solidFill>
                          <a:latin typeface="Calibri"/>
                        </a:rPr>
                        <a:t>Time-to-first-spike</a:t>
                      </a:r>
                    </a:p>
                  </a:txBody>
                  <a:tcPr marL="73152" marR="73152" marT="36576" marB="36576" anchor="ctr">
                    <a:solidFill>
                      <a:srgbClr val="EAF2F3"/>
                    </a:solidFill>
                  </a:tcPr>
                </a:tc>
                <a:tc>
                  <a:txBody>
                    <a:bodyPr wrap="square"/>
                    <a:lstStyle/>
                    <a:p>
                      <a:r>
                        <a:rPr sz="1350" b="0">
                          <a:solidFill>
                            <a:srgbClr val="0F2A33"/>
                          </a:solidFill>
                          <a:latin typeface="Calibri"/>
                        </a:rPr>
                        <a:t>fire once, timing = value</a:t>
                      </a:r>
                    </a:p>
                  </a:txBody>
                  <a:tcPr marL="73152" marR="73152" marT="36576" marB="36576" anchor="ctr">
                    <a:solidFill>
                      <a:srgbClr val="EAF2F3"/>
                    </a:solidFill>
                  </a:tcPr>
                </a:tc>
                <a:tc>
                  <a:txBody>
                    <a:bodyPr wrap="square"/>
                    <a:lstStyle/>
                    <a:p>
                      <a:r>
                        <a:rPr sz="1350" b="0">
                          <a:solidFill>
                            <a:srgbClr val="0F2A33"/>
                          </a:solidFill>
                          <a:latin typeface="Calibri"/>
                        </a:rPr>
                        <a:t>LIF + a timer</a:t>
                      </a:r>
                    </a:p>
                  </a:txBody>
                  <a:tcPr marL="73152" marR="73152" marT="36576" marB="36576" anchor="ctr">
                    <a:solidFill>
                      <a:srgbClr val="EAF2F3"/>
                    </a:solidFill>
                  </a:tcPr>
                </a:tc>
                <a:tc>
                  <a:txBody>
                    <a:bodyPr wrap="square"/>
                    <a:lstStyle/>
                    <a:p>
                      <a:r>
                        <a:rPr sz="1350" b="0">
                          <a:solidFill>
                            <a:srgbClr val="0F2A33"/>
                          </a:solidFill>
                          <a:latin typeface="Calibri"/>
                        </a:rPr>
                        <a:t>very low power [Zhou &amp; Li, ICPR 2020]</a:t>
                      </a:r>
                    </a:p>
                  </a:txBody>
                  <a:tcPr marL="73152" marR="73152" marT="36576" marB="36576" anchor="ctr">
                    <a:solidFill>
                      <a:srgbClr val="EAF2F3"/>
                    </a:solidFill>
                  </a:tcPr>
                </a:tc>
              </a:tr>
              <a:tr h="658368">
                <a:tc>
                  <a:txBody>
                    <a:bodyPr wrap="square"/>
                    <a:lstStyle/>
                    <a:p>
                      <a:r>
                        <a:rPr sz="1350" b="1">
                          <a:solidFill>
                            <a:srgbClr val="0F2A33"/>
                          </a:solidFill>
                          <a:latin typeface="Calibri"/>
                        </a:rPr>
                        <a:t>Izhikevich</a:t>
                      </a:r>
                    </a:p>
                  </a:txBody>
                  <a:tcPr marL="73152" marR="73152" marT="36576" marB="36576" anchor="ctr">
                    <a:solidFill>
                      <a:srgbClr val="FFFFFF"/>
                    </a:solidFill>
                  </a:tcPr>
                </a:tc>
                <a:tc>
                  <a:txBody>
                    <a:bodyPr wrap="square"/>
                    <a:lstStyle/>
                    <a:p>
                      <a:r>
                        <a:rPr sz="1350" b="0">
                          <a:solidFill>
                            <a:srgbClr val="0F2A33"/>
                          </a:solidFill>
                          <a:latin typeface="Calibri"/>
                        </a:rPr>
                        <a:t>2 variables, quadratic (v²)</a:t>
                      </a:r>
                    </a:p>
                  </a:txBody>
                  <a:tcPr marL="73152" marR="73152" marT="36576" marB="36576" anchor="ctr">
                    <a:solidFill>
                      <a:srgbClr val="FFFFFF"/>
                    </a:solidFill>
                  </a:tcPr>
                </a:tc>
                <a:tc>
                  <a:txBody>
                    <a:bodyPr wrap="square"/>
                    <a:lstStyle/>
                    <a:p>
                      <a:r>
                        <a:rPr sz="1350" b="0">
                          <a:solidFill>
                            <a:srgbClr val="0F2A33"/>
                          </a:solidFill>
                          <a:latin typeface="Calibri"/>
                        </a:rPr>
                        <a:t>MULTIPLIER + 2 registers</a:t>
                      </a:r>
                    </a:p>
                  </a:txBody>
                  <a:tcPr marL="73152" marR="73152" marT="36576" marB="36576" anchor="ctr">
                    <a:solidFill>
                      <a:srgbClr val="FFFFFF"/>
                    </a:solidFill>
                  </a:tcPr>
                </a:tc>
                <a:tc>
                  <a:txBody>
                    <a:bodyPr wrap="square"/>
                    <a:lstStyle/>
                    <a:p>
                      <a:r>
                        <a:rPr sz="1350" b="0">
                          <a:solidFill>
                            <a:srgbClr val="0F2A33"/>
                          </a:solidFill>
                          <a:latin typeface="Calibri"/>
                        </a:rPr>
                        <a:t>biologically rich; several× larger</a:t>
                      </a:r>
                    </a:p>
                  </a:txBody>
                  <a:tcPr marL="73152" marR="73152" marT="36576" marB="36576" anchor="ctr">
                    <a:solidFill>
                      <a:srgbClr val="FFFFFF"/>
                    </a:solidFill>
                  </a:tcPr>
                </a:tc>
              </a:tr>
            </a:tbl>
          </a:graphicData>
        </a:graphic>
      </p:graphicFrame>
      <p:sp>
        <p:nvSpPr>
          <p:cNvPr id="6" name="TextBox 5"/>
          <p:cNvSpPr txBox="1"/>
          <p:nvPr/>
        </p:nvSpPr>
        <p:spPr>
          <a:xfrm>
            <a:off x="548640" y="5852160"/>
            <a:ext cx="11109960" cy="365760"/>
          </a:xfrm>
          <a:prstGeom prst="rect">
            <a:avLst/>
          </a:prstGeom>
          <a:noFill/>
        </p:spPr>
        <p:txBody>
          <a:bodyPr wrap="square" anchor="t" lIns="45720" rIns="45720">
            <a:spAutoFit/>
          </a:bodyPr>
          <a:lstStyle/>
          <a:p>
            <a:pPr algn="l">
              <a:spcAft>
                <a:spcPts val="400"/>
              </a:spcAft>
            </a:pPr>
            <a:r>
              <a:rPr sz="1300" b="0" i="1">
                <a:solidFill>
                  <a:srgbClr val="5F6F78"/>
                </a:solidFill>
                <a:latin typeface="Calibri"/>
              </a:rPr>
              <a:t>Diagrams of each on the next slide; the SNN-vs-CNN power question is studied by Plagwitz et al. [ACM TECS, 2023].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10</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The single neuron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The models as logic: simplest → richest</a:t>
            </a:r>
          </a:p>
        </p:txBody>
      </p:sp>
      <p:pic>
        <p:nvPicPr>
          <p:cNvPr id="5" name="Picture 4" descr="IF neuron"/>
          <p:cNvPicPr>
            <a:picLocks noChangeAspect="1"/>
          </p:cNvPicPr>
          <p:nvPr/>
        </p:nvPicPr>
        <p:blipFill>
          <a:blip r:embed="rId3"/>
          <a:stretch>
            <a:fillRect/>
          </a:stretch>
        </p:blipFill>
        <p:spPr>
          <a:xfrm>
            <a:off x="457200" y="1463040"/>
            <a:ext cx="5577840" cy="1640974"/>
          </a:xfrm>
          <a:prstGeom prst="rect">
            <a:avLst/>
          </a:prstGeom>
        </p:spPr>
      </p:pic>
      <p:pic>
        <p:nvPicPr>
          <p:cNvPr id="6" name="Picture 5" descr="LIF neuron"/>
          <p:cNvPicPr>
            <a:picLocks noChangeAspect="1"/>
          </p:cNvPicPr>
          <p:nvPr/>
        </p:nvPicPr>
        <p:blipFill>
          <a:blip r:embed="rId4"/>
          <a:stretch>
            <a:fillRect/>
          </a:stretch>
        </p:blipFill>
        <p:spPr>
          <a:xfrm>
            <a:off x="6126480" y="1463040"/>
            <a:ext cx="5577840" cy="1640974"/>
          </a:xfrm>
          <a:prstGeom prst="rect">
            <a:avLst/>
          </a:prstGeom>
        </p:spPr>
      </p:pic>
      <p:pic>
        <p:nvPicPr>
          <p:cNvPr id="7" name="Picture 6" descr="Izhikevich neuron with multiplier"/>
          <p:cNvPicPr>
            <a:picLocks noChangeAspect="1"/>
          </p:cNvPicPr>
          <p:nvPr/>
        </p:nvPicPr>
        <p:blipFill>
          <a:blip r:embed="rId5"/>
          <a:stretch>
            <a:fillRect/>
          </a:stretch>
        </p:blipFill>
        <p:spPr>
          <a:xfrm>
            <a:off x="457200" y="3566160"/>
            <a:ext cx="6766560" cy="2173690"/>
          </a:xfrm>
          <a:prstGeom prst="rect">
            <a:avLst/>
          </a:prstGeom>
        </p:spPr>
      </p:pic>
      <p:sp>
        <p:nvSpPr>
          <p:cNvPr id="8" name="Rounded Rectangle 7"/>
          <p:cNvSpPr/>
          <p:nvPr/>
        </p:nvSpPr>
        <p:spPr>
          <a:xfrm>
            <a:off x="7498079" y="3611880"/>
            <a:ext cx="4160520" cy="269748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TextBox 8"/>
          <p:cNvSpPr txBox="1"/>
          <p:nvPr/>
        </p:nvSpPr>
        <p:spPr>
          <a:xfrm>
            <a:off x="7726679" y="3794760"/>
            <a:ext cx="3749039"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Why LIF for us</a:t>
            </a:r>
          </a:p>
        </p:txBody>
      </p:sp>
      <p:sp>
        <p:nvSpPr>
          <p:cNvPr id="10" name="TextBox 9"/>
          <p:cNvSpPr txBox="1"/>
          <p:nvPr/>
        </p:nvSpPr>
        <p:spPr>
          <a:xfrm>
            <a:off x="7726679" y="4389120"/>
            <a:ext cx="3749039" cy="1783080"/>
          </a:xfrm>
          <a:prstGeom prst="rect">
            <a:avLst/>
          </a:prstGeom>
          <a:noFill/>
        </p:spPr>
        <p:txBody>
          <a:bodyPr wrap="square" anchor="t" lIns="45720" rIns="45720">
            <a:spAutoFit/>
          </a:bodyPr>
          <a:lstStyle/>
          <a:p>
            <a:pPr algn="l">
              <a:spcAft>
                <a:spcPts val="400"/>
              </a:spcAft>
            </a:pPr>
            <a:r>
              <a:rPr sz="1400" b="1" i="0">
                <a:solidFill>
                  <a:srgbClr val="1B998B"/>
                </a:solidFill>
                <a:latin typeface="Calibri"/>
              </a:rPr>
              <a:t>No multiplier </a:t>
            </a:r>
            <a:r>
              <a:rPr sz="1400" b="0" i="0">
                <a:solidFill>
                  <a:srgbClr val="0F2A33"/>
                </a:solidFill>
                <a:latin typeface="Calibri"/>
              </a:rPr>
              <a:t>(unlike Izhikevich)</a:t>
            </a:r>
          </a:p>
          <a:p>
            <a:pPr algn="l">
              <a:spcAft>
                <a:spcPts val="400"/>
              </a:spcAft>
            </a:pPr>
            <a:r>
              <a:rPr sz="1400" b="1" i="0">
                <a:solidFill>
                  <a:srgbClr val="1B998B"/>
                </a:solidFill>
                <a:latin typeface="Calibri"/>
              </a:rPr>
              <a:t>Has memory </a:t>
            </a:r>
            <a:r>
              <a:rPr sz="1400" b="0" i="0">
                <a:solidFill>
                  <a:srgbClr val="0F2A33"/>
                </a:solidFill>
                <a:latin typeface="Calibri"/>
              </a:rPr>
              <a:t>(unlike IF)</a:t>
            </a:r>
          </a:p>
          <a:p>
            <a:pPr algn="l">
              <a:spcAft>
                <a:spcPts val="400"/>
              </a:spcAft>
            </a:pPr>
            <a:r>
              <a:rPr sz="1400" b="0" i="0">
                <a:solidFill>
                  <a:srgbClr val="0F2A33"/>
                </a:solidFill>
                <a:latin typeface="Calibri"/>
              </a:rPr>
              <a:t>Small, fast, and the leak means it reacts to recent bursts — exactly what flood/scan detection needs.</a:t>
            </a:r>
          </a:p>
          <a:p>
            <a:pPr algn="l">
              <a:spcAft>
                <a:spcPts val="400"/>
              </a:spcAft>
            </a:pPr>
            <a:r>
              <a:rPr sz="1400" b="0" i="0">
                <a:solidFill>
                  <a:srgbClr val="0F2A33"/>
                </a:solidFill>
                <a:latin typeface="Calibri"/>
              </a:rPr>
              <a:t>Trained offline so the int8 weights run bit-exactly on the chip [Neftci et al., IEEE SPM 2019].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11</a:t>
            </a:r>
          </a:p>
        </p:txBody>
      </p:sp>
      <p:sp>
        <p:nvSpPr>
          <p:cNvPr id="3"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From one neuron to a network (SNN)</a:t>
            </a:r>
          </a:p>
        </p:txBody>
      </p:sp>
      <p:sp>
        <p:nvSpPr>
          <p:cNvPr id="4" name="Subtitle"/>
          <p:cNvSpPr txBox="1"/>
          <p:nvPr/>
        </p:nvSpPr>
        <p:spPr>
          <a:xfrm>
            <a:off x="548640" y="1051560"/>
            <a:ext cx="11064240" cy="411480"/>
          </a:xfrm>
          <a:prstGeom prst="rect">
            <a:avLst/>
          </a:prstGeom>
          <a:noFill/>
        </p:spPr>
        <p:txBody>
          <a:bodyPr wrap="square" anchor="t" lIns="45720" rIns="45720">
            <a:spAutoFit/>
          </a:bodyPr>
          <a:lstStyle/>
          <a:p>
            <a:pPr algn="l">
              <a:spcAft>
                <a:spcPts val="400"/>
              </a:spcAft>
            </a:pPr>
            <a:r>
              <a:rPr sz="1600" b="0" i="1">
                <a:solidFill>
                  <a:srgbClr val="5F6F78"/>
                </a:solidFill>
                <a:latin typeface="Calibri"/>
              </a:rPr>
              <a:t>Our network: 64 → 16 → 2</a:t>
            </a:r>
          </a:p>
        </p:txBody>
      </p:sp>
      <p:sp>
        <p:nvSpPr>
          <p:cNvPr id="5" name="Oval 4"/>
          <p:cNvSpPr/>
          <p:nvPr/>
        </p:nvSpPr>
        <p:spPr>
          <a:xfrm>
            <a:off x="1188720" y="1737360"/>
            <a:ext cx="365760" cy="36576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6" name="Oval 5"/>
          <p:cNvSpPr/>
          <p:nvPr/>
        </p:nvSpPr>
        <p:spPr>
          <a:xfrm>
            <a:off x="1188720" y="2304288"/>
            <a:ext cx="365760" cy="365760"/>
          </a:xfrm>
          <a:prstGeom prst="ellipse">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7" name="Oval 6"/>
          <p:cNvSpPr/>
          <p:nvPr/>
        </p:nvSpPr>
        <p:spPr>
          <a:xfrm>
            <a:off x="1188720" y="2871215"/>
            <a:ext cx="365760" cy="36576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8" name="Oval 7"/>
          <p:cNvSpPr/>
          <p:nvPr/>
        </p:nvSpPr>
        <p:spPr>
          <a:xfrm>
            <a:off x="1188720" y="3438144"/>
            <a:ext cx="365760" cy="365760"/>
          </a:xfrm>
          <a:prstGeom prst="ellipse">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9" name="Oval 8"/>
          <p:cNvSpPr/>
          <p:nvPr/>
        </p:nvSpPr>
        <p:spPr>
          <a:xfrm>
            <a:off x="1188720" y="4005072"/>
            <a:ext cx="365760" cy="36576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0" name="Oval 9"/>
          <p:cNvSpPr/>
          <p:nvPr/>
        </p:nvSpPr>
        <p:spPr>
          <a:xfrm>
            <a:off x="1188720" y="4572000"/>
            <a:ext cx="365760" cy="365760"/>
          </a:xfrm>
          <a:prstGeom prst="ellipse">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1" name="TextBox 10"/>
          <p:cNvSpPr txBox="1"/>
          <p:nvPr/>
        </p:nvSpPr>
        <p:spPr>
          <a:xfrm>
            <a:off x="640080" y="5440680"/>
            <a:ext cx="2103120" cy="365760"/>
          </a:xfrm>
          <a:prstGeom prst="rect">
            <a:avLst/>
          </a:prstGeom>
          <a:noFill/>
        </p:spPr>
        <p:txBody>
          <a:bodyPr wrap="square" anchor="t" lIns="45720" rIns="45720">
            <a:spAutoFit/>
          </a:bodyPr>
          <a:lstStyle/>
          <a:p>
            <a:pPr algn="ctr">
              <a:spcAft>
                <a:spcPts val="400"/>
              </a:spcAft>
            </a:pPr>
            <a:r>
              <a:rPr sz="1400" b="0" i="0">
                <a:solidFill>
                  <a:srgbClr val="5F6F78"/>
                </a:solidFill>
                <a:latin typeface="Calibri"/>
              </a:rPr>
              <a:t>64 inputs (spikes)</a:t>
            </a:r>
          </a:p>
        </p:txBody>
      </p:sp>
      <p:sp>
        <p:nvSpPr>
          <p:cNvPr id="12" name="Oval 11"/>
          <p:cNvSpPr/>
          <p:nvPr/>
        </p:nvSpPr>
        <p:spPr>
          <a:xfrm>
            <a:off x="4206240" y="1920240"/>
            <a:ext cx="457200" cy="457200"/>
          </a:xfrm>
          <a:prstGeom prst="ellipse">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3" name="Oval 12"/>
          <p:cNvSpPr/>
          <p:nvPr/>
        </p:nvSpPr>
        <p:spPr>
          <a:xfrm>
            <a:off x="4206240" y="2578608"/>
            <a:ext cx="457200" cy="457200"/>
          </a:xfrm>
          <a:prstGeom prst="ellipse">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4" name="Oval 13"/>
          <p:cNvSpPr/>
          <p:nvPr/>
        </p:nvSpPr>
        <p:spPr>
          <a:xfrm>
            <a:off x="4206240" y="3236976"/>
            <a:ext cx="457200" cy="457200"/>
          </a:xfrm>
          <a:prstGeom prst="ellipse">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5" name="Oval 14"/>
          <p:cNvSpPr/>
          <p:nvPr/>
        </p:nvSpPr>
        <p:spPr>
          <a:xfrm>
            <a:off x="4206240" y="3895344"/>
            <a:ext cx="457200" cy="457200"/>
          </a:xfrm>
          <a:prstGeom prst="ellipse">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6" name="Oval 15"/>
          <p:cNvSpPr/>
          <p:nvPr/>
        </p:nvSpPr>
        <p:spPr>
          <a:xfrm>
            <a:off x="4206240" y="4553712"/>
            <a:ext cx="457200" cy="457200"/>
          </a:xfrm>
          <a:prstGeom prst="ellipse">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7" name="TextBox 16"/>
          <p:cNvSpPr txBox="1"/>
          <p:nvPr/>
        </p:nvSpPr>
        <p:spPr>
          <a:xfrm>
            <a:off x="3566160" y="5440680"/>
            <a:ext cx="1920240" cy="365760"/>
          </a:xfrm>
          <a:prstGeom prst="rect">
            <a:avLst/>
          </a:prstGeom>
          <a:noFill/>
        </p:spPr>
        <p:txBody>
          <a:bodyPr wrap="square" anchor="t" lIns="45720" rIns="45720">
            <a:spAutoFit/>
          </a:bodyPr>
          <a:lstStyle/>
          <a:p>
            <a:pPr algn="ctr">
              <a:spcAft>
                <a:spcPts val="400"/>
              </a:spcAft>
            </a:pPr>
            <a:r>
              <a:rPr sz="1400" b="0" i="0">
                <a:solidFill>
                  <a:srgbClr val="5F6F78"/>
                </a:solidFill>
                <a:latin typeface="Calibri"/>
              </a:rPr>
              <a:t>16 hidden LIF</a:t>
            </a:r>
          </a:p>
        </p:txBody>
      </p:sp>
      <p:cxnSp>
        <p:nvCxnSpPr>
          <p:cNvPr id="18" name="Connector 17"/>
          <p:cNvCxnSpPr/>
          <p:nvPr/>
        </p:nvCxnSpPr>
        <p:spPr>
          <a:xfrm>
            <a:off x="1536192" y="1920240"/>
            <a:ext cx="2670048" cy="228600"/>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536192" y="1920240"/>
            <a:ext cx="2670048" cy="886968"/>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536192" y="1920240"/>
            <a:ext cx="2670048" cy="1545336"/>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536192" y="1920240"/>
            <a:ext cx="2670048" cy="2203704"/>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536192" y="1920240"/>
            <a:ext cx="2670048" cy="2862072"/>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536192" y="2148840"/>
            <a:ext cx="2670048" cy="338328"/>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536192" y="2487168"/>
            <a:ext cx="2670048" cy="320040"/>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536192" y="2487168"/>
            <a:ext cx="2670048" cy="978408"/>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536192" y="2487168"/>
            <a:ext cx="2670048" cy="1636776"/>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536192" y="2487168"/>
            <a:ext cx="2670048" cy="2295144"/>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536192" y="2148840"/>
            <a:ext cx="2670048" cy="905256"/>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536192" y="2807208"/>
            <a:ext cx="2670048" cy="246888"/>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536192" y="3054096"/>
            <a:ext cx="2670048" cy="411480"/>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536192" y="3054096"/>
            <a:ext cx="2670048" cy="1069848"/>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536192" y="3054096"/>
            <a:ext cx="2670048" cy="1728216"/>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536192" y="2148840"/>
            <a:ext cx="2670048" cy="1472184"/>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536192" y="2807208"/>
            <a:ext cx="2670048" cy="813816"/>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536192" y="3465576"/>
            <a:ext cx="2670048" cy="155448"/>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536192" y="3621024"/>
            <a:ext cx="2670048" cy="502920"/>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536192" y="3621024"/>
            <a:ext cx="2670048" cy="1161288"/>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536192" y="2148840"/>
            <a:ext cx="2670048" cy="2039112"/>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536192" y="2807208"/>
            <a:ext cx="2670048" cy="1380744"/>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536192" y="3465576"/>
            <a:ext cx="2670048" cy="722376"/>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536192" y="4123944"/>
            <a:ext cx="2670048" cy="64008"/>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536192" y="4187952"/>
            <a:ext cx="2670048" cy="594360"/>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536192" y="2148840"/>
            <a:ext cx="2670048" cy="2606040"/>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536192" y="2807208"/>
            <a:ext cx="2670048" cy="1947672"/>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536192" y="3465576"/>
            <a:ext cx="2670048" cy="1289304"/>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536192" y="4123944"/>
            <a:ext cx="2670048" cy="630936"/>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536192" y="4754880"/>
            <a:ext cx="2670048" cy="27432"/>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6675120" y="2651760"/>
            <a:ext cx="658368" cy="658368"/>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49" name="Oval 48"/>
          <p:cNvSpPr/>
          <p:nvPr/>
        </p:nvSpPr>
        <p:spPr>
          <a:xfrm>
            <a:off x="6675120" y="4206240"/>
            <a:ext cx="658368" cy="65836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cxnSp>
        <p:nvCxnSpPr>
          <p:cNvPr id="50" name="Connector 49"/>
          <p:cNvCxnSpPr/>
          <p:nvPr/>
        </p:nvCxnSpPr>
        <p:spPr>
          <a:xfrm>
            <a:off x="4663440" y="2148840"/>
            <a:ext cx="2011680" cy="832104"/>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663440" y="2148840"/>
            <a:ext cx="2011680" cy="2386584"/>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663440" y="2807208"/>
            <a:ext cx="2011680" cy="173736"/>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663440" y="2807208"/>
            <a:ext cx="2011680" cy="1728216"/>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663440" y="2980944"/>
            <a:ext cx="2011680" cy="484632"/>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663440" y="3465576"/>
            <a:ext cx="2011680" cy="1069848"/>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663440" y="2980944"/>
            <a:ext cx="2011680" cy="1143000"/>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663440" y="4123944"/>
            <a:ext cx="2011680" cy="411480"/>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663440" y="2980944"/>
            <a:ext cx="2011680" cy="1801368"/>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663440" y="4535424"/>
            <a:ext cx="2011680" cy="246888"/>
          </a:xfrm>
          <a:prstGeom prst="line">
            <a:avLst/>
          </a:prstGeom>
          <a:ln w="7620">
            <a:solidFill>
              <a:srgbClr val="DCE6E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498079" y="2697480"/>
            <a:ext cx="1828800" cy="548640"/>
          </a:xfrm>
          <a:prstGeom prst="rect">
            <a:avLst/>
          </a:prstGeom>
          <a:noFill/>
        </p:spPr>
        <p:txBody>
          <a:bodyPr wrap="square" anchor="ctr" lIns="45720" rIns="45720">
            <a:spAutoFit/>
          </a:bodyPr>
          <a:lstStyle/>
          <a:p>
            <a:pPr algn="l">
              <a:spcAft>
                <a:spcPts val="400"/>
              </a:spcAft>
            </a:pPr>
            <a:r>
              <a:rPr sz="1700" b="1" i="0">
                <a:solidFill>
                  <a:srgbClr val="1B998B"/>
                </a:solidFill>
                <a:latin typeface="Calibri"/>
              </a:rPr>
              <a:t>benign</a:t>
            </a:r>
          </a:p>
        </p:txBody>
      </p:sp>
      <p:sp>
        <p:nvSpPr>
          <p:cNvPr id="61" name="TextBox 60"/>
          <p:cNvSpPr txBox="1"/>
          <p:nvPr/>
        </p:nvSpPr>
        <p:spPr>
          <a:xfrm>
            <a:off x="7498079" y="4251960"/>
            <a:ext cx="1828800" cy="548640"/>
          </a:xfrm>
          <a:prstGeom prst="rect">
            <a:avLst/>
          </a:prstGeom>
          <a:noFill/>
        </p:spPr>
        <p:txBody>
          <a:bodyPr wrap="square" anchor="ctr" lIns="45720" rIns="45720">
            <a:spAutoFit/>
          </a:bodyPr>
          <a:lstStyle/>
          <a:p>
            <a:pPr algn="l">
              <a:spcAft>
                <a:spcPts val="400"/>
              </a:spcAft>
            </a:pPr>
            <a:r>
              <a:rPr sz="1700" b="1" i="0">
                <a:solidFill>
                  <a:srgbClr val="D1495B"/>
                </a:solidFill>
                <a:latin typeface="Calibri"/>
              </a:rPr>
              <a:t>malicious</a:t>
            </a:r>
          </a:p>
        </p:txBody>
      </p:sp>
      <p:sp>
        <p:nvSpPr>
          <p:cNvPr id="62" name="Rounded Rectangle 61"/>
          <p:cNvSpPr/>
          <p:nvPr/>
        </p:nvSpPr>
        <p:spPr>
          <a:xfrm>
            <a:off x="9052560" y="1600200"/>
            <a:ext cx="2606040" cy="457200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3" name="TextBox 62"/>
          <p:cNvSpPr txBox="1"/>
          <p:nvPr/>
        </p:nvSpPr>
        <p:spPr>
          <a:xfrm>
            <a:off x="9281160" y="1783080"/>
            <a:ext cx="219456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The decision</a:t>
            </a:r>
          </a:p>
        </p:txBody>
      </p:sp>
      <p:sp>
        <p:nvSpPr>
          <p:cNvPr id="64" name="TextBox 63"/>
          <p:cNvSpPr txBox="1"/>
          <p:nvPr/>
        </p:nvSpPr>
        <p:spPr>
          <a:xfrm>
            <a:off x="9281160" y="2377440"/>
            <a:ext cx="2194560" cy="3657600"/>
          </a:xfrm>
          <a:prstGeom prst="rect">
            <a:avLst/>
          </a:prstGeom>
          <a:noFill/>
        </p:spPr>
        <p:txBody>
          <a:bodyPr wrap="square" anchor="t" lIns="45720" rIns="45720">
            <a:spAutoFit/>
          </a:bodyPr>
          <a:lstStyle/>
          <a:p>
            <a:pPr algn="l">
              <a:spcAft>
                <a:spcPts val="400"/>
              </a:spcAft>
            </a:pPr>
            <a:r>
              <a:rPr sz="1400" b="0" i="0">
                <a:solidFill>
                  <a:srgbClr val="0F2A33"/>
                </a:solidFill>
                <a:latin typeface="Calibri"/>
              </a:rPr>
              <a:t>Each of the 18 neurons is a LIF neuron.</a:t>
            </a:r>
          </a:p>
          <a:p>
            <a:pPr algn="l">
              <a:spcAft>
                <a:spcPts val="400"/>
              </a:spcAft>
            </a:pPr>
            <a:r>
              <a:rPr sz="1400" b="0" i="0">
                <a:solidFill>
                  <a:srgbClr val="0F2A33"/>
                </a:solidFill>
                <a:latin typeface="Calibri"/>
              </a:rPr>
              <a:t>Run 8 time steps.</a:t>
            </a:r>
          </a:p>
          <a:p>
            <a:pPr algn="l">
              <a:spcAft>
                <a:spcPts val="400"/>
              </a:spcAft>
            </a:pPr>
            <a:r>
              <a:rPr sz="1400" b="1" i="0">
                <a:solidFill>
                  <a:srgbClr val="0F2A33"/>
                </a:solidFill>
                <a:latin typeface="Calibri"/>
              </a:rPr>
              <a:t>Winner = the output neuron that fired more.</a:t>
            </a:r>
          </a:p>
          <a:p>
            <a:pPr algn="l">
              <a:spcAft>
                <a:spcPts val="400"/>
              </a:spcAft>
            </a:pPr>
            <a:r>
              <a:rPr sz="1400" b="0" i="0">
                <a:solidFill>
                  <a:srgbClr val="0F2A33"/>
                </a:solidFill>
                <a:latin typeface="Calibri"/>
              </a:rPr>
              <a:t>Weights (int8) are loaded at run time.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12</a:t>
            </a:r>
          </a:p>
        </p:txBody>
      </p:sp>
      <p:sp>
        <p:nvSpPr>
          <p:cNvPr id="3"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Why an SNN fits our application</a:t>
            </a:r>
          </a:p>
        </p:txBody>
      </p:sp>
      <p:sp>
        <p:nvSpPr>
          <p:cNvPr id="4" name="Subtitle"/>
          <p:cNvSpPr txBox="1"/>
          <p:nvPr/>
        </p:nvSpPr>
        <p:spPr>
          <a:xfrm>
            <a:off x="548640" y="1051560"/>
            <a:ext cx="11064240" cy="411480"/>
          </a:xfrm>
          <a:prstGeom prst="rect">
            <a:avLst/>
          </a:prstGeom>
          <a:noFill/>
        </p:spPr>
        <p:txBody>
          <a:bodyPr wrap="square" anchor="t" lIns="45720" rIns="45720">
            <a:spAutoFit/>
          </a:bodyPr>
          <a:lstStyle/>
          <a:p>
            <a:pPr algn="l">
              <a:spcAft>
                <a:spcPts val="400"/>
              </a:spcAft>
            </a:pPr>
            <a:r>
              <a:rPr sz="1600" b="0" i="1">
                <a:solidFill>
                  <a:srgbClr val="5F6F78"/>
                </a:solidFill>
                <a:latin typeface="Calibri"/>
              </a:rPr>
              <a:t>A packet classifier inside the network card, at line rate</a:t>
            </a:r>
          </a:p>
        </p:txBody>
      </p:sp>
      <p:sp>
        <p:nvSpPr>
          <p:cNvPr id="5" name="Rounded Rectangle 4"/>
          <p:cNvSpPr/>
          <p:nvPr/>
        </p:nvSpPr>
        <p:spPr>
          <a:xfrm>
            <a:off x="548640" y="1600200"/>
            <a:ext cx="3566160" cy="21031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 name="Oval 5"/>
          <p:cNvSpPr/>
          <p:nvPr/>
        </p:nvSpPr>
        <p:spPr>
          <a:xfrm>
            <a:off x="731520" y="1783080"/>
            <a:ext cx="457200" cy="45720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1</a:t>
            </a:r>
          </a:p>
        </p:txBody>
      </p:sp>
      <p:sp>
        <p:nvSpPr>
          <p:cNvPr id="7" name="TextBox 6"/>
          <p:cNvSpPr txBox="1"/>
          <p:nvPr/>
        </p:nvSpPr>
        <p:spPr>
          <a:xfrm>
            <a:off x="1325880" y="1783080"/>
            <a:ext cx="2606039"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No multipliers</a:t>
            </a:r>
          </a:p>
        </p:txBody>
      </p:sp>
      <p:sp>
        <p:nvSpPr>
          <p:cNvPr id="8" name="TextBox 7"/>
          <p:cNvSpPr txBox="1"/>
          <p:nvPr/>
        </p:nvSpPr>
        <p:spPr>
          <a:xfrm>
            <a:off x="777240" y="2377440"/>
            <a:ext cx="3154679" cy="1188719"/>
          </a:xfrm>
          <a:prstGeom prst="rect">
            <a:avLst/>
          </a:prstGeom>
          <a:noFill/>
        </p:spPr>
        <p:txBody>
          <a:bodyPr wrap="square" anchor="t" lIns="45720" rIns="45720">
            <a:spAutoFit/>
          </a:bodyPr>
          <a:lstStyle/>
          <a:p>
            <a:pPr algn="l">
              <a:spcAft>
                <a:spcPts val="400"/>
              </a:spcAft>
            </a:pPr>
            <a:r>
              <a:rPr sz="1400" b="0" i="0">
                <a:solidFill>
                  <a:srgbClr val="0F2A33"/>
                </a:solidFill>
                <a:latin typeface="Calibri"/>
              </a:rPr>
              <a:t>spikes make every weight an add; 0 DSP blocks used on FPGA → small, low power</a:t>
            </a:r>
          </a:p>
        </p:txBody>
      </p:sp>
      <p:sp>
        <p:nvSpPr>
          <p:cNvPr id="9" name="Rounded Rectangle 8"/>
          <p:cNvSpPr/>
          <p:nvPr/>
        </p:nvSpPr>
        <p:spPr>
          <a:xfrm>
            <a:off x="4297679" y="1600200"/>
            <a:ext cx="3566160" cy="21031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Oval 9"/>
          <p:cNvSpPr/>
          <p:nvPr/>
        </p:nvSpPr>
        <p:spPr>
          <a:xfrm>
            <a:off x="4480559" y="1783080"/>
            <a:ext cx="457200" cy="45720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2</a:t>
            </a:r>
          </a:p>
        </p:txBody>
      </p:sp>
      <p:sp>
        <p:nvSpPr>
          <p:cNvPr id="11" name="TextBox 10"/>
          <p:cNvSpPr txBox="1"/>
          <p:nvPr/>
        </p:nvSpPr>
        <p:spPr>
          <a:xfrm>
            <a:off x="5074919" y="178308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Event-driven</a:t>
            </a:r>
          </a:p>
        </p:txBody>
      </p:sp>
      <p:sp>
        <p:nvSpPr>
          <p:cNvPr id="12" name="TextBox 11"/>
          <p:cNvSpPr txBox="1"/>
          <p:nvPr/>
        </p:nvSpPr>
        <p:spPr>
          <a:xfrm>
            <a:off x="4526279" y="2377440"/>
            <a:ext cx="3154679" cy="1188719"/>
          </a:xfrm>
          <a:prstGeom prst="rect">
            <a:avLst/>
          </a:prstGeom>
          <a:noFill/>
        </p:spPr>
        <p:txBody>
          <a:bodyPr wrap="square" anchor="t" lIns="45720" rIns="45720">
            <a:spAutoFit/>
          </a:bodyPr>
          <a:lstStyle/>
          <a:p>
            <a:pPr algn="l">
              <a:spcAft>
                <a:spcPts val="400"/>
              </a:spcAft>
            </a:pPr>
            <a:r>
              <a:rPr sz="1400" b="0" i="0">
                <a:solidFill>
                  <a:srgbClr val="0F2A33"/>
                </a:solidFill>
                <a:latin typeface="Calibri"/>
              </a:rPr>
              <a:t>only the ~13 of 64 'active' header features are processed per packet</a:t>
            </a:r>
          </a:p>
        </p:txBody>
      </p:sp>
      <p:sp>
        <p:nvSpPr>
          <p:cNvPr id="13" name="Rounded Rectangle 12"/>
          <p:cNvSpPr/>
          <p:nvPr/>
        </p:nvSpPr>
        <p:spPr>
          <a:xfrm>
            <a:off x="8046719" y="1600200"/>
            <a:ext cx="3566160" cy="21031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Oval 13"/>
          <p:cNvSpPr/>
          <p:nvPr/>
        </p:nvSpPr>
        <p:spPr>
          <a:xfrm>
            <a:off x="8229599" y="1783080"/>
            <a:ext cx="457200" cy="45720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3</a:t>
            </a:r>
          </a:p>
        </p:txBody>
      </p:sp>
      <p:sp>
        <p:nvSpPr>
          <p:cNvPr id="15" name="TextBox 14"/>
          <p:cNvSpPr txBox="1"/>
          <p:nvPr/>
        </p:nvSpPr>
        <p:spPr>
          <a:xfrm>
            <a:off x="8823959" y="178308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Memory over time</a:t>
            </a:r>
          </a:p>
        </p:txBody>
      </p:sp>
      <p:sp>
        <p:nvSpPr>
          <p:cNvPr id="16" name="TextBox 15"/>
          <p:cNvSpPr txBox="1"/>
          <p:nvPr/>
        </p:nvSpPr>
        <p:spPr>
          <a:xfrm>
            <a:off x="8275319" y="2377440"/>
            <a:ext cx="3154679" cy="1188719"/>
          </a:xfrm>
          <a:prstGeom prst="rect">
            <a:avLst/>
          </a:prstGeom>
          <a:noFill/>
        </p:spPr>
        <p:txBody>
          <a:bodyPr wrap="square" anchor="t" lIns="45720" rIns="45720">
            <a:spAutoFit/>
          </a:bodyPr>
          <a:lstStyle/>
          <a:p>
            <a:pPr algn="l">
              <a:spcAft>
                <a:spcPts val="400"/>
              </a:spcAft>
            </a:pPr>
            <a:r>
              <a:rPr sz="1400" b="0" i="0">
                <a:solidFill>
                  <a:srgbClr val="0F2A33"/>
                </a:solidFill>
                <a:latin typeface="Calibri"/>
              </a:rPr>
              <a:t>the leak + a rate window catch SYN floods and scans that single packets hide</a:t>
            </a:r>
          </a:p>
        </p:txBody>
      </p:sp>
      <p:sp>
        <p:nvSpPr>
          <p:cNvPr id="17" name="Rounded Rectangle 16"/>
          <p:cNvSpPr/>
          <p:nvPr/>
        </p:nvSpPr>
        <p:spPr>
          <a:xfrm>
            <a:off x="548640" y="3886200"/>
            <a:ext cx="3566160" cy="21031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8" name="Oval 17"/>
          <p:cNvSpPr/>
          <p:nvPr/>
        </p:nvSpPr>
        <p:spPr>
          <a:xfrm>
            <a:off x="731520" y="4069080"/>
            <a:ext cx="457200" cy="45720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4</a:t>
            </a:r>
          </a:p>
        </p:txBody>
      </p:sp>
      <p:sp>
        <p:nvSpPr>
          <p:cNvPr id="19" name="TextBox 18"/>
          <p:cNvSpPr txBox="1"/>
          <p:nvPr/>
        </p:nvSpPr>
        <p:spPr>
          <a:xfrm>
            <a:off x="1325880" y="4069080"/>
            <a:ext cx="2606039"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Fast enough</a:t>
            </a:r>
          </a:p>
        </p:txBody>
      </p:sp>
      <p:sp>
        <p:nvSpPr>
          <p:cNvPr id="20" name="TextBox 19"/>
          <p:cNvSpPr txBox="1"/>
          <p:nvPr/>
        </p:nvSpPr>
        <p:spPr>
          <a:xfrm>
            <a:off x="777240" y="4663440"/>
            <a:ext cx="3154679" cy="1188719"/>
          </a:xfrm>
          <a:prstGeom prst="rect">
            <a:avLst/>
          </a:prstGeom>
          <a:noFill/>
        </p:spPr>
        <p:txBody>
          <a:bodyPr wrap="square" anchor="t" lIns="45720" rIns="45720">
            <a:spAutoFit/>
          </a:bodyPr>
          <a:lstStyle/>
          <a:p>
            <a:pPr algn="l">
              <a:spcAft>
                <a:spcPts val="400"/>
              </a:spcAft>
            </a:pPr>
            <a:r>
              <a:rPr sz="1400" b="0" i="0">
                <a:solidFill>
                  <a:srgbClr val="0F2A33"/>
                </a:solidFill>
                <a:latin typeface="Calibri"/>
              </a:rPr>
              <a:t>~28 clock cycles per packet — keeps up with 1 Gb/s</a:t>
            </a:r>
          </a:p>
        </p:txBody>
      </p:sp>
      <p:sp>
        <p:nvSpPr>
          <p:cNvPr id="21" name="Rounded Rectangle 20"/>
          <p:cNvSpPr/>
          <p:nvPr/>
        </p:nvSpPr>
        <p:spPr>
          <a:xfrm>
            <a:off x="4297679" y="3886200"/>
            <a:ext cx="3566160" cy="21031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2" name="Oval 21"/>
          <p:cNvSpPr/>
          <p:nvPr/>
        </p:nvSpPr>
        <p:spPr>
          <a:xfrm>
            <a:off x="4480559" y="4069080"/>
            <a:ext cx="457200" cy="45720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5</a:t>
            </a:r>
          </a:p>
        </p:txBody>
      </p:sp>
      <p:sp>
        <p:nvSpPr>
          <p:cNvPr id="23" name="TextBox 22"/>
          <p:cNvSpPr txBox="1"/>
          <p:nvPr/>
        </p:nvSpPr>
        <p:spPr>
          <a:xfrm>
            <a:off x="5074919" y="406908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Retrain, don't rebuild</a:t>
            </a:r>
          </a:p>
        </p:txBody>
      </p:sp>
      <p:sp>
        <p:nvSpPr>
          <p:cNvPr id="24" name="TextBox 23"/>
          <p:cNvSpPr txBox="1"/>
          <p:nvPr/>
        </p:nvSpPr>
        <p:spPr>
          <a:xfrm>
            <a:off x="4526279" y="4663440"/>
            <a:ext cx="3154679" cy="1188719"/>
          </a:xfrm>
          <a:prstGeom prst="rect">
            <a:avLst/>
          </a:prstGeom>
          <a:noFill/>
        </p:spPr>
        <p:txBody>
          <a:bodyPr wrap="square" anchor="t" lIns="45720" rIns="45720">
            <a:spAutoFit/>
          </a:bodyPr>
          <a:lstStyle/>
          <a:p>
            <a:pPr algn="l">
              <a:spcAft>
                <a:spcPts val="400"/>
              </a:spcAft>
            </a:pPr>
            <a:r>
              <a:rPr sz="1400" b="0" i="0">
                <a:solidFill>
                  <a:srgbClr val="0F2A33"/>
                </a:solidFill>
                <a:latin typeface="Calibri"/>
              </a:rPr>
              <a:t>weights are loaded at run time; no new chip needed</a:t>
            </a:r>
          </a:p>
        </p:txBody>
      </p:sp>
      <p:sp>
        <p:nvSpPr>
          <p:cNvPr id="25" name="Rounded Rectangle 24"/>
          <p:cNvSpPr/>
          <p:nvPr/>
        </p:nvSpPr>
        <p:spPr>
          <a:xfrm>
            <a:off x="8046719" y="3886200"/>
            <a:ext cx="3566160" cy="21031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6" name="Oval 25"/>
          <p:cNvSpPr/>
          <p:nvPr/>
        </p:nvSpPr>
        <p:spPr>
          <a:xfrm>
            <a:off x="8229599" y="4069080"/>
            <a:ext cx="457200" cy="45720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6</a:t>
            </a:r>
          </a:p>
        </p:txBody>
      </p:sp>
      <p:sp>
        <p:nvSpPr>
          <p:cNvPr id="27" name="TextBox 26"/>
          <p:cNvSpPr txBox="1"/>
          <p:nvPr/>
        </p:nvSpPr>
        <p:spPr>
          <a:xfrm>
            <a:off x="8823959" y="406908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Neuromorphic path</a:t>
            </a:r>
          </a:p>
        </p:txBody>
      </p:sp>
      <p:sp>
        <p:nvSpPr>
          <p:cNvPr id="28" name="TextBox 27"/>
          <p:cNvSpPr txBox="1"/>
          <p:nvPr/>
        </p:nvSpPr>
        <p:spPr>
          <a:xfrm>
            <a:off x="8275319" y="4663440"/>
            <a:ext cx="3154679" cy="1188719"/>
          </a:xfrm>
          <a:prstGeom prst="rect">
            <a:avLst/>
          </a:prstGeom>
          <a:noFill/>
        </p:spPr>
        <p:txBody>
          <a:bodyPr wrap="square" anchor="t" lIns="45720" rIns="45720">
            <a:spAutoFit/>
          </a:bodyPr>
          <a:lstStyle/>
          <a:p>
            <a:pPr algn="l">
              <a:spcAft>
                <a:spcPts val="400"/>
              </a:spcAft>
            </a:pPr>
            <a:r>
              <a:rPr sz="1400" b="0" i="0">
                <a:solidFill>
                  <a:srgbClr val="0F2A33"/>
                </a:solidFill>
                <a:latin typeface="Calibri"/>
              </a:rPr>
              <a:t>on-chip learning (STDP) possible later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13</a:t>
            </a:r>
          </a:p>
        </p:txBody>
      </p:sp>
      <p:sp>
        <p:nvSpPr>
          <p:cNvPr id="3"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Our hardware cost (power &amp; area)</a:t>
            </a:r>
          </a:p>
        </p:txBody>
      </p:sp>
      <p:sp>
        <p:nvSpPr>
          <p:cNvPr id="4" name="Rounded Rectangle 3"/>
          <p:cNvSpPr/>
          <p:nvPr/>
        </p:nvSpPr>
        <p:spPr>
          <a:xfrm>
            <a:off x="548640" y="1645920"/>
            <a:ext cx="3566160" cy="196596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548640" y="1828800"/>
            <a:ext cx="3566160" cy="914400"/>
          </a:xfrm>
          <a:prstGeom prst="rect">
            <a:avLst/>
          </a:prstGeom>
          <a:noFill/>
        </p:spPr>
        <p:txBody>
          <a:bodyPr wrap="square" anchor="ctr" lIns="45720" rIns="45720">
            <a:spAutoFit/>
          </a:bodyPr>
          <a:lstStyle/>
          <a:p>
            <a:pPr algn="ctr">
              <a:spcAft>
                <a:spcPts val="400"/>
              </a:spcAft>
            </a:pPr>
            <a:r>
              <a:rPr sz="3800" b="1" i="0">
                <a:solidFill>
                  <a:srgbClr val="0F2A33"/>
                </a:solidFill>
                <a:latin typeface="Cambria"/>
              </a:rPr>
              <a:t>1.28 mm²</a:t>
            </a:r>
          </a:p>
        </p:txBody>
      </p:sp>
      <p:sp>
        <p:nvSpPr>
          <p:cNvPr id="6" name="TextBox 5"/>
          <p:cNvSpPr txBox="1"/>
          <p:nvPr/>
        </p:nvSpPr>
        <p:spPr>
          <a:xfrm>
            <a:off x="731520" y="2788920"/>
            <a:ext cx="3200400" cy="731520"/>
          </a:xfrm>
          <a:prstGeom prst="rect">
            <a:avLst/>
          </a:prstGeom>
          <a:noFill/>
        </p:spPr>
        <p:txBody>
          <a:bodyPr wrap="square" anchor="t" lIns="45720" rIns="45720">
            <a:spAutoFit/>
          </a:bodyPr>
          <a:lstStyle/>
          <a:p>
            <a:pPr algn="ctr">
              <a:spcAft>
                <a:spcPts val="400"/>
              </a:spcAft>
            </a:pPr>
            <a:r>
              <a:rPr sz="1400" b="0" i="0">
                <a:solidFill>
                  <a:srgbClr val="0F2A33"/>
                </a:solidFill>
                <a:latin typeface="Calibri"/>
              </a:rPr>
              <a:t>sky130 die, placed &amp; routed</a:t>
            </a:r>
          </a:p>
        </p:txBody>
      </p:sp>
      <p:sp>
        <p:nvSpPr>
          <p:cNvPr id="7" name="Rounded Rectangle 6"/>
          <p:cNvSpPr/>
          <p:nvPr/>
        </p:nvSpPr>
        <p:spPr>
          <a:xfrm>
            <a:off x="4297679" y="1645920"/>
            <a:ext cx="3566160" cy="196596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297679" y="1828800"/>
            <a:ext cx="3566160" cy="914400"/>
          </a:xfrm>
          <a:prstGeom prst="rect">
            <a:avLst/>
          </a:prstGeom>
          <a:noFill/>
        </p:spPr>
        <p:txBody>
          <a:bodyPr wrap="square" anchor="ctr" lIns="45720" rIns="45720">
            <a:spAutoFit/>
          </a:bodyPr>
          <a:lstStyle/>
          <a:p>
            <a:pPr algn="ctr">
              <a:spcAft>
                <a:spcPts val="400"/>
              </a:spcAft>
            </a:pPr>
            <a:r>
              <a:rPr sz="3800" b="1" i="0">
                <a:solidFill>
                  <a:srgbClr val="7A5C99"/>
                </a:solidFill>
                <a:latin typeface="Cambria"/>
              </a:rPr>
              <a:t>125 mW</a:t>
            </a:r>
          </a:p>
        </p:txBody>
      </p:sp>
      <p:sp>
        <p:nvSpPr>
          <p:cNvPr id="9" name="TextBox 8"/>
          <p:cNvSpPr txBox="1"/>
          <p:nvPr/>
        </p:nvSpPr>
        <p:spPr>
          <a:xfrm>
            <a:off x="4480559" y="2788920"/>
            <a:ext cx="3200400" cy="731520"/>
          </a:xfrm>
          <a:prstGeom prst="rect">
            <a:avLst/>
          </a:prstGeom>
          <a:noFill/>
        </p:spPr>
        <p:txBody>
          <a:bodyPr wrap="square" anchor="t" lIns="45720" rIns="45720">
            <a:spAutoFit/>
          </a:bodyPr>
          <a:lstStyle/>
          <a:p>
            <a:pPr algn="ctr">
              <a:spcAft>
                <a:spcPts val="400"/>
              </a:spcAft>
            </a:pPr>
            <a:r>
              <a:rPr sz="1400" b="0" i="0">
                <a:solidFill>
                  <a:srgbClr val="0F2A33"/>
                </a:solidFill>
                <a:latin typeface="Calibri"/>
              </a:rPr>
              <a:t>at 100 MHz (sky130, typical)</a:t>
            </a:r>
          </a:p>
        </p:txBody>
      </p:sp>
      <p:sp>
        <p:nvSpPr>
          <p:cNvPr id="10" name="Rounded Rectangle 9"/>
          <p:cNvSpPr/>
          <p:nvPr/>
        </p:nvSpPr>
        <p:spPr>
          <a:xfrm>
            <a:off x="8046719" y="1645920"/>
            <a:ext cx="3566160" cy="196596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8046719" y="1828800"/>
            <a:ext cx="3566160" cy="914400"/>
          </a:xfrm>
          <a:prstGeom prst="rect">
            <a:avLst/>
          </a:prstGeom>
          <a:noFill/>
        </p:spPr>
        <p:txBody>
          <a:bodyPr wrap="square" anchor="ctr" lIns="45720" rIns="45720">
            <a:spAutoFit/>
          </a:bodyPr>
          <a:lstStyle/>
          <a:p>
            <a:pPr algn="ctr">
              <a:spcAft>
                <a:spcPts val="400"/>
              </a:spcAft>
            </a:pPr>
            <a:r>
              <a:rPr sz="3800" b="1" i="0">
                <a:solidFill>
                  <a:srgbClr val="B5761A"/>
                </a:solidFill>
                <a:latin typeface="Cambria"/>
              </a:rPr>
              <a:t>0</a:t>
            </a:r>
          </a:p>
        </p:txBody>
      </p:sp>
      <p:sp>
        <p:nvSpPr>
          <p:cNvPr id="12" name="TextBox 11"/>
          <p:cNvSpPr txBox="1"/>
          <p:nvPr/>
        </p:nvSpPr>
        <p:spPr>
          <a:xfrm>
            <a:off x="8229599" y="2788920"/>
            <a:ext cx="3200400" cy="731520"/>
          </a:xfrm>
          <a:prstGeom prst="rect">
            <a:avLst/>
          </a:prstGeom>
          <a:noFill/>
        </p:spPr>
        <p:txBody>
          <a:bodyPr wrap="square" anchor="t" lIns="45720" rIns="45720">
            <a:spAutoFit/>
          </a:bodyPr>
          <a:lstStyle/>
          <a:p>
            <a:pPr algn="ctr">
              <a:spcAft>
                <a:spcPts val="400"/>
              </a:spcAft>
            </a:pPr>
            <a:r>
              <a:rPr sz="1400" b="0" i="0">
                <a:solidFill>
                  <a:srgbClr val="0F2A33"/>
                </a:solidFill>
                <a:latin typeface="Calibri"/>
              </a:rPr>
              <a:t>multipliers / DSP blocks</a:t>
            </a:r>
          </a:p>
        </p:txBody>
      </p:sp>
      <p:sp>
        <p:nvSpPr>
          <p:cNvPr id="13" name="Rounded Rectangle 12"/>
          <p:cNvSpPr/>
          <p:nvPr/>
        </p:nvSpPr>
        <p:spPr>
          <a:xfrm>
            <a:off x="548640" y="3840480"/>
            <a:ext cx="3566160" cy="196596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TextBox 13"/>
          <p:cNvSpPr txBox="1"/>
          <p:nvPr/>
        </p:nvSpPr>
        <p:spPr>
          <a:xfrm>
            <a:off x="548640" y="4023360"/>
            <a:ext cx="3566160" cy="914400"/>
          </a:xfrm>
          <a:prstGeom prst="rect">
            <a:avLst/>
          </a:prstGeom>
          <a:noFill/>
        </p:spPr>
        <p:txBody>
          <a:bodyPr wrap="square" anchor="ctr" lIns="45720" rIns="45720">
            <a:spAutoFit/>
          </a:bodyPr>
          <a:lstStyle/>
          <a:p>
            <a:pPr algn="ctr">
              <a:spcAft>
                <a:spcPts val="400"/>
              </a:spcAft>
            </a:pPr>
            <a:r>
              <a:rPr sz="3800" b="1" i="0">
                <a:solidFill>
                  <a:srgbClr val="1B998B"/>
                </a:solidFill>
                <a:latin typeface="Cambria"/>
              </a:rPr>
              <a:t>6 %</a:t>
            </a:r>
          </a:p>
        </p:txBody>
      </p:sp>
      <p:sp>
        <p:nvSpPr>
          <p:cNvPr id="15" name="TextBox 14"/>
          <p:cNvSpPr txBox="1"/>
          <p:nvPr/>
        </p:nvSpPr>
        <p:spPr>
          <a:xfrm>
            <a:off x="731520" y="4983480"/>
            <a:ext cx="3200400" cy="731520"/>
          </a:xfrm>
          <a:prstGeom prst="rect">
            <a:avLst/>
          </a:prstGeom>
          <a:noFill/>
        </p:spPr>
        <p:txBody>
          <a:bodyPr wrap="square" anchor="t" lIns="45720" rIns="45720">
            <a:spAutoFit/>
          </a:bodyPr>
          <a:lstStyle/>
          <a:p>
            <a:pPr algn="ctr">
              <a:spcAft>
                <a:spcPts val="400"/>
              </a:spcAft>
            </a:pPr>
            <a:r>
              <a:rPr sz="1400" b="0" i="0">
                <a:solidFill>
                  <a:srgbClr val="0F2A33"/>
                </a:solidFill>
                <a:latin typeface="Calibri"/>
              </a:rPr>
              <a:t>of a Cyclone V FPGA</a:t>
            </a:r>
          </a:p>
        </p:txBody>
      </p:sp>
      <p:sp>
        <p:nvSpPr>
          <p:cNvPr id="16" name="Rounded Rectangle 15"/>
          <p:cNvSpPr/>
          <p:nvPr/>
        </p:nvSpPr>
        <p:spPr>
          <a:xfrm>
            <a:off x="4297679" y="3840480"/>
            <a:ext cx="3566160" cy="196596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TextBox 16"/>
          <p:cNvSpPr txBox="1"/>
          <p:nvPr/>
        </p:nvSpPr>
        <p:spPr>
          <a:xfrm>
            <a:off x="4297679" y="4023360"/>
            <a:ext cx="3566160" cy="914400"/>
          </a:xfrm>
          <a:prstGeom prst="rect">
            <a:avLst/>
          </a:prstGeom>
          <a:noFill/>
        </p:spPr>
        <p:txBody>
          <a:bodyPr wrap="square" anchor="ctr" lIns="45720" rIns="45720">
            <a:spAutoFit/>
          </a:bodyPr>
          <a:lstStyle/>
          <a:p>
            <a:pPr algn="ctr">
              <a:spcAft>
                <a:spcPts val="400"/>
              </a:spcAft>
            </a:pPr>
            <a:r>
              <a:rPr sz="3800" b="1" i="0">
                <a:solidFill>
                  <a:srgbClr val="2E86AB"/>
                </a:solidFill>
                <a:latin typeface="Cambria"/>
              </a:rPr>
              <a:t>~28</a:t>
            </a:r>
          </a:p>
        </p:txBody>
      </p:sp>
      <p:sp>
        <p:nvSpPr>
          <p:cNvPr id="18" name="TextBox 17"/>
          <p:cNvSpPr txBox="1"/>
          <p:nvPr/>
        </p:nvSpPr>
        <p:spPr>
          <a:xfrm>
            <a:off x="4480559" y="4983480"/>
            <a:ext cx="3200400" cy="731520"/>
          </a:xfrm>
          <a:prstGeom prst="rect">
            <a:avLst/>
          </a:prstGeom>
          <a:noFill/>
        </p:spPr>
        <p:txBody>
          <a:bodyPr wrap="square" anchor="t" lIns="45720" rIns="45720">
            <a:spAutoFit/>
          </a:bodyPr>
          <a:lstStyle/>
          <a:p>
            <a:pPr algn="ctr">
              <a:spcAft>
                <a:spcPts val="400"/>
              </a:spcAft>
            </a:pPr>
            <a:r>
              <a:rPr sz="1400" b="0" i="0">
                <a:solidFill>
                  <a:srgbClr val="0F2A33"/>
                </a:solidFill>
                <a:latin typeface="Calibri"/>
              </a:rPr>
              <a:t>clock cycles per packet</a:t>
            </a:r>
          </a:p>
        </p:txBody>
      </p:sp>
      <p:sp>
        <p:nvSpPr>
          <p:cNvPr id="19" name="Rounded Rectangle 18"/>
          <p:cNvSpPr/>
          <p:nvPr/>
        </p:nvSpPr>
        <p:spPr>
          <a:xfrm>
            <a:off x="8046719" y="3840480"/>
            <a:ext cx="3566160" cy="196596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8046719" y="4023360"/>
            <a:ext cx="3566160" cy="914400"/>
          </a:xfrm>
          <a:prstGeom prst="rect">
            <a:avLst/>
          </a:prstGeom>
          <a:noFill/>
        </p:spPr>
        <p:txBody>
          <a:bodyPr wrap="square" anchor="ctr" lIns="45720" rIns="45720">
            <a:spAutoFit/>
          </a:bodyPr>
          <a:lstStyle/>
          <a:p>
            <a:pPr algn="ctr">
              <a:spcAft>
                <a:spcPts val="400"/>
              </a:spcAft>
            </a:pPr>
            <a:r>
              <a:rPr sz="3800" b="1" i="0">
                <a:solidFill>
                  <a:srgbClr val="5F6F78"/>
                </a:solidFill>
                <a:latin typeface="Cambria"/>
              </a:rPr>
              <a:t>28 k</a:t>
            </a:r>
          </a:p>
        </p:txBody>
      </p:sp>
      <p:sp>
        <p:nvSpPr>
          <p:cNvPr id="21" name="TextBox 20"/>
          <p:cNvSpPr txBox="1"/>
          <p:nvPr/>
        </p:nvSpPr>
        <p:spPr>
          <a:xfrm>
            <a:off x="8229599" y="4983480"/>
            <a:ext cx="3200400" cy="731520"/>
          </a:xfrm>
          <a:prstGeom prst="rect">
            <a:avLst/>
          </a:prstGeom>
          <a:noFill/>
        </p:spPr>
        <p:txBody>
          <a:bodyPr wrap="square" anchor="t" lIns="45720" rIns="45720">
            <a:spAutoFit/>
          </a:bodyPr>
          <a:lstStyle/>
          <a:p>
            <a:pPr algn="ctr">
              <a:spcAft>
                <a:spcPts val="400"/>
              </a:spcAft>
            </a:pPr>
            <a:r>
              <a:rPr sz="1400" b="0" i="0">
                <a:solidFill>
                  <a:srgbClr val="0F2A33"/>
                </a:solidFill>
                <a:latin typeface="Calibri"/>
              </a:rPr>
              <a:t>flip-flops (mostly buffer+weights)</a:t>
            </a:r>
          </a:p>
        </p:txBody>
      </p:sp>
      <p:sp>
        <p:nvSpPr>
          <p:cNvPr id="22" name="TextBox 21"/>
          <p:cNvSpPr txBox="1"/>
          <p:nvPr/>
        </p:nvSpPr>
        <p:spPr>
          <a:xfrm>
            <a:off x="548640" y="6172200"/>
            <a:ext cx="11109960" cy="365760"/>
          </a:xfrm>
          <a:prstGeom prst="rect">
            <a:avLst/>
          </a:prstGeom>
          <a:noFill/>
        </p:spPr>
        <p:txBody>
          <a:bodyPr wrap="square" anchor="t" lIns="45720" rIns="45720">
            <a:spAutoFit/>
          </a:bodyPr>
          <a:lstStyle/>
          <a:p>
            <a:pPr algn="l">
              <a:spcAft>
                <a:spcPts val="400"/>
              </a:spcAft>
            </a:pPr>
            <a:r>
              <a:rPr sz="1300" b="0" i="1">
                <a:solidFill>
                  <a:srgbClr val="5F6F78"/>
                </a:solidFill>
                <a:latin typeface="Calibri"/>
              </a:rPr>
              <a:t>sky130 synthesis: SNN core 0.39 mm². Cadence 90 nm (Genus) area/timing/power: being finalised on the uni server.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14</a:t>
            </a:r>
          </a:p>
        </p:txBody>
      </p:sp>
      <p:sp>
        <p:nvSpPr>
          <p:cNvPr id="3"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Our approach vs the literature</a:t>
            </a:r>
          </a:p>
        </p:txBody>
      </p:sp>
      <p:graphicFrame>
        <p:nvGraphicFramePr>
          <p:cNvPr id="4" name="Table 3"/>
          <p:cNvGraphicFramePr>
            <a:graphicFrameLocks noGrp="1"/>
          </p:cNvGraphicFramePr>
          <p:nvPr/>
        </p:nvGraphicFramePr>
        <p:xfrm>
          <a:off x="548640" y="1417320"/>
          <a:ext cx="11109960" cy="3968496"/>
        </p:xfrm>
        <a:graphic>
          <a:graphicData uri="http://schemas.openxmlformats.org/drawingml/2006/table">
            <a:tbl>
              <a:tblPr firstRow="1" bandRow="1">
                <a:tableStyleId>{5C22544A-7EE6-4342-B048-85BDC9FD1C3A}</a:tableStyleId>
              </a:tblPr>
              <a:tblGrid>
                <a:gridCol w="3703320"/>
                <a:gridCol w="2036826"/>
                <a:gridCol w="1851660"/>
                <a:gridCol w="3518154"/>
              </a:tblGrid>
              <a:tr h="566928">
                <a:tc>
                  <a:txBody>
                    <a:bodyPr wrap="square"/>
                    <a:lstStyle/>
                    <a:p>
                      <a:r>
                        <a:rPr sz="1300" b="1">
                          <a:solidFill>
                            <a:srgbClr val="FFFFFF"/>
                          </a:solidFill>
                          <a:latin typeface="Calibri"/>
                        </a:rPr>
                        <a:t>work</a:t>
                      </a:r>
                    </a:p>
                  </a:txBody>
                  <a:tcPr marL="73152" marR="73152" marT="36576" marB="36576" anchor="ctr">
                    <a:solidFill>
                      <a:srgbClr val="1B4D5C"/>
                    </a:solidFill>
                  </a:tcPr>
                </a:tc>
                <a:tc>
                  <a:txBody>
                    <a:bodyPr wrap="square"/>
                    <a:lstStyle/>
                    <a:p>
                      <a:r>
                        <a:rPr sz="1300" b="1">
                          <a:solidFill>
                            <a:srgbClr val="FFFFFF"/>
                          </a:solidFill>
                          <a:latin typeface="Calibri"/>
                        </a:rPr>
                        <a:t>platform</a:t>
                      </a:r>
                    </a:p>
                  </a:txBody>
                  <a:tcPr marL="73152" marR="73152" marT="36576" marB="36576" anchor="ctr">
                    <a:solidFill>
                      <a:srgbClr val="1B4D5C"/>
                    </a:solidFill>
                  </a:tcPr>
                </a:tc>
                <a:tc>
                  <a:txBody>
                    <a:bodyPr wrap="square"/>
                    <a:lstStyle/>
                    <a:p>
                      <a:r>
                        <a:rPr sz="1300" b="1">
                          <a:solidFill>
                            <a:srgbClr val="FFFFFF"/>
                          </a:solidFill>
                          <a:latin typeface="Calibri"/>
                        </a:rPr>
                        <a:t>multipliers</a:t>
                      </a:r>
                    </a:p>
                  </a:txBody>
                  <a:tcPr marL="73152" marR="73152" marT="36576" marB="36576" anchor="ctr">
                    <a:solidFill>
                      <a:srgbClr val="1B4D5C"/>
                    </a:solidFill>
                  </a:tcPr>
                </a:tc>
                <a:tc>
                  <a:txBody>
                    <a:bodyPr wrap="square"/>
                    <a:lstStyle/>
                    <a:p>
                      <a:r>
                        <a:rPr sz="1300" b="1">
                          <a:solidFill>
                            <a:srgbClr val="FFFFFF"/>
                          </a:solidFill>
                          <a:latin typeface="Calibri"/>
                        </a:rPr>
                        <a:t>vs ours</a:t>
                      </a:r>
                    </a:p>
                  </a:txBody>
                  <a:tcPr marL="73152" marR="73152" marT="36576" marB="36576" anchor="ctr">
                    <a:solidFill>
                      <a:srgbClr val="1B4D5C"/>
                    </a:solidFill>
                  </a:tcPr>
                </a:tc>
              </a:tr>
              <a:tr h="566928">
                <a:tc>
                  <a:txBody>
                    <a:bodyPr wrap="square"/>
                    <a:lstStyle/>
                    <a:p>
                      <a:r>
                        <a:rPr sz="1300" b="1">
                          <a:solidFill>
                            <a:srgbClr val="0F2A33"/>
                          </a:solidFill>
                          <a:latin typeface="Calibri"/>
                        </a:rPr>
                        <a:t>Alom &amp; Taha [IJCNN 2017]</a:t>
                      </a:r>
                    </a:p>
                  </a:txBody>
                  <a:tcPr marL="73152" marR="73152" marT="36576" marB="36576" anchor="ctr">
                    <a:solidFill>
                      <a:srgbClr val="FFFFFF"/>
                    </a:solidFill>
                  </a:tcPr>
                </a:tc>
                <a:tc>
                  <a:txBody>
                    <a:bodyPr wrap="square"/>
                    <a:lstStyle/>
                    <a:p>
                      <a:r>
                        <a:rPr sz="1300" b="0">
                          <a:solidFill>
                            <a:srgbClr val="0F2A33"/>
                          </a:solidFill>
                          <a:latin typeface="Calibri"/>
                        </a:rPr>
                        <a:t>TrueNorth chip</a:t>
                      </a:r>
                    </a:p>
                  </a:txBody>
                  <a:tcPr marL="73152" marR="73152" marT="36576" marB="36576" anchor="ctr">
                    <a:solidFill>
                      <a:srgbClr val="FFFFFF"/>
                    </a:solidFill>
                  </a:tcPr>
                </a:tc>
                <a:tc>
                  <a:txBody>
                    <a:bodyPr wrap="square"/>
                    <a:lstStyle/>
                    <a:p>
                      <a:r>
                        <a:rPr sz="1300" b="0">
                          <a:solidFill>
                            <a:srgbClr val="0F2A33"/>
                          </a:solidFill>
                          <a:latin typeface="Calibri"/>
                        </a:rPr>
                        <a:t>—</a:t>
                      </a:r>
                    </a:p>
                  </a:txBody>
                  <a:tcPr marL="73152" marR="73152" marT="36576" marB="36576" anchor="ctr">
                    <a:solidFill>
                      <a:srgbClr val="FFFFFF"/>
                    </a:solidFill>
                  </a:tcPr>
                </a:tc>
                <a:tc>
                  <a:txBody>
                    <a:bodyPr wrap="square"/>
                    <a:lstStyle/>
                    <a:p>
                      <a:r>
                        <a:rPr sz="1300" b="0">
                          <a:solidFill>
                            <a:srgbClr val="0F2A33"/>
                          </a:solidFill>
                          <a:latin typeface="Calibri"/>
                        </a:rPr>
                        <a:t>SNN IDS 90.1%, but off the data path (software feeds it)</a:t>
                      </a:r>
                    </a:p>
                  </a:txBody>
                  <a:tcPr marL="73152" marR="73152" marT="36576" marB="36576" anchor="ctr">
                    <a:solidFill>
                      <a:srgbClr val="FFFFFF"/>
                    </a:solidFill>
                  </a:tcPr>
                </a:tc>
              </a:tr>
              <a:tr h="566928">
                <a:tc>
                  <a:txBody>
                    <a:bodyPr wrap="square"/>
                    <a:lstStyle/>
                    <a:p>
                      <a:r>
                        <a:rPr sz="1300" b="1">
                          <a:solidFill>
                            <a:srgbClr val="0F2A33"/>
                          </a:solidFill>
                          <a:latin typeface="Calibri"/>
                        </a:rPr>
                        <a:t>Zhou &amp; Li [ICPR 2020]</a:t>
                      </a:r>
                    </a:p>
                  </a:txBody>
                  <a:tcPr marL="73152" marR="73152" marT="36576" marB="36576" anchor="ctr">
                    <a:solidFill>
                      <a:srgbClr val="EAF2F3"/>
                    </a:solidFill>
                  </a:tcPr>
                </a:tc>
                <a:tc>
                  <a:txBody>
                    <a:bodyPr wrap="square"/>
                    <a:lstStyle/>
                    <a:p>
                      <a:r>
                        <a:rPr sz="1300" b="0">
                          <a:solidFill>
                            <a:srgbClr val="0F2A33"/>
                          </a:solidFill>
                          <a:latin typeface="Calibri"/>
                        </a:rPr>
                        <a:t>software / sim</a:t>
                      </a:r>
                    </a:p>
                  </a:txBody>
                  <a:tcPr marL="73152" marR="73152" marT="36576" marB="36576" anchor="ctr">
                    <a:solidFill>
                      <a:srgbClr val="EAF2F3"/>
                    </a:solidFill>
                  </a:tcPr>
                </a:tc>
                <a:tc>
                  <a:txBody>
                    <a:bodyPr wrap="square"/>
                    <a:lstStyle/>
                    <a:p>
                      <a:r>
                        <a:rPr sz="1300" b="0">
                          <a:solidFill>
                            <a:srgbClr val="0F2A33"/>
                          </a:solidFill>
                          <a:latin typeface="Calibri"/>
                        </a:rPr>
                        <a:t>—</a:t>
                      </a:r>
                    </a:p>
                  </a:txBody>
                  <a:tcPr marL="73152" marR="73152" marT="36576" marB="36576" anchor="ctr">
                    <a:solidFill>
                      <a:srgbClr val="EAF2F3"/>
                    </a:solidFill>
                  </a:tcPr>
                </a:tc>
                <a:tc>
                  <a:txBody>
                    <a:bodyPr wrap="square"/>
                    <a:lstStyle/>
                    <a:p>
                      <a:r>
                        <a:rPr sz="1300" b="0">
                          <a:solidFill>
                            <a:srgbClr val="0F2A33"/>
                          </a:solidFill>
                          <a:latin typeface="Calibri"/>
                        </a:rPr>
                        <a:t>temporal-coded SNN IDS; no line-rate hardware</a:t>
                      </a:r>
                    </a:p>
                  </a:txBody>
                  <a:tcPr marL="73152" marR="73152" marT="36576" marB="36576" anchor="ctr">
                    <a:solidFill>
                      <a:srgbClr val="EAF2F3"/>
                    </a:solidFill>
                  </a:tcPr>
                </a:tc>
              </a:tr>
              <a:tr h="566928">
                <a:tc>
                  <a:txBody>
                    <a:bodyPr wrap="square"/>
                    <a:lstStyle/>
                    <a:p>
                      <a:r>
                        <a:rPr sz="1300" b="1">
                          <a:solidFill>
                            <a:srgbClr val="0F2A33"/>
                          </a:solidFill>
                          <a:latin typeface="Calibri"/>
                        </a:rPr>
                        <a:t>Taurus [ASPLOS 2022]</a:t>
                      </a:r>
                    </a:p>
                  </a:txBody>
                  <a:tcPr marL="73152" marR="73152" marT="36576" marB="36576" anchor="ctr">
                    <a:solidFill>
                      <a:srgbClr val="FFFFFF"/>
                    </a:solidFill>
                  </a:tcPr>
                </a:tc>
                <a:tc>
                  <a:txBody>
                    <a:bodyPr wrap="square"/>
                    <a:lstStyle/>
                    <a:p>
                      <a:r>
                        <a:rPr sz="1300" b="0">
                          <a:solidFill>
                            <a:srgbClr val="0F2A33"/>
                          </a:solidFill>
                          <a:latin typeface="Calibri"/>
                        </a:rPr>
                        <a:t>switch ASIC</a:t>
                      </a:r>
                    </a:p>
                  </a:txBody>
                  <a:tcPr marL="73152" marR="73152" marT="36576" marB="36576" anchor="ctr">
                    <a:solidFill>
                      <a:srgbClr val="FFFFFF"/>
                    </a:solidFill>
                  </a:tcPr>
                </a:tc>
                <a:tc>
                  <a:txBody>
                    <a:bodyPr wrap="square"/>
                    <a:lstStyle/>
                    <a:p>
                      <a:r>
                        <a:rPr sz="1300" b="0">
                          <a:solidFill>
                            <a:srgbClr val="0F2A33"/>
                          </a:solidFill>
                          <a:latin typeface="Calibri"/>
                        </a:rPr>
                        <a:t>many</a:t>
                      </a:r>
                    </a:p>
                  </a:txBody>
                  <a:tcPr marL="73152" marR="73152" marT="36576" marB="36576" anchor="ctr">
                    <a:solidFill>
                      <a:srgbClr val="FFFFFF"/>
                    </a:solidFill>
                  </a:tcPr>
                </a:tc>
                <a:tc>
                  <a:txBody>
                    <a:bodyPr wrap="square"/>
                    <a:lstStyle/>
                    <a:p>
                      <a:r>
                        <a:rPr sz="1300" b="0">
                          <a:solidFill>
                            <a:srgbClr val="0F2A33"/>
                          </a:solidFill>
                          <a:latin typeface="Calibri"/>
                        </a:rPr>
                        <a:t>per-packet ML in-switch, but non-spiking (DNN/SVM)</a:t>
                      </a:r>
                    </a:p>
                  </a:txBody>
                  <a:tcPr marL="73152" marR="73152" marT="36576" marB="36576" anchor="ctr">
                    <a:solidFill>
                      <a:srgbClr val="FFFFFF"/>
                    </a:solidFill>
                  </a:tcPr>
                </a:tc>
              </a:tr>
              <a:tr h="566928">
                <a:tc>
                  <a:txBody>
                    <a:bodyPr wrap="square"/>
                    <a:lstStyle/>
                    <a:p>
                      <a:r>
                        <a:rPr sz="1300" b="1">
                          <a:solidFill>
                            <a:srgbClr val="0F2A33"/>
                          </a:solidFill>
                          <a:latin typeface="Calibri"/>
                        </a:rPr>
                        <a:t>Plagwitz et al. [ACM TECS 2023]</a:t>
                      </a:r>
                    </a:p>
                  </a:txBody>
                  <a:tcPr marL="73152" marR="73152" marT="36576" marB="36576" anchor="ctr">
                    <a:solidFill>
                      <a:srgbClr val="EAF2F3"/>
                    </a:solidFill>
                  </a:tcPr>
                </a:tc>
                <a:tc>
                  <a:txBody>
                    <a:bodyPr wrap="square"/>
                    <a:lstStyle/>
                    <a:p>
                      <a:r>
                        <a:rPr sz="1300" b="0">
                          <a:solidFill>
                            <a:srgbClr val="0F2A33"/>
                          </a:solidFill>
                          <a:latin typeface="Calibri"/>
                        </a:rPr>
                        <a:t>FPGA</a:t>
                      </a:r>
                    </a:p>
                  </a:txBody>
                  <a:tcPr marL="73152" marR="73152" marT="36576" marB="36576" anchor="ctr">
                    <a:solidFill>
                      <a:srgbClr val="EAF2F3"/>
                    </a:solidFill>
                  </a:tcPr>
                </a:tc>
                <a:tc>
                  <a:txBody>
                    <a:bodyPr wrap="square"/>
                    <a:lstStyle/>
                    <a:p>
                      <a:r>
                        <a:rPr sz="1300" b="0">
                          <a:solidFill>
                            <a:srgbClr val="0F2A33"/>
                          </a:solidFill>
                          <a:latin typeface="Calibri"/>
                        </a:rPr>
                        <a:t>SNN: none</a:t>
                      </a:r>
                    </a:p>
                  </a:txBody>
                  <a:tcPr marL="73152" marR="73152" marT="36576" marB="36576" anchor="ctr">
                    <a:solidFill>
                      <a:srgbClr val="EAF2F3"/>
                    </a:solidFill>
                  </a:tcPr>
                </a:tc>
                <a:tc>
                  <a:txBody>
                    <a:bodyPr wrap="square"/>
                    <a:lstStyle/>
                    <a:p>
                      <a:r>
                        <a:rPr sz="1300" b="0">
                          <a:solidFill>
                            <a:srgbClr val="0F2A33"/>
                          </a:solidFill>
                          <a:latin typeface="Calibri"/>
                        </a:rPr>
                        <a:t>shows SNN area/power can beat CNN only if sparse</a:t>
                      </a:r>
                    </a:p>
                  </a:txBody>
                  <a:tcPr marL="73152" marR="73152" marT="36576" marB="36576" anchor="ctr">
                    <a:solidFill>
                      <a:srgbClr val="EAF2F3"/>
                    </a:solidFill>
                  </a:tcPr>
                </a:tc>
              </a:tr>
              <a:tr h="566928">
                <a:tc>
                  <a:txBody>
                    <a:bodyPr wrap="square"/>
                    <a:lstStyle/>
                    <a:p>
                      <a:r>
                        <a:rPr sz="1300" b="1">
                          <a:solidFill>
                            <a:srgbClr val="0F2A33"/>
                          </a:solidFill>
                          <a:latin typeface="Calibri"/>
                        </a:rPr>
                        <a:t>FPGA SNN accel. [VTC 2024]</a:t>
                      </a:r>
                    </a:p>
                  </a:txBody>
                  <a:tcPr marL="73152" marR="73152" marT="36576" marB="36576" anchor="ctr">
                    <a:solidFill>
                      <a:srgbClr val="FFFFFF"/>
                    </a:solidFill>
                  </a:tcPr>
                </a:tc>
                <a:tc>
                  <a:txBody>
                    <a:bodyPr wrap="square"/>
                    <a:lstStyle/>
                    <a:p>
                      <a:r>
                        <a:rPr sz="1300" b="0">
                          <a:solidFill>
                            <a:srgbClr val="0F2A33"/>
                          </a:solidFill>
                          <a:latin typeface="Calibri"/>
                        </a:rPr>
                        <a:t>FPGA</a:t>
                      </a:r>
                    </a:p>
                  </a:txBody>
                  <a:tcPr marL="73152" marR="73152" marT="36576" marB="36576" anchor="ctr">
                    <a:solidFill>
                      <a:srgbClr val="FFFFFF"/>
                    </a:solidFill>
                  </a:tcPr>
                </a:tc>
                <a:tc>
                  <a:txBody>
                    <a:bodyPr wrap="square"/>
                    <a:lstStyle/>
                    <a:p>
                      <a:r>
                        <a:rPr sz="1300" b="0">
                          <a:solidFill>
                            <a:srgbClr val="0F2A33"/>
                          </a:solidFill>
                          <a:latin typeface="Calibri"/>
                        </a:rPr>
                        <a:t>none</a:t>
                      </a:r>
                    </a:p>
                  </a:txBody>
                  <a:tcPr marL="73152" marR="73152" marT="36576" marB="36576" anchor="ctr">
                    <a:solidFill>
                      <a:srgbClr val="FFFFFF"/>
                    </a:solidFill>
                  </a:tcPr>
                </a:tc>
                <a:tc>
                  <a:txBody>
                    <a:bodyPr wrap="square"/>
                    <a:lstStyle/>
                    <a:p>
                      <a:r>
                        <a:rPr sz="1300" b="0">
                          <a:solidFill>
                            <a:srgbClr val="0F2A33"/>
                          </a:solidFill>
                          <a:latin typeface="Calibri"/>
                        </a:rPr>
                        <a:t>image benchmarks; not fused with a NIC</a:t>
                      </a:r>
                    </a:p>
                  </a:txBody>
                  <a:tcPr marL="73152" marR="73152" marT="36576" marB="36576" anchor="ctr">
                    <a:solidFill>
                      <a:srgbClr val="FFFFFF"/>
                    </a:solidFill>
                  </a:tcPr>
                </a:tc>
              </a:tr>
              <a:tr h="566928">
                <a:tc>
                  <a:txBody>
                    <a:bodyPr wrap="square"/>
                    <a:lstStyle/>
                    <a:p>
                      <a:r>
                        <a:rPr sz="1300" b="1">
                          <a:solidFill>
                            <a:srgbClr val="B5761A"/>
                          </a:solidFill>
                          <a:latin typeface="Calibri"/>
                        </a:rPr>
                        <a:t>Ours</a:t>
                      </a:r>
                    </a:p>
                  </a:txBody>
                  <a:tcPr marL="73152" marR="73152" marT="36576" marB="36576" anchor="ctr">
                    <a:solidFill>
                      <a:srgbClr val="EAF2F3"/>
                    </a:solidFill>
                  </a:tcPr>
                </a:tc>
                <a:tc>
                  <a:txBody>
                    <a:bodyPr wrap="square"/>
                    <a:lstStyle/>
                    <a:p>
                      <a:r>
                        <a:rPr sz="1300" b="0">
                          <a:solidFill>
                            <a:srgbClr val="0F2A33"/>
                          </a:solidFill>
                          <a:latin typeface="Calibri"/>
                        </a:rPr>
                        <a:t>ASIC/FPGA NIC</a:t>
                      </a:r>
                    </a:p>
                  </a:txBody>
                  <a:tcPr marL="73152" marR="73152" marT="36576" marB="36576" anchor="ctr">
                    <a:solidFill>
                      <a:srgbClr val="EAF2F3"/>
                    </a:solidFill>
                  </a:tcPr>
                </a:tc>
                <a:tc>
                  <a:txBody>
                    <a:bodyPr wrap="square"/>
                    <a:lstStyle/>
                    <a:p>
                      <a:r>
                        <a:rPr sz="1300" b="1">
                          <a:solidFill>
                            <a:srgbClr val="0F2A33"/>
                          </a:solidFill>
                          <a:latin typeface="Calibri"/>
                        </a:rPr>
                        <a:t>0</a:t>
                      </a:r>
                    </a:p>
                  </a:txBody>
                  <a:tcPr marL="73152" marR="73152" marT="36576" marB="36576" anchor="ctr">
                    <a:solidFill>
                      <a:srgbClr val="EAF2F3"/>
                    </a:solidFill>
                  </a:tcPr>
                </a:tc>
                <a:tc>
                  <a:txBody>
                    <a:bodyPr wrap="square"/>
                    <a:lstStyle/>
                    <a:p>
                      <a:r>
                        <a:rPr sz="1300" b="0">
                          <a:solidFill>
                            <a:srgbClr val="0F2A33"/>
                          </a:solidFill>
                          <a:latin typeface="Calibri"/>
                        </a:rPr>
                        <a:t>SNN fused in the NIC datapath, line rate, 0 DSP</a:t>
                      </a:r>
                    </a:p>
                  </a:txBody>
                  <a:tcPr marL="73152" marR="73152" marT="36576" marB="36576" anchor="ctr">
                    <a:solidFill>
                      <a:srgbClr val="EAF2F3"/>
                    </a:solidFill>
                  </a:tcPr>
                </a:tc>
              </a:tr>
            </a:tbl>
          </a:graphicData>
        </a:graphic>
      </p:graphicFrame>
      <p:sp>
        <p:nvSpPr>
          <p:cNvPr id="5" name="TextBox 4"/>
          <p:cNvSpPr txBox="1"/>
          <p:nvPr/>
        </p:nvSpPr>
        <p:spPr>
          <a:xfrm>
            <a:off x="548640" y="5897880"/>
            <a:ext cx="11109960" cy="365760"/>
          </a:xfrm>
          <a:prstGeom prst="rect">
            <a:avLst/>
          </a:prstGeom>
          <a:noFill/>
        </p:spPr>
        <p:txBody>
          <a:bodyPr wrap="square" anchor="t" lIns="45720" rIns="45720">
            <a:spAutoFit/>
          </a:bodyPr>
          <a:lstStyle/>
          <a:p>
            <a:pPr algn="l">
              <a:spcAft>
                <a:spcPts val="400"/>
              </a:spcAft>
            </a:pPr>
            <a:r>
              <a:rPr sz="1250" b="0" i="1">
                <a:solidFill>
                  <a:srgbClr val="5F6F78"/>
                </a:solidFill>
                <a:latin typeface="Calibri"/>
              </a:rPr>
              <a:t>Energy-efficient neuromorphic design: Na &amp; Kim [Electronics 2025]; algorithm–hardware co-design: Nature Mach. Intell.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2A33"/>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9FB3BA"/>
                </a:solidFill>
                <a:latin typeface="Calibri"/>
              </a:rPr>
              <a:t>15</a:t>
            </a:r>
          </a:p>
        </p:txBody>
      </p:sp>
      <p:sp>
        <p:nvSpPr>
          <p:cNvPr id="3" name="TextBox 2"/>
          <p:cNvSpPr txBox="1"/>
          <p:nvPr/>
        </p:nvSpPr>
        <p:spPr>
          <a:xfrm>
            <a:off x="548640" y="457200"/>
            <a:ext cx="10972800" cy="822960"/>
          </a:xfrm>
          <a:prstGeom prst="rect">
            <a:avLst/>
          </a:prstGeom>
          <a:noFill/>
        </p:spPr>
        <p:txBody>
          <a:bodyPr wrap="square" anchor="t" lIns="45720" rIns="45720">
            <a:spAutoFit/>
          </a:bodyPr>
          <a:lstStyle/>
          <a:p>
            <a:pPr algn="l">
              <a:spcAft>
                <a:spcPts val="400"/>
              </a:spcAft>
            </a:pPr>
            <a:r>
              <a:rPr sz="3400" b="1" i="0">
                <a:solidFill>
                  <a:srgbClr val="FFFFFF"/>
                </a:solidFill>
                <a:latin typeface="Cambria"/>
              </a:rPr>
              <a:t>References</a:t>
            </a:r>
          </a:p>
        </p:txBody>
      </p:sp>
      <p:sp>
        <p:nvSpPr>
          <p:cNvPr id="4" name="TextBox 3"/>
          <p:cNvSpPr txBox="1"/>
          <p:nvPr/>
        </p:nvSpPr>
        <p:spPr>
          <a:xfrm>
            <a:off x="548640" y="1371600"/>
            <a:ext cx="5486400" cy="365760"/>
          </a:xfrm>
          <a:prstGeom prst="rect">
            <a:avLst/>
          </a:prstGeom>
          <a:noFill/>
        </p:spPr>
        <p:txBody>
          <a:bodyPr wrap="square" anchor="t" lIns="45720" rIns="45720">
            <a:spAutoFit/>
          </a:bodyPr>
          <a:lstStyle/>
          <a:p>
            <a:pPr algn="l">
              <a:spcAft>
                <a:spcPts val="400"/>
              </a:spcAft>
            </a:pPr>
            <a:r>
              <a:rPr sz="1800" b="1" i="0">
                <a:solidFill>
                  <a:srgbClr val="F2A541"/>
                </a:solidFill>
                <a:latin typeface="Calibri"/>
              </a:rPr>
              <a:t>Journal papers</a:t>
            </a:r>
          </a:p>
        </p:txBody>
      </p:sp>
      <p:sp>
        <p:nvSpPr>
          <p:cNvPr id="5" name="TextBox 4"/>
          <p:cNvSpPr txBox="1"/>
          <p:nvPr/>
        </p:nvSpPr>
        <p:spPr>
          <a:xfrm>
            <a:off x="548640" y="1828800"/>
            <a:ext cx="11064240" cy="621792"/>
          </a:xfrm>
          <a:prstGeom prst="rect">
            <a:avLst/>
          </a:prstGeom>
          <a:noFill/>
        </p:spPr>
        <p:txBody>
          <a:bodyPr wrap="square" anchor="t" lIns="45720" rIns="45720">
            <a:spAutoFit/>
          </a:bodyPr>
          <a:lstStyle/>
          <a:p>
            <a:pPr algn="l">
              <a:spcAft>
                <a:spcPts val="400"/>
              </a:spcAft>
            </a:pPr>
            <a:r>
              <a:rPr sz="1350" b="1" i="0">
                <a:solidFill>
                  <a:srgbClr val="F2A541"/>
                </a:solidFill>
                <a:latin typeface="Calibri"/>
              </a:rPr>
              <a:t>[J1] </a:t>
            </a:r>
            <a:r>
              <a:rPr sz="1350" b="0" i="0">
                <a:solidFill>
                  <a:srgbClr val="E8F0F2"/>
                </a:solidFill>
                <a:latin typeface="Calibri"/>
              </a:rPr>
              <a:t>Neftci, Mostafa, Zenke, “Surrogate Gradient Learning in SNNs,” IEEE Signal Processing Magazine, 2019.</a:t>
            </a:r>
          </a:p>
        </p:txBody>
      </p:sp>
      <p:sp>
        <p:nvSpPr>
          <p:cNvPr id="6" name="TextBox 5"/>
          <p:cNvSpPr txBox="1"/>
          <p:nvPr/>
        </p:nvSpPr>
        <p:spPr>
          <a:xfrm>
            <a:off x="548640" y="2487168"/>
            <a:ext cx="11064240" cy="621792"/>
          </a:xfrm>
          <a:prstGeom prst="rect">
            <a:avLst/>
          </a:prstGeom>
          <a:noFill/>
        </p:spPr>
        <p:txBody>
          <a:bodyPr wrap="square" anchor="t" lIns="45720" rIns="45720">
            <a:spAutoFit/>
          </a:bodyPr>
          <a:lstStyle/>
          <a:p>
            <a:pPr algn="l">
              <a:spcAft>
                <a:spcPts val="400"/>
              </a:spcAft>
            </a:pPr>
            <a:r>
              <a:rPr sz="1350" b="1" i="0">
                <a:solidFill>
                  <a:srgbClr val="F2A541"/>
                </a:solidFill>
                <a:latin typeface="Calibri"/>
              </a:rPr>
              <a:t>[J2] </a:t>
            </a:r>
            <a:r>
              <a:rPr sz="1350" b="0" i="0">
                <a:solidFill>
                  <a:srgbClr val="E8F0F2"/>
                </a:solidFill>
                <a:latin typeface="Calibri"/>
              </a:rPr>
              <a:t>Plagwitz, Hannig, Teich, Keszöcze, “To Spike or Not to Spike? SNN vs CNN on FPGA,” ACM Trans. Embedded Computing Systems, 2023.</a:t>
            </a:r>
          </a:p>
        </p:txBody>
      </p:sp>
      <p:sp>
        <p:nvSpPr>
          <p:cNvPr id="7" name="TextBox 6"/>
          <p:cNvSpPr txBox="1"/>
          <p:nvPr/>
        </p:nvSpPr>
        <p:spPr>
          <a:xfrm>
            <a:off x="548640" y="3145536"/>
            <a:ext cx="11064240" cy="621792"/>
          </a:xfrm>
          <a:prstGeom prst="rect">
            <a:avLst/>
          </a:prstGeom>
          <a:noFill/>
        </p:spPr>
        <p:txBody>
          <a:bodyPr wrap="square" anchor="t" lIns="45720" rIns="45720">
            <a:spAutoFit/>
          </a:bodyPr>
          <a:lstStyle/>
          <a:p>
            <a:pPr algn="l">
              <a:spcAft>
                <a:spcPts val="400"/>
              </a:spcAft>
            </a:pPr>
            <a:r>
              <a:rPr sz="1350" b="1" i="0">
                <a:solidFill>
                  <a:srgbClr val="F2A541"/>
                </a:solidFill>
                <a:latin typeface="Calibri"/>
              </a:rPr>
              <a:t>[J3] </a:t>
            </a:r>
            <a:r>
              <a:rPr sz="1350" b="0" i="0">
                <a:solidFill>
                  <a:srgbClr val="E8F0F2"/>
                </a:solidFill>
                <a:latin typeface="Calibri"/>
              </a:rPr>
              <a:t>Na, Kim, “An Energy-Efficient Neuromorphic Processor … for Edge AI,” Electronics (MDPI), 2025.</a:t>
            </a:r>
          </a:p>
        </p:txBody>
      </p:sp>
      <p:sp>
        <p:nvSpPr>
          <p:cNvPr id="8" name="TextBox 7"/>
          <p:cNvSpPr txBox="1"/>
          <p:nvPr/>
        </p:nvSpPr>
        <p:spPr>
          <a:xfrm>
            <a:off x="548640" y="3803904"/>
            <a:ext cx="11064240" cy="621792"/>
          </a:xfrm>
          <a:prstGeom prst="rect">
            <a:avLst/>
          </a:prstGeom>
          <a:noFill/>
        </p:spPr>
        <p:txBody>
          <a:bodyPr wrap="square" anchor="t" lIns="45720" rIns="45720">
            <a:spAutoFit/>
          </a:bodyPr>
          <a:lstStyle/>
          <a:p>
            <a:pPr algn="l">
              <a:spcAft>
                <a:spcPts val="400"/>
              </a:spcAft>
            </a:pPr>
            <a:r>
              <a:rPr sz="1350" b="1" i="0">
                <a:solidFill>
                  <a:srgbClr val="F2A541"/>
                </a:solidFill>
                <a:latin typeface="Calibri"/>
              </a:rPr>
              <a:t>[J4] </a:t>
            </a:r>
            <a:r>
              <a:rPr sz="1350" b="0" i="0">
                <a:solidFill>
                  <a:srgbClr val="E8F0F2"/>
                </a:solidFill>
                <a:latin typeface="Calibri"/>
              </a:rPr>
              <a:t>“Algorithm–hardware co-design of neuromorphic networks with dual memory pathways,” Nature Machine Intelligence, 2026.</a:t>
            </a:r>
          </a:p>
        </p:txBody>
      </p:sp>
      <p:sp>
        <p:nvSpPr>
          <p:cNvPr id="9" name="TextBox 8"/>
          <p:cNvSpPr txBox="1"/>
          <p:nvPr/>
        </p:nvSpPr>
        <p:spPr>
          <a:xfrm>
            <a:off x="548640" y="4572000"/>
            <a:ext cx="5486400" cy="365760"/>
          </a:xfrm>
          <a:prstGeom prst="rect">
            <a:avLst/>
          </a:prstGeom>
          <a:noFill/>
        </p:spPr>
        <p:txBody>
          <a:bodyPr wrap="square" anchor="t" lIns="45720" rIns="45720">
            <a:spAutoFit/>
          </a:bodyPr>
          <a:lstStyle/>
          <a:p>
            <a:pPr algn="l">
              <a:spcAft>
                <a:spcPts val="400"/>
              </a:spcAft>
            </a:pPr>
            <a:r>
              <a:rPr sz="1800" b="1" i="0">
                <a:solidFill>
                  <a:srgbClr val="1B998B"/>
                </a:solidFill>
                <a:latin typeface="Calibri"/>
              </a:rPr>
              <a:t>Conference papers</a:t>
            </a:r>
          </a:p>
        </p:txBody>
      </p:sp>
      <p:sp>
        <p:nvSpPr>
          <p:cNvPr id="10" name="TextBox 9"/>
          <p:cNvSpPr txBox="1"/>
          <p:nvPr/>
        </p:nvSpPr>
        <p:spPr>
          <a:xfrm>
            <a:off x="548640" y="4983480"/>
            <a:ext cx="11064240" cy="365760"/>
          </a:xfrm>
          <a:prstGeom prst="rect">
            <a:avLst/>
          </a:prstGeom>
          <a:noFill/>
        </p:spPr>
        <p:txBody>
          <a:bodyPr wrap="square" anchor="t" lIns="45720" rIns="45720">
            <a:spAutoFit/>
          </a:bodyPr>
          <a:lstStyle/>
          <a:p>
            <a:pPr algn="l">
              <a:spcAft>
                <a:spcPts val="400"/>
              </a:spcAft>
            </a:pPr>
            <a:r>
              <a:rPr sz="1300" b="1" i="0">
                <a:solidFill>
                  <a:srgbClr val="1B998B"/>
                </a:solidFill>
                <a:latin typeface="Calibri"/>
              </a:rPr>
              <a:t>[C1] </a:t>
            </a:r>
            <a:r>
              <a:rPr sz="1300" b="0" i="0">
                <a:solidFill>
                  <a:srgbClr val="E8F0F2"/>
                </a:solidFill>
                <a:latin typeface="Calibri"/>
              </a:rPr>
              <a:t>Alom, Taha, “Network Intrusion Detection … on Neuromorphic Computing System,” IEEE IJCNN, 2017.</a:t>
            </a:r>
          </a:p>
        </p:txBody>
      </p:sp>
      <p:sp>
        <p:nvSpPr>
          <p:cNvPr id="11" name="TextBox 10"/>
          <p:cNvSpPr txBox="1"/>
          <p:nvPr/>
        </p:nvSpPr>
        <p:spPr>
          <a:xfrm>
            <a:off x="548640" y="5367528"/>
            <a:ext cx="11064240" cy="365760"/>
          </a:xfrm>
          <a:prstGeom prst="rect">
            <a:avLst/>
          </a:prstGeom>
          <a:noFill/>
        </p:spPr>
        <p:txBody>
          <a:bodyPr wrap="square" anchor="t" lIns="45720" rIns="45720">
            <a:spAutoFit/>
          </a:bodyPr>
          <a:lstStyle/>
          <a:p>
            <a:pPr algn="l">
              <a:spcAft>
                <a:spcPts val="400"/>
              </a:spcAft>
            </a:pPr>
            <a:r>
              <a:rPr sz="1300" b="1" i="0">
                <a:solidFill>
                  <a:srgbClr val="1B998B"/>
                </a:solidFill>
                <a:latin typeface="Calibri"/>
              </a:rPr>
              <a:t>[C2] </a:t>
            </a:r>
            <a:r>
              <a:rPr sz="1300" b="0" i="0">
                <a:solidFill>
                  <a:srgbClr val="E8F0F2"/>
                </a:solidFill>
                <a:latin typeface="Calibri"/>
              </a:rPr>
              <a:t>Zhou, Li, “SNNs with Single-Spike Temporal-Coded Neurons for Network Intrusion Detection,” IEEE ICPR, 2020.</a:t>
            </a:r>
          </a:p>
        </p:txBody>
      </p:sp>
      <p:sp>
        <p:nvSpPr>
          <p:cNvPr id="12" name="TextBox 11"/>
          <p:cNvSpPr txBox="1"/>
          <p:nvPr/>
        </p:nvSpPr>
        <p:spPr>
          <a:xfrm>
            <a:off x="548640" y="5751576"/>
            <a:ext cx="11064240" cy="365760"/>
          </a:xfrm>
          <a:prstGeom prst="rect">
            <a:avLst/>
          </a:prstGeom>
          <a:noFill/>
        </p:spPr>
        <p:txBody>
          <a:bodyPr wrap="square" anchor="t" lIns="45720" rIns="45720">
            <a:spAutoFit/>
          </a:bodyPr>
          <a:lstStyle/>
          <a:p>
            <a:pPr algn="l">
              <a:spcAft>
                <a:spcPts val="400"/>
              </a:spcAft>
            </a:pPr>
            <a:r>
              <a:rPr sz="1300" b="1" i="0">
                <a:solidFill>
                  <a:srgbClr val="1B998B"/>
                </a:solidFill>
                <a:latin typeface="Calibri"/>
              </a:rPr>
              <a:t>[C3] </a:t>
            </a:r>
            <a:r>
              <a:rPr sz="1300" b="0" i="0">
                <a:solidFill>
                  <a:srgbClr val="E8F0F2"/>
                </a:solidFill>
                <a:latin typeface="Calibri"/>
              </a:rPr>
              <a:t>Swamy et al., “Taurus: A Data Plane Architecture for Per-Packet ML,” ACM ASPLOS, 2022.</a:t>
            </a:r>
          </a:p>
        </p:txBody>
      </p:sp>
      <p:sp>
        <p:nvSpPr>
          <p:cNvPr id="13" name="TextBox 12"/>
          <p:cNvSpPr txBox="1"/>
          <p:nvPr/>
        </p:nvSpPr>
        <p:spPr>
          <a:xfrm>
            <a:off x="548640" y="6135624"/>
            <a:ext cx="11064240" cy="365760"/>
          </a:xfrm>
          <a:prstGeom prst="rect">
            <a:avLst/>
          </a:prstGeom>
          <a:noFill/>
        </p:spPr>
        <p:txBody>
          <a:bodyPr wrap="square" anchor="t" lIns="45720" rIns="45720">
            <a:spAutoFit/>
          </a:bodyPr>
          <a:lstStyle/>
          <a:p>
            <a:pPr algn="l">
              <a:spcAft>
                <a:spcPts val="400"/>
              </a:spcAft>
            </a:pPr>
            <a:r>
              <a:rPr sz="1300" b="1" i="0">
                <a:solidFill>
                  <a:srgbClr val="1B998B"/>
                </a:solidFill>
                <a:latin typeface="Calibri"/>
              </a:rPr>
              <a:t>[C4] </a:t>
            </a:r>
            <a:r>
              <a:rPr sz="1300" b="0" i="0">
                <a:solidFill>
                  <a:srgbClr val="E8F0F2"/>
                </a:solidFill>
                <a:latin typeface="Calibri"/>
              </a:rPr>
              <a:t>“Efficient Hardware Acceleration of SNNs using FPGA,” IEEE VTC2024-Spring, 2024.</a:t>
            </a:r>
          </a:p>
        </p:txBody>
      </p:sp>
      <p:sp>
        <p:nvSpPr>
          <p:cNvPr id="14" name="TextBox 13"/>
          <p:cNvSpPr txBox="1"/>
          <p:nvPr/>
        </p:nvSpPr>
        <p:spPr>
          <a:xfrm>
            <a:off x="548640" y="6583680"/>
            <a:ext cx="11064240" cy="274320"/>
          </a:xfrm>
          <a:prstGeom prst="rect">
            <a:avLst/>
          </a:prstGeom>
          <a:noFill/>
        </p:spPr>
        <p:txBody>
          <a:bodyPr wrap="square" anchor="t" lIns="45720" rIns="45720">
            <a:spAutoFit/>
          </a:bodyPr>
          <a:lstStyle/>
          <a:p>
            <a:pPr algn="l">
              <a:spcAft>
                <a:spcPts val="400"/>
              </a:spcAft>
            </a:pPr>
            <a:r>
              <a:rPr sz="1150" b="0" i="0">
                <a:solidFill>
                  <a:srgbClr val="8FA8AF"/>
                </a:solidFill>
                <a:latin typeface="Calibri"/>
              </a:rPr>
              <a:t>Datasets: Moustafa &amp; Slay, UNSW-NB15 (MilCIS 2015); Sharafaldin et al., CIC-IDS2017 (ICISSP 2018).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